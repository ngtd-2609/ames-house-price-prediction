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3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115e80cb72452f" /><Relationship Type="http://schemas.openxmlformats.org/officeDocument/2006/relationships/extended-properties" Target="/docProps/app.xml" Id="R9ad2b7a7a63e420c" /><Relationship Type="http://schemas.openxmlformats.org/officeDocument/2006/relationships/officeDocument" Target="/ppt/presentation.xml" Id="R6794ad222ad54e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3839ee12e74098"/>
  </p:sldMasterIdLst>
  <p:notesMasterIdLst>
    <p:notesMasterId xmlns:r="http://schemas.openxmlformats.org/officeDocument/2006/relationships" r:id="Rf7711cf9b7e24679"/>
  </p:notesMasterIdLst>
  <p:sldIdLst>
    <p:sldId xmlns:r="http://schemas.openxmlformats.org/officeDocument/2006/relationships" id="256" r:id="R881eda5592e24856"/>
    <p:sldId xmlns:r="http://schemas.openxmlformats.org/officeDocument/2006/relationships" id="257" r:id="R5771f35ffe534943"/>
    <p:sldId xmlns:r="http://schemas.openxmlformats.org/officeDocument/2006/relationships" id="258" r:id="R5f1efb265cb54ab6"/>
    <p:sldId xmlns:r="http://schemas.openxmlformats.org/officeDocument/2006/relationships" id="259" r:id="Ra31f3667395241c9"/>
    <p:sldId xmlns:r="http://schemas.openxmlformats.org/officeDocument/2006/relationships" id="260" r:id="R3118e1ec11c045d5"/>
    <p:sldId xmlns:r="http://schemas.openxmlformats.org/officeDocument/2006/relationships" id="261" r:id="R4aec29131a8d4126"/>
    <p:sldId xmlns:r="http://schemas.openxmlformats.org/officeDocument/2006/relationships" id="262" r:id="Re0bb4c7e9c704bbf"/>
    <p:sldId xmlns:r="http://schemas.openxmlformats.org/officeDocument/2006/relationships" id="263" r:id="R6fee51281108450f"/>
    <p:sldId xmlns:r="http://schemas.openxmlformats.org/officeDocument/2006/relationships" id="264" r:id="R6a5c2668f6d84fdf"/>
    <p:sldId xmlns:r="http://schemas.openxmlformats.org/officeDocument/2006/relationships" id="265" r:id="Rcad4c73f1c7f4328"/>
    <p:sldId xmlns:r="http://schemas.openxmlformats.org/officeDocument/2006/relationships" id="266" r:id="R1ddddfd6db834670"/>
    <p:sldId xmlns:r="http://schemas.openxmlformats.org/officeDocument/2006/relationships" id="267" r:id="R83ca345896ff42a5"/>
    <p:sldId xmlns:r="http://schemas.openxmlformats.org/officeDocument/2006/relationships" id="268" r:id="R9180d45ebe82470e"/>
    <p:sldId xmlns:r="http://schemas.openxmlformats.org/officeDocument/2006/relationships" id="269" r:id="R180ebebb06eb4992"/>
    <p:sldId xmlns:r="http://schemas.openxmlformats.org/officeDocument/2006/relationships" id="270" r:id="R60cb00d5010f40e2"/>
    <p:sldId xmlns:r="http://schemas.openxmlformats.org/officeDocument/2006/relationships" id="271" r:id="R034481e53158439e"/>
    <p:sldId xmlns:r="http://schemas.openxmlformats.org/officeDocument/2006/relationships" id="272" r:id="R8a7b577253794037"/>
    <p:sldId xmlns:r="http://schemas.openxmlformats.org/officeDocument/2006/relationships" id="273" r:id="Rc7b454567ce0480d"/>
    <p:sldId xmlns:r="http://schemas.openxmlformats.org/officeDocument/2006/relationships" id="274" r:id="R0241d10131034fc8"/>
    <p:sldId xmlns:r="http://schemas.openxmlformats.org/officeDocument/2006/relationships" id="275" r:id="R2888d463fe7b4597"/>
    <p:sldId xmlns:r="http://schemas.openxmlformats.org/officeDocument/2006/relationships" id="276" r:id="R1533cf1e7cf0412e"/>
    <p:sldId xmlns:r="http://schemas.openxmlformats.org/officeDocument/2006/relationships" id="277" r:id="R86ed993835874c8a"/>
    <p:sldId xmlns:r="http://schemas.openxmlformats.org/officeDocument/2006/relationships" id="278" r:id="R8951b25775ba483b"/>
    <p:sldId xmlns:r="http://schemas.openxmlformats.org/officeDocument/2006/relationships" id="279" r:id="Ra2a34c0355434b47"/>
    <p:sldId xmlns:r="http://schemas.openxmlformats.org/officeDocument/2006/relationships" id="280" r:id="Rdbe9bc048ae34e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87bdba0268481a" /><Relationship Type="http://schemas.openxmlformats.org/officeDocument/2006/relationships/slideMaster" Target="/ppt/slideMasters/slideMaster1.xml" Id="R973839ee12e74098" /><Relationship Type="http://schemas.openxmlformats.org/officeDocument/2006/relationships/notesMaster" Target="/ppt/notesMasters/notesMaster1.xml" Id="Rf7711cf9b7e24679" /><Relationship Type="http://schemas.openxmlformats.org/officeDocument/2006/relationships/presProps" Target="/ppt/presProps.xml" Id="R426785b48d2d41c3" /><Relationship Type="http://schemas.openxmlformats.org/officeDocument/2006/relationships/tableStyles" Target="/ppt/tableStyles.xml" Id="Rc7fea7e0fad942cb" /><Relationship Type="http://schemas.openxmlformats.org/officeDocument/2006/relationships/slide" Target="/ppt/slides/slide1.xml" Id="R881eda5592e24856" /><Relationship Type="http://schemas.openxmlformats.org/officeDocument/2006/relationships/slide" Target="/ppt/slides/slide2.xml" Id="R5771f35ffe534943" /><Relationship Type="http://schemas.openxmlformats.org/officeDocument/2006/relationships/slide" Target="/ppt/slides/slide3.xml" Id="R5f1efb265cb54ab6" /><Relationship Type="http://schemas.openxmlformats.org/officeDocument/2006/relationships/slide" Target="/ppt/slides/slide4.xml" Id="Ra31f3667395241c9" /><Relationship Type="http://schemas.openxmlformats.org/officeDocument/2006/relationships/slide" Target="/ppt/slides/slide5.xml" Id="R3118e1ec11c045d5" /><Relationship Type="http://schemas.openxmlformats.org/officeDocument/2006/relationships/slide" Target="/ppt/slides/slide6.xml" Id="R4aec29131a8d4126" /><Relationship Type="http://schemas.openxmlformats.org/officeDocument/2006/relationships/slide" Target="/ppt/slides/slide7.xml" Id="Re0bb4c7e9c704bbf" /><Relationship Type="http://schemas.openxmlformats.org/officeDocument/2006/relationships/slide" Target="/ppt/slides/slide8.xml" Id="R6fee51281108450f" /><Relationship Type="http://schemas.openxmlformats.org/officeDocument/2006/relationships/slide" Target="/ppt/slides/slide9.xml" Id="R6a5c2668f6d84fdf" /><Relationship Type="http://schemas.openxmlformats.org/officeDocument/2006/relationships/slide" Target="/ppt/slides/slide10.xml" Id="Rcad4c73f1c7f4328" /><Relationship Type="http://schemas.openxmlformats.org/officeDocument/2006/relationships/slide" Target="/ppt/slides/slide11.xml" Id="R1ddddfd6db834670" /><Relationship Type="http://schemas.openxmlformats.org/officeDocument/2006/relationships/slide" Target="/ppt/slides/slide12.xml" Id="R83ca345896ff42a5" /><Relationship Type="http://schemas.openxmlformats.org/officeDocument/2006/relationships/slide" Target="/ppt/slides/slide13.xml" Id="R9180d45ebe82470e" /><Relationship Type="http://schemas.openxmlformats.org/officeDocument/2006/relationships/slide" Target="/ppt/slides/slide14.xml" Id="R180ebebb06eb4992" /><Relationship Type="http://schemas.openxmlformats.org/officeDocument/2006/relationships/slide" Target="/ppt/slides/slide15.xml" Id="R60cb00d5010f40e2" /><Relationship Type="http://schemas.openxmlformats.org/officeDocument/2006/relationships/slide" Target="/ppt/slides/slide16.xml" Id="R034481e53158439e" /><Relationship Type="http://schemas.openxmlformats.org/officeDocument/2006/relationships/slide" Target="/ppt/slides/slide17.xml" Id="R8a7b577253794037" /><Relationship Type="http://schemas.openxmlformats.org/officeDocument/2006/relationships/slide" Target="/ppt/slides/slide18.xml" Id="Rc7b454567ce0480d" /><Relationship Type="http://schemas.openxmlformats.org/officeDocument/2006/relationships/slide" Target="/ppt/slides/slide19.xml" Id="R0241d10131034fc8" /><Relationship Type="http://schemas.openxmlformats.org/officeDocument/2006/relationships/slide" Target="/ppt/slides/slide20.xml" Id="R2888d463fe7b4597" /><Relationship Type="http://schemas.openxmlformats.org/officeDocument/2006/relationships/slide" Target="/ppt/slides/slide21.xml" Id="R1533cf1e7cf0412e" /><Relationship Type="http://schemas.openxmlformats.org/officeDocument/2006/relationships/slide" Target="/ppt/slides/slide22.xml" Id="R86ed993835874c8a" /><Relationship Type="http://schemas.openxmlformats.org/officeDocument/2006/relationships/slide" Target="/ppt/slides/slide23.xml" Id="R8951b25775ba483b" /><Relationship Type="http://schemas.openxmlformats.org/officeDocument/2006/relationships/slide" Target="/ppt/slides/slide24.xml" Id="Ra2a34c0355434b47" /><Relationship Type="http://schemas.openxmlformats.org/officeDocument/2006/relationships/slide" Target="/ppt/slides/slide25.xml" Id="Rdbe9bc048ae34e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517c95f99941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94aaa2733243ed" /><Relationship Type="http://schemas.openxmlformats.org/officeDocument/2006/relationships/notesMaster" Target="/ppt/notesMasters/notesMaster1.xml" Id="R0aaf7601424d4d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94ff92c3de48bf" /><Relationship Type="http://schemas.openxmlformats.org/officeDocument/2006/relationships/notesMaster" Target="/ppt/notesMasters/notesMaster1.xml" Id="R611c6e1d3b894b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2c412bccb74ac8" /><Relationship Type="http://schemas.openxmlformats.org/officeDocument/2006/relationships/notesMaster" Target="/ppt/notesMasters/notesMaster1.xml" Id="R64469de2f9dc41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00200546b8412d" /><Relationship Type="http://schemas.openxmlformats.org/officeDocument/2006/relationships/notesMaster" Target="/ppt/notesMasters/notesMaster1.xml" Id="R436b7e5eb7bf44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147bbd2622403d" /><Relationship Type="http://schemas.openxmlformats.org/officeDocument/2006/relationships/notesMaster" Target="/ppt/notesMasters/notesMaster1.xml" Id="R6e1f8fb218444d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d7c81124b441e6" /><Relationship Type="http://schemas.openxmlformats.org/officeDocument/2006/relationships/notesMaster" Target="/ppt/notesMasters/notesMaster1.xml" Id="R0072ed4e04c545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a00da0eca740ab" /><Relationship Type="http://schemas.openxmlformats.org/officeDocument/2006/relationships/notesMaster" Target="/ppt/notesMasters/notesMaster1.xml" Id="Rffed71b845234d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590fb84bb045fc" /><Relationship Type="http://schemas.openxmlformats.org/officeDocument/2006/relationships/notesMaster" Target="/ppt/notesMasters/notesMaster1.xml" Id="R4f1475fcaa3346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df6ce528fa4313" /><Relationship Type="http://schemas.openxmlformats.org/officeDocument/2006/relationships/notesMaster" Target="/ppt/notesMasters/notesMaster1.xml" Id="R56e5976eb3f648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116736e2284dc5" /><Relationship Type="http://schemas.openxmlformats.org/officeDocument/2006/relationships/notesMaster" Target="/ppt/notesMasters/notesMaster1.xml" Id="R968ceabfae314d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f7c76418cc4862" /><Relationship Type="http://schemas.openxmlformats.org/officeDocument/2006/relationships/notesMaster" Target="/ppt/notesMasters/notesMaster1.xml" Id="R644bbff70408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4810f282c94a81" /><Relationship Type="http://schemas.openxmlformats.org/officeDocument/2006/relationships/notesMaster" Target="/ppt/notesMasters/notesMaster1.xml" Id="R941fedbf0ff44af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6542ad20d042b2" /><Relationship Type="http://schemas.openxmlformats.org/officeDocument/2006/relationships/notesMaster" Target="/ppt/notesMasters/notesMaster1.xml" Id="R8dd6651dec1243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a0201176104b78" /><Relationship Type="http://schemas.openxmlformats.org/officeDocument/2006/relationships/notesMaster" Target="/ppt/notesMasters/notesMaster1.xml" Id="R0f90f50e17644a3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647b5fb09f4085" /><Relationship Type="http://schemas.openxmlformats.org/officeDocument/2006/relationships/notesMaster" Target="/ppt/notesMasters/notesMaster1.xml" Id="R613528831c024d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b6e2d9340fc4104" /><Relationship Type="http://schemas.openxmlformats.org/officeDocument/2006/relationships/notesMaster" Target="/ppt/notesMasters/notesMaster1.xml" Id="R33461214ca3e432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122a3db8654f2f" /><Relationship Type="http://schemas.openxmlformats.org/officeDocument/2006/relationships/notesMaster" Target="/ppt/notesMasters/notesMaster1.xml" Id="Rad5c1cb4f6084f2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5ff3292ff2a4903" /><Relationship Type="http://schemas.openxmlformats.org/officeDocument/2006/relationships/notesMaster" Target="/ppt/notesMasters/notesMaster1.xml" Id="R47ccd94580ab453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1d6ff2d184244ee" /><Relationship Type="http://schemas.openxmlformats.org/officeDocument/2006/relationships/notesMaster" Target="/ppt/notesMasters/notesMaster1.xml" Id="R51907b3cef8441f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6eb715204554493" /><Relationship Type="http://schemas.openxmlformats.org/officeDocument/2006/relationships/notesMaster" Target="/ppt/notesMasters/notesMaster1.xml" Id="R9a7765d29eab457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5c494a59f1b4e32" /><Relationship Type="http://schemas.openxmlformats.org/officeDocument/2006/relationships/notesMaster" Target="/ppt/notesMasters/notesMaster1.xml" Id="R8ed843cd49544ee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b008d15fd20468a" /><Relationship Type="http://schemas.openxmlformats.org/officeDocument/2006/relationships/notesMaster" Target="/ppt/notesMasters/notesMaster1.xml" Id="R1a3ecadf13e0433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30e9d84219b44a8" /><Relationship Type="http://schemas.openxmlformats.org/officeDocument/2006/relationships/notesMaster" Target="/ppt/notesMasters/notesMaster1.xml" Id="Rfd0d4c03b0554a0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184fe8f2cd14cbb" /><Relationship Type="http://schemas.openxmlformats.org/officeDocument/2006/relationships/notesMaster" Target="/ppt/notesMasters/notesMaster1.xml" Id="R01de3cc5510b490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e7f96b4051b4d5d" /><Relationship Type="http://schemas.openxmlformats.org/officeDocument/2006/relationships/notesMaster" Target="/ppt/notesMasters/notesMaster1.xml" Id="R4f507023966942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Đề tài Học máy. Tên trường/nhóm và thành viên đối chiếu hồ sơ Học máy, không lấy từ nội dung môn mẫu. Nguồn thực nghiệm: outputs/summary.json.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thông tin thành viên: biên bản họp Machine_Learning_tuan1.docx. Giảng viên, mã lớp, tháng nộp chưa được cung cấp.</a:t>
            </a:r>
          </a:p>
          <a:p xmlns:a="http://schemas.openxmlformats.org/drawingml/2006/main">
            <a:r>
              <a:t>Nguồn: báo cáo Học máy, outputs/summary.json và các bảng outputs/tables. Kết quả huấn luyện đã lưu, không phải đợt chạy mới ngày biên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 báo cáo Học máy, outputs/summary.json và các bảng outputs/tables. Kết quả huấn luyện đã lưu, không phải đợt chạy mới ngày biên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 báo cáo Học máy, outputs/summary.json và các bảng outputs/tables. Kết quả huấn luyện đã lưu, không phải đợt chạy mới ngày biên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 báo cáo Học máy, outputs/summary.json và các bảng outputs/tables. Kết quả huấn luyện đã lưu, không phải đợt chạy mới ngày biên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 báo cáo Học máy, outputs/summary.json và các bảng outputs/tables. Kết quả huấn luyện đã lưu, không phải đợt chạy mới ngày biên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 báo cáo Học máy, outputs/summary.json và các bảng outputs/tables. Kết quả huấn luyện đã lưu, không phải đợt chạy mới ngày biên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 báo cáo Học máy, outputs/summary.json và các bảng outputs/tables. Kết quả huấn luyện đã lưu, không phải đợt chạy mới ngày biên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 báo cáo Học máy, outputs/summary.json và các bảng outputs/tables. Kết quả huấn luyện đã lưu, không phải đợt chạy mới ngày biên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 báo cáo Học máy, outputs/summary.json và các bảng outputs/tables. Kết quả huấn luyện đã lưu, không phải đợt chạy mới ngày biên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 báo cáo Học máy, outputs/summary.json và các bảng outputs/tables. Kết quả huấn luyện đã lưu, không phải đợt chạy mới ngày biên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validation_model_comparison.csv. Đây là các cấu hình đã chạy; không kết luận tối ưu toàn cục.</a:t>
            </a:r>
          </a:p>
          <a:p xmlns:a="http://schemas.openxmlformats.org/drawingml/2006/main">
            <a:r>
              <a:t>Nguồn: báo cáo Học máy, outputs/summary.json và các bảng outputs/tables. Kết quả huấn luyện đã lưu, không phải đợt chạy mới ngày biên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 báo cáo Học máy, outputs/summary.json và các bảng outputs/tables. Kết quả huấn luyện đã lưu, không phải đợt chạy mới ngày biên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 báo cáo Học máy, outputs/summary.json và các bảng outputs/tables. Kết quả huấn luyện đã lưu, không phải đợt chạy mới ngày biên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 báo cáo Học máy, outputs/summary.json và các bảng outputs/tables. Kết quả huấn luyện đã lưu, không phải đợt chạy mới ngày biên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 báo cáo Học máy, outputs/summary.json và các bảng outputs/tables. Kết quả huấn luyện đã lưu, không phải đợt chạy mới ngày biên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 báo cáo Học máy, outputs/summary.json và các bảng outputs/tables. Kết quả huấn luyện đã lưu, không phải đợt chạy mới ngày biên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permutation_importance.csv, subset 50 mẫu test, 20 lần hoán vị, chỉ diagnostic sau chốt.</a:t>
            </a:r>
          </a:p>
          <a:p xmlns:a="http://schemas.openxmlformats.org/drawingml/2006/main">
            <a:r>
              <a:t>Nguồn: báo cáo Học máy, outputs/summary.json và các bảng outputs/tables. Kết quả huấn luyện đã lưu, không phải đợt chạy mới ngày biên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 báo cáo Học máy, outputs/summary.json và các bảng outputs/tables. Kết quả huấn luyện đã lưu, không phải đợt chạy mới ngày biên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 báo cáo Học máy, outputs/summary.json và các bảng outputs/tables. Kết quả huấn luyện đã lưu, không phải đợt chạy mới ngày biên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 báo cáo Học máy, outputs/summary.json và các bảng outputs/tables. Kết quả huấn luyện đã lưu, không phải đợt chạy mới ngày biên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 báo cáo Học máy, outputs/summary.json và các bảng outputs/tables. Kết quả huấn luyện đã lưu, không phải đợt chạy mới ngày biên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 báo cáo Học máy, outputs/summary.json và các bảng outputs/tables. Kết quả huấn luyện đã lưu, không phải đợt chạy mới ngày biên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Nguồn: báo cáo Học máy, outputs/summary.json và các bảng outputs/tables. Kết quả huấn luyện đã lưu, không phải đợt chạy mới ngày biên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Kaggle. House Prices – Advanced Regression Techniques. https://www.kaggle.com/competitions/house-prices-advanced-regression-techniques</a:t>
            </a:r>
          </a:p>
          <a:p xmlns:a="http://schemas.openxmlformats.org/drawingml/2006/main">
            <a:r>
              <a:t>[2] D. De Cock. Ames, Iowa: Alternative to the Boston Housing Data as an End of Semester Regression Project. Journal of Statistics Education, 19(3), 2011. https://jse.amstat.org/v19n3/decock.pdf</a:t>
            </a:r>
          </a:p>
          <a:p xmlns:a="http://schemas.openxmlformats.org/drawingml/2006/main">
            <a:r>
              <a:t>[3] Scikit-learn Developers. Linear Models – Ordinary Least Squares. https://scikit-learn.org/stable/modules/linear_model.html</a:t>
            </a:r>
          </a:p>
          <a:p xmlns:a="http://schemas.openxmlformats.org/drawingml/2006/main">
            <a:r>
              <a:t>[4] Scikit-learn Developers. Ridge, scikit-learn 1.8. https://scikit-learn.org/1.8/modules/generated/sklearn.linear_model.Ridge.html</a:t>
            </a:r>
          </a:p>
          <a:p xmlns:a="http://schemas.openxmlformats.org/drawingml/2006/main">
            <a:r>
              <a:t>[5] Scikit-learn Developers. ElasticNet, scikit-learn 1.8. https://scikit-learn.org/1.8/modules/generated/sklearn.linear_model.ElasticNet.html</a:t>
            </a:r>
          </a:p>
          <a:p xmlns:a="http://schemas.openxmlformats.org/drawingml/2006/main">
            <a:r>
              <a:t>[6] Scikit-learn Developers. Nearest Neighbors. https://scikit-learn.org/stable/modules/neighbors.html</a:t>
            </a:r>
          </a:p>
          <a:p xmlns:a="http://schemas.openxmlformats.org/drawingml/2006/main">
            <a:r>
              <a:t>[7] Scikit-learn Developers. Decision Trees, scikit-learn 1.8. https://scikit-learn.org/1.8/modules/tree.html</a:t>
            </a:r>
          </a:p>
          <a:p xmlns:a="http://schemas.openxmlformats.org/drawingml/2006/main">
            <a:r>
              <a:t>[8] Scikit-learn Developers. Ensembles: gradient boosting, random forests, bagging, voting, stacking. https://scikit-learn.org/stable/modules/ensemble.html</a:t>
            </a:r>
          </a:p>
          <a:p xmlns:a="http://schemas.openxmlformats.org/drawingml/2006/main">
            <a:r>
              <a:t>[9] Scikit-learn Developers. Metrics and scoring: quantifying the quality of predictions. https://scikit-learn.org/stable/modules/model_evaluation.html</a:t>
            </a:r>
          </a:p>
          <a:p xmlns:a="http://schemas.openxmlformats.org/drawingml/2006/main">
            <a:r>
              <a:t>[10] Scikit-learn Developers. Cross-validation: evaluating estimator performance. https://scikit-learn.org/stable/modules/cross_validation.html</a:t>
            </a:r>
          </a:p>
          <a:p xmlns:a="http://schemas.openxmlformats.org/drawingml/2006/main">
            <a:r>
              <a:t>[11] Scikit-learn Developers. Pipelines and composite estimators, scikit-learn 1.8. https://scikit-learn.org/1.8/modules/compose.html</a:t>
            </a:r>
          </a:p>
          <a:p xmlns:a="http://schemas.openxmlformats.org/drawingml/2006/main">
            <a:r>
              <a:t>[12] Scikit-learn Developers. Permutation feature importance, scikit-learn 1.8. https://scikit-learn.org/1.8/modules/permutation_importance.html</a:t>
            </a:r>
          </a:p>
          <a:p xmlns:a="http://schemas.openxmlformats.org/drawingml/2006/main">
            <a:r>
              <a:t>Nguồn nội bộ: summary.json, các bảng kết quả, mã nguồn và biên bản Học máy tuần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e6267c420c42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079fa26b649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c7dea928ef473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afdd6799fe43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19026c160847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49f348bf5f4e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04D39F-C98D-4185-A7BF-D1DED0E53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3AAB6C7-E27D-4B20-84F8-3919B9BAE2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AA8F99C-0730-4D3C-890F-8B1B84525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D07D6D-CFDC-4E91-AD67-C8A28B3C52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5DC6FA0-E633-48A6-BF92-CC8CDAEEB4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7E96EB7-018C-4AEA-A567-105B9D8D5A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BB9032-0D08-436D-8637-3D1E1F6859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5170792-7DCF-452D-BBA9-D98448CCD6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BAAFB9-008F-4B6B-A107-C284D57974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5A6868-FAAC-4D0A-89E6-3A2F82989B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bb2341ede746a6" /><Relationship Type="http://schemas.openxmlformats.org/officeDocument/2006/relationships/slideLayout" Target="/ppt/slideLayouts/slideLayout1.xml" Id="Rc97e568108fb4426" /><Relationship Type="http://schemas.openxmlformats.org/officeDocument/2006/relationships/slideLayout" Target="/ppt/slideLayouts/slideLayout2.xml" Id="Rc08a9f323b6c4a9c" /><Relationship Type="http://schemas.openxmlformats.org/officeDocument/2006/relationships/slideLayout" Target="/ppt/slideLayouts/slideLayout3.xml" Id="R2e70181f775e48c4" /><Relationship Type="http://schemas.openxmlformats.org/officeDocument/2006/relationships/slideLayout" Target="/ppt/slideLayouts/slideLayout4.xml" Id="Rb2c486aa7e32483e" /><Relationship Type="http://schemas.openxmlformats.org/officeDocument/2006/relationships/slideLayout" Target="/ppt/slideLayouts/slideLayout5.xml" Id="R9567d825cf4c4ac5" /><Relationship Type="http://schemas.openxmlformats.org/officeDocument/2006/relationships/slideLayout" Target="/ppt/slideLayouts/slideLayout6.xml" Id="R3a7191e8740049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7e568108fb4426"/>
    <p:sldLayoutId xmlns:r="http://schemas.openxmlformats.org/officeDocument/2006/relationships" id="2147483650" r:id="Rc08a9f323b6c4a9c"/>
    <p:sldLayoutId xmlns:r="http://schemas.openxmlformats.org/officeDocument/2006/relationships" id="2147483651" r:id="R2e70181f775e48c4"/>
    <p:sldLayoutId xmlns:r="http://schemas.openxmlformats.org/officeDocument/2006/relationships" id="2147483652" r:id="Rb2c486aa7e32483e"/>
    <p:sldLayoutId xmlns:r="http://schemas.openxmlformats.org/officeDocument/2006/relationships" id="2147483653" r:id="R9567d825cf4c4ac5"/>
    <p:sldLayoutId xmlns:r="http://schemas.openxmlformats.org/officeDocument/2006/relationships" id="2147483654" r:id="R3a7191e8740049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b952ab11054fbe" /><Relationship Type="http://schemas.openxmlformats.org/officeDocument/2006/relationships/notesSlide" Target="/ppt/notesSlides/notesSlide1.xml" Id="Raf34c4e668bd40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5ce529cfc84fcc" /><Relationship Type="http://schemas.openxmlformats.org/officeDocument/2006/relationships/notesSlide" Target="/ppt/notesSlides/notesSlide2.xml" Id="Rc263ccf070044a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4ac914ab0e4863" /><Relationship Type="http://schemas.openxmlformats.org/officeDocument/2006/relationships/notesSlide" Target="/ppt/notesSlides/notesSlide3.xml" Id="R5c6af8a043bf4f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b9c404c4bf4658" /><Relationship Type="http://schemas.openxmlformats.org/officeDocument/2006/relationships/notesSlide" Target="/ppt/notesSlides/notesSlide4.xml" Id="R8be5b0a7309947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def3bdadf841f3" /><Relationship Type="http://schemas.openxmlformats.org/officeDocument/2006/relationships/notesSlide" Target="/ppt/notesSlides/notesSlide5.xml" Id="R53f4437243fb43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09cd85f8064843" /><Relationship Type="http://schemas.openxmlformats.org/officeDocument/2006/relationships/notesSlide" Target="/ppt/notesSlides/notesSlide6.xml" Id="Rccf008091e5843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35ad904a5b4fc2" /><Relationship Type="http://schemas.openxmlformats.org/officeDocument/2006/relationships/image" Target="/ppt/media/image.png" Id="Reca6a05a6d2c4311" /><Relationship Type="http://schemas.openxmlformats.org/officeDocument/2006/relationships/notesSlide" Target="/ppt/notesSlides/notesSlide7.xml" Id="R886bf6a7e0e34c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7874536ed24174" /><Relationship Type="http://schemas.openxmlformats.org/officeDocument/2006/relationships/notesSlide" Target="/ppt/notesSlides/notesSlide8.xml" Id="R929835bba25245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10fa6a64f041dc" /><Relationship Type="http://schemas.openxmlformats.org/officeDocument/2006/relationships/notesSlide" Target="/ppt/notesSlides/notesSlide9.xml" Id="R516bda0a4f3f49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5a1e2036be4ab1" /><Relationship Type="http://schemas.openxmlformats.org/officeDocument/2006/relationships/notesSlide" Target="/ppt/notesSlides/notesSlide10.xml" Id="R84c78c16b74343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d45a7932294ecf" /><Relationship Type="http://schemas.openxmlformats.org/officeDocument/2006/relationships/notesSlide" Target="/ppt/notesSlides/notesSlide11.xml" Id="R2ec7f9c7fdfc4f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64616381704d6a" /><Relationship Type="http://schemas.openxmlformats.org/officeDocument/2006/relationships/chart" Target="/ppt/slides/charts/chart1.xml" Id="R7e658e2319a44c51" /><Relationship Type="http://schemas.openxmlformats.org/officeDocument/2006/relationships/notesSlide" Target="/ppt/notesSlides/notesSlide12.xml" Id="R68a1c10b053147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c689f4eb13484c" /><Relationship Type="http://schemas.openxmlformats.org/officeDocument/2006/relationships/notesSlide" Target="/ppt/notesSlides/notesSlide13.xml" Id="Rd4d00d46202440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4a1905e661451d" /><Relationship Type="http://schemas.openxmlformats.org/officeDocument/2006/relationships/notesSlide" Target="/ppt/notesSlides/notesSlide14.xml" Id="R556a2484e31945b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3107fc9e134230" /><Relationship Type="http://schemas.openxmlformats.org/officeDocument/2006/relationships/notesSlide" Target="/ppt/notesSlides/notesSlide15.xml" Id="R7296a263721f44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d40e63baf349de" /><Relationship Type="http://schemas.openxmlformats.org/officeDocument/2006/relationships/image" Target="/ppt/media/image2.png" Id="R745e3f6924d44613" /><Relationship Type="http://schemas.openxmlformats.org/officeDocument/2006/relationships/image" Target="/ppt/media/image3.png" Id="Rd46fddc0bae34430" /><Relationship Type="http://schemas.openxmlformats.org/officeDocument/2006/relationships/notesSlide" Target="/ppt/notesSlides/notesSlide16.xml" Id="R61516f3c26ec4b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3b518cf1cd4d6a" /><Relationship Type="http://schemas.openxmlformats.org/officeDocument/2006/relationships/chart" Target="/ppt/slides/charts/chart2.xml" Id="R7ae2150bcb154544" /><Relationship Type="http://schemas.openxmlformats.org/officeDocument/2006/relationships/notesSlide" Target="/ppt/notesSlides/notesSlide17.xml" Id="Ra8a68eeabe7749b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18ca3f921246e4" /><Relationship Type="http://schemas.openxmlformats.org/officeDocument/2006/relationships/chart" Target="/ppt/slides/charts/chart3.xml" Id="R839d36b14b3f40d6" /><Relationship Type="http://schemas.openxmlformats.org/officeDocument/2006/relationships/notesSlide" Target="/ppt/notesSlides/notesSlide18.xml" Id="R2216c35eae854a9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02748fbda04aca" /><Relationship Type="http://schemas.openxmlformats.org/officeDocument/2006/relationships/image" Target="/ppt/media/image4.png" Id="R773ee97be58142fd" /><Relationship Type="http://schemas.openxmlformats.org/officeDocument/2006/relationships/notesSlide" Target="/ppt/notesSlides/notesSlide19.xml" Id="R31b40c82464a477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532ab138c44108" /><Relationship Type="http://schemas.openxmlformats.org/officeDocument/2006/relationships/notesSlide" Target="/ppt/notesSlides/notesSlide20.xml" Id="R87ca407f1fc5456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85424d5ae34301" /><Relationship Type="http://schemas.openxmlformats.org/officeDocument/2006/relationships/notesSlide" Target="/ppt/notesSlides/notesSlide21.xml" Id="R38dd7d1961ae4be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2eb99709dd4779" /><Relationship Type="http://schemas.openxmlformats.org/officeDocument/2006/relationships/notesSlide" Target="/ppt/notesSlides/notesSlide22.xml" Id="Rc429b31745b54cf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99242319b54cac" /><Relationship Type="http://schemas.openxmlformats.org/officeDocument/2006/relationships/notesSlide" Target="/ppt/notesSlides/notesSlide23.xml" Id="Rd06a17a84e18421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dabbb23b364c1c" /><Relationship Type="http://schemas.openxmlformats.org/officeDocument/2006/relationships/notesSlide" Target="/ppt/notesSlides/notesSlide24.xml" Id="Rd1dfba48c2f54ea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43f5e5fb94011" /><Relationship Type="http://schemas.openxmlformats.org/officeDocument/2006/relationships/notesSlide" Target="/ppt/notesSlides/notesSlide25.xml" Id="R80fb77207c4145a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>
                <a:solidFill>
                  <a:srgbClr val="142C40"/>
                </a:solidFill>
              </a:rPr>
              <a:t>Validation RMSE (USD)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42C40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Validation RMSE (USD)</c:v>
          </c:tx>
          <c:spPr>
            <a:solidFill xmlns:a="http://schemas.openxmlformats.org/drawingml/2006/main">
              <a:srgbClr val="146C64"/>
            </a:solidFill>
          </c:spPr>
          <c:invertIfNegative val="0"/>
          <c:cat>
            <c:strRef>
              <c:f>'Chart Data'!$A$2:$A$11</c:f>
              <c:strCache>
                <c:ptCount val="10"/>
                <c:pt idx="0">
                  <c:v>ElasticNet</c:v>
                </c:pt>
                <c:pt idx="1">
                  <c:v>Ridge</c:v>
                </c:pt>
                <c:pt idx="2">
                  <c:v>LinearRegression</c:v>
                </c:pt>
                <c:pt idx="3">
                  <c:v>ExtraTrees</c:v>
                </c:pt>
                <c:pt idx="4">
                  <c:v>RandomForest</c:v>
                </c:pt>
                <c:pt idx="5">
                  <c:v>DecisionTree</c:v>
                </c:pt>
                <c:pt idx="6">
                  <c:v>KNeighbors</c:v>
                </c:pt>
                <c:pt idx="7">
                  <c:v>HistGB</c:v>
                </c:pt>
                <c:pt idx="8">
                  <c:v>GB</c:v>
                </c:pt>
                <c:pt idx="9">
                  <c:v>Dummy</c:v>
                </c:pt>
              </c:strCache>
            </c:str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24855.66</c:v>
                </c:pt>
                <c:pt idx="1">
                  <c:v>25213.2</c:v>
                </c:pt>
                <c:pt idx="2">
                  <c:v>26276.88</c:v>
                </c:pt>
                <c:pt idx="3">
                  <c:v>26552.11</c:v>
                </c:pt>
                <c:pt idx="4">
                  <c:v>27861.07</c:v>
                </c:pt>
                <c:pt idx="5">
                  <c:v>31457.93</c:v>
                </c:pt>
                <c:pt idx="6">
                  <c:v>34184.2</c:v>
                </c:pt>
                <c:pt idx="7">
                  <c:v>36644.32</c:v>
                </c:pt>
                <c:pt idx="8">
                  <c:v>53014.24</c:v>
                </c:pt>
                <c:pt idx="9">
                  <c:v>88612.2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42C4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42C4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C40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>
                <a:solidFill>
                  <a:srgbClr val="142C40"/>
                </a:solidFill>
              </a:rPr>
              <a:t>MAE theo phân khúc giá (USD)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42C40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MAE theo phân khúc giá (USD)</c:v>
          </c:tx>
          <c:spPr>
            <a:solidFill xmlns:a="http://schemas.openxmlformats.org/drawingml/2006/main">
              <a:srgbClr val="146C64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Q1 - thấp</c:v>
                </c:pt>
                <c:pt idx="1">
                  <c:v>Q2</c:v>
                </c:pt>
                <c:pt idx="2">
                  <c:v>Q3</c:v>
                </c:pt>
                <c:pt idx="3">
                  <c:v>Q4 - cao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10360.39</c:v>
                </c:pt>
                <c:pt idx="1">
                  <c:v>9551.12</c:v>
                </c:pt>
                <c:pt idx="2">
                  <c:v>14265.9</c:v>
                </c:pt>
                <c:pt idx="3">
                  <c:v>27418.52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42C4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42C4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C40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>
                <a:solidFill>
                  <a:srgbClr val="142C40"/>
                </a:solidFill>
              </a:rPr>
              <a:t>Mức tăng RMSE khi hoán vị (USD)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42C40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Mức tăng RMSE khi hoán vị (USD)</c:v>
          </c:tx>
          <c:spPr>
            <a:solidFill xmlns:a="http://schemas.openxmlformats.org/drawingml/2006/main">
              <a:srgbClr val="146C64"/>
            </a:solidFill>
          </c:spPr>
          <c:invertIfNegative val="0"/>
          <c:cat>
            <c:strRef>
              <c:f>'Chart Data'!$A$2:$A$8</c:f>
              <c:strCache>
                <c:ptCount val="7"/>
                <c:pt idx="0">
                  <c:v>GrLivArea</c:v>
                </c:pt>
                <c:pt idx="1">
                  <c:v>OverallQual</c:v>
                </c:pt>
                <c:pt idx="2">
                  <c:v>Neighborhood</c:v>
                </c:pt>
                <c:pt idx="3">
                  <c:v>GarageCars</c:v>
                </c:pt>
                <c:pt idx="4">
                  <c:v>LotArea</c:v>
                </c:pt>
                <c:pt idx="5">
                  <c:v>YearBuilt</c:v>
                </c:pt>
                <c:pt idx="6">
                  <c:v>KitchenQual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9910.12</c:v>
                </c:pt>
                <c:pt idx="1">
                  <c:v>8734.33</c:v>
                </c:pt>
                <c:pt idx="2">
                  <c:v>5256.71</c:v>
                </c:pt>
                <c:pt idx="3">
                  <c:v>3076.45</c:v>
                </c:pt>
                <c:pt idx="4">
                  <c:v>2269.53</c:v>
                </c:pt>
                <c:pt idx="5">
                  <c:v>1777.64</c:v>
                </c:pt>
                <c:pt idx="6">
                  <c:v>1730.04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42C4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42C4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C40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32CFD-3AFB-499A-8190-2DB8BF52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C3DADD"/>
                </a:solidFill>
              </a:defRPr>
            </a:defPPr>
            <a:lvl1pPr>
              <a:defRPr sz="1725" b="0">
                <a:solidFill>
                  <a:srgbClr val="C3DADD"/>
                </a:solidFill>
              </a:defRPr>
            </a:lvl1pPr>
            <a:lvl2pPr>
              <a:defRPr sz="1725" b="0">
                <a:solidFill>
                  <a:srgbClr val="C3DADD"/>
                </a:solidFill>
              </a:defRPr>
            </a:lvl2pPr>
            <a:lvl3pPr>
              <a:defRPr sz="1725" b="0">
                <a:solidFill>
                  <a:srgbClr val="C3DADD"/>
                </a:solidFill>
              </a:defRPr>
            </a:lvl3pPr>
            <a:lvl4pPr>
              <a:defRPr sz="1725" b="0">
                <a:solidFill>
                  <a:srgbClr val="C3DADD"/>
                </a:solidFill>
              </a:defRPr>
            </a:lvl4pPr>
            <a:lvl5pPr>
              <a:defRPr sz="1725" b="0">
                <a:solidFill>
                  <a:srgbClr val="C3DADD"/>
                </a:solidFill>
              </a:defRPr>
            </a:lvl5pPr>
            <a:lvl6pPr>
              <a:defRPr sz="1725" b="0">
                <a:solidFill>
                  <a:srgbClr val="C3DADD"/>
                </a:solidFill>
              </a:defRPr>
            </a:lvl6pPr>
            <a:lvl7pPr>
              <a:defRPr sz="1725" b="0">
                <a:solidFill>
                  <a:srgbClr val="C3DADD"/>
                </a:solidFill>
              </a:defRPr>
            </a:lvl7pPr>
            <a:lvl8pPr>
              <a:defRPr sz="1725" b="0">
                <a:solidFill>
                  <a:srgbClr val="C3DADD"/>
                </a:solidFill>
              </a:defRPr>
            </a:lvl8pPr>
            <a:lvl9pPr>
              <a:defRPr sz="1725" b="0">
                <a:solidFill>
                  <a:srgbClr val="C3DADD"/>
                </a:solidFill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C3DADD"/>
                </a:solidFill>
              </a:defRPr>
            </a:pPr>
            <a:r>
              <a:rPr sz="1725" b="0">
                <a:solidFill>
                  <a:srgbClr val="C3DADD"/>
                </a:solidFill>
              </a:rPr>
              <a:t>ĐẠI HỌC PHENIKAA · BÀI TẬP LỚN MÔN HỌC MÁY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FD27D-1E49-452C-9704-06EA6990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FFFFF"/>
                </a:solidFill>
              </a:defRPr>
            </a:defPPr>
            <a:lvl1pPr>
              <a:defRPr sz="3900" b="1">
                <a:solidFill>
                  <a:srgbClr val="FFFFFF"/>
                </a:solidFill>
              </a:defRPr>
            </a:lvl1pPr>
            <a:lvl2pPr>
              <a:defRPr sz="3900" b="1">
                <a:solidFill>
                  <a:srgbClr val="FFFFFF"/>
                </a:solidFill>
              </a:defRPr>
            </a:lvl2pPr>
            <a:lvl3pPr>
              <a:defRPr sz="3900" b="1">
                <a:solidFill>
                  <a:srgbClr val="FFFFFF"/>
                </a:solidFill>
              </a:defRPr>
            </a:lvl3pPr>
            <a:lvl4pPr>
              <a:defRPr sz="3900" b="1">
                <a:solidFill>
                  <a:srgbClr val="FFFFFF"/>
                </a:solidFill>
              </a:defRPr>
            </a:lvl4pPr>
            <a:lvl5pPr>
              <a:defRPr sz="3900" b="1">
                <a:solidFill>
                  <a:srgbClr val="FFFFFF"/>
                </a:solidFill>
              </a:defRPr>
            </a:lvl5pPr>
            <a:lvl6pPr>
              <a:defRPr sz="3900" b="1">
                <a:solidFill>
                  <a:srgbClr val="FFFFFF"/>
                </a:solidFill>
              </a:defRPr>
            </a:lvl6pPr>
            <a:lvl7pPr>
              <a:defRPr sz="3900" b="1">
                <a:solidFill>
                  <a:srgbClr val="FFFFFF"/>
                </a:solidFill>
              </a:defRPr>
            </a:lvl7pPr>
            <a:lvl8pPr>
              <a:defRPr sz="3900" b="1">
                <a:solidFill>
                  <a:srgbClr val="FFFFFF"/>
                </a:solidFill>
              </a:defRPr>
            </a:lvl8pPr>
            <a:lvl9pPr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Dự báo giá nhà</a:t>
            </a:r>
          </a:p>
          <a:p xmlns:a="http://schemas.openxmlformats.org/drawingml/2006/main">
            <a:pPr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House Prices – Ames Housing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F3915-3C3A-42EA-AD35-5EE61260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528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D9E8ED"/>
                </a:solidFill>
              </a:defRPr>
            </a:defPPr>
            <a:lvl1pPr>
              <a:defRPr sz="2250" b="0">
                <a:solidFill>
                  <a:srgbClr val="D9E8ED"/>
                </a:solidFill>
              </a:defRPr>
            </a:lvl1pPr>
            <a:lvl2pPr>
              <a:defRPr sz="2250" b="0">
                <a:solidFill>
                  <a:srgbClr val="D9E8ED"/>
                </a:solidFill>
              </a:defRPr>
            </a:lvl2pPr>
            <a:lvl3pPr>
              <a:defRPr sz="2250" b="0">
                <a:solidFill>
                  <a:srgbClr val="D9E8ED"/>
                </a:solidFill>
              </a:defRPr>
            </a:lvl3pPr>
            <a:lvl4pPr>
              <a:defRPr sz="2250" b="0">
                <a:solidFill>
                  <a:srgbClr val="D9E8ED"/>
                </a:solidFill>
              </a:defRPr>
            </a:lvl4pPr>
            <a:lvl5pPr>
              <a:defRPr sz="2250" b="0">
                <a:solidFill>
                  <a:srgbClr val="D9E8ED"/>
                </a:solidFill>
              </a:defRPr>
            </a:lvl5pPr>
            <a:lvl6pPr>
              <a:defRPr sz="2250" b="0">
                <a:solidFill>
                  <a:srgbClr val="D9E8ED"/>
                </a:solidFill>
              </a:defRPr>
            </a:lvl6pPr>
            <a:lvl7pPr>
              <a:defRPr sz="2250" b="0">
                <a:solidFill>
                  <a:srgbClr val="D9E8ED"/>
                </a:solidFill>
              </a:defRPr>
            </a:lvl7pPr>
            <a:lvl8pPr>
              <a:defRPr sz="2250" b="0">
                <a:solidFill>
                  <a:srgbClr val="D9E8ED"/>
                </a:solidFill>
              </a:defRPr>
            </a:lvl8pPr>
            <a:lvl9pPr>
              <a:defRPr sz="2250" b="0">
                <a:solidFill>
                  <a:srgbClr val="D9E8ED"/>
                </a:solidFill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D9E8ED"/>
                </a:solidFill>
              </a:defRPr>
            </a:pPr>
            <a:r>
              <a:rPr sz="2250" b="0">
                <a:solidFill>
                  <a:srgbClr val="D9E8ED"/>
                </a:solidFill>
              </a:rPr>
              <a:t>Nhóm 5 · So sánh các mô hình hồi quy</a:t>
            </a:r>
          </a:p>
          <a:p xmlns:a="http://schemas.openxmlformats.org/drawingml/2006/main">
            <a:pPr>
              <a:buNone/>
              <a:defRPr sz="2250" b="0">
                <a:solidFill>
                  <a:srgbClr val="D9E8ED"/>
                </a:solidFill>
              </a:defRPr>
            </a:pPr>
            <a:r>
              <a:rPr sz="2250" b="0">
                <a:solidFill>
                  <a:srgbClr val="D9E8ED"/>
                </a:solidFill>
              </a:rPr>
              <a:t>Pipeline từ dữ liệu bảng đến dự báo giá bán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B345C-46CB-412A-BC62-2613838A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9E8ED"/>
                </a:solidFill>
              </a:defRPr>
            </a:defPPr>
            <a:lvl1pPr>
              <a:defRPr sz="1875" b="0">
                <a:solidFill>
                  <a:srgbClr val="D9E8ED"/>
                </a:solidFill>
              </a:defRPr>
            </a:lvl1pPr>
            <a:lvl2pPr>
              <a:defRPr sz="1875" b="0">
                <a:solidFill>
                  <a:srgbClr val="D9E8ED"/>
                </a:solidFill>
              </a:defRPr>
            </a:lvl2pPr>
            <a:lvl3pPr>
              <a:defRPr sz="1875" b="0">
                <a:solidFill>
                  <a:srgbClr val="D9E8ED"/>
                </a:solidFill>
              </a:defRPr>
            </a:lvl3pPr>
            <a:lvl4pPr>
              <a:defRPr sz="1875" b="0">
                <a:solidFill>
                  <a:srgbClr val="D9E8ED"/>
                </a:solidFill>
              </a:defRPr>
            </a:lvl4pPr>
            <a:lvl5pPr>
              <a:defRPr sz="1875" b="0">
                <a:solidFill>
                  <a:srgbClr val="D9E8ED"/>
                </a:solidFill>
              </a:defRPr>
            </a:lvl5pPr>
            <a:lvl6pPr>
              <a:defRPr sz="1875" b="0">
                <a:solidFill>
                  <a:srgbClr val="D9E8ED"/>
                </a:solidFill>
              </a:defRPr>
            </a:lvl6pPr>
            <a:lvl7pPr>
              <a:defRPr sz="1875" b="0">
                <a:solidFill>
                  <a:srgbClr val="D9E8ED"/>
                </a:solidFill>
              </a:defRPr>
            </a:lvl7pPr>
            <a:lvl8pPr>
              <a:defRPr sz="1875" b="0">
                <a:solidFill>
                  <a:srgbClr val="D9E8ED"/>
                </a:solidFill>
              </a:defRPr>
            </a:lvl8pPr>
            <a:lvl9pPr>
              <a:defRPr sz="1875" b="0">
                <a:solidFill>
                  <a:srgbClr val="D9E8ED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D9E8ED"/>
                </a:solidFill>
              </a:defRPr>
            </a:pPr>
            <a:r>
              <a:rPr sz="1875" b="0">
                <a:solidFill>
                  <a:srgbClr val="D9E8ED"/>
                </a:solidFill>
              </a:rPr>
              <a:t>1.460 quan sát · 79 biến đầu vào · Train / Val / Test: 80 / 10 / 10</a:t>
            </a:r>
          </a:p>
        </p:txBody>
      </p:sp>
    </p:spTree>
    <p:extLst>
      <p:ext uri="{BB962C8B-B14F-4D97-AF65-F5344CB8AC3E}">
        <p14:creationId xmlns:p14="http://schemas.microsoft.com/office/powerpoint/2010/main" val="16848212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Thông tin nhóm thực hiện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Môn Học máy · Nhóm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F6C0C-E385-44A1-B348-C4E0CCCB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859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46C64"/>
                </a:solidFill>
                <a:latin typeface="Aptos"/>
                <a:ea typeface="Aptos"/>
                <a:cs typeface="Aptos"/>
              </a:rPr>
              <a:t>TRƯỜNG CÔNG NGHỆ THÔNG TIN PHENIKAA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740E8-31EF-4A40-A2F6-17D68E5A4F1C}"/>
              </a:ext>
            </a:extLst>
          </p:cNvPr>
          <p:cNvGraphicFramePr/>
          <p:nvPr/>
        </p:nvGraphicFramePr>
        <p:xfrm>
          <a:off xmlns:a="http://schemas.openxmlformats.org/drawingml/2006/main" x="619125" y="2381250"/>
          <a:ext xmlns:a="http://schemas.openxmlformats.org/drawingml/2006/main" cx="10953750" cy="2619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620000"/>
                <a:gridCol w="3333750"/>
              </a:tblGrid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Họ và tên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T w="6668">
                      <a:solidFill>
                        <a:srgbClr val="B7B7B7"/>
                      </a:solidFill>
                      <a:prstDash val="solid"/>
                    </a:lnT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MSSV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T w="6668">
                      <a:solidFill>
                        <a:srgbClr val="B7B7B7"/>
                      </a:solidFill>
                      <a:prstDash val="solid"/>
                    </a:lnT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Nguyễn Tùng Dương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24100358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Đào Trọng Đức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24107712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Nguyễn Hưng Vũ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24102769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Nguyễn Anh Tuấn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24100324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F08BF-CE3D-40CE-A9A5-CB86F35C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959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Giảng viên: TS. Nguyễn Ngọc Giang · Lớp: chưa bổ sung · Nộp: 10/2026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12659-0DB5-4494-BC10-FB125A55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6C64"/>
                </a:solidFill>
                <a:latin typeface="Aptos"/>
                <a:ea typeface="Aptos"/>
                <a:cs typeface="Aptos"/>
              </a:rPr>
              <a:t>Hà Nội, tháng 10 năm 2026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Mạch nội dung của bài Học máy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Mục lục đã tối ưu · 8 chương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B88D7-73D5-4ACF-83C7-2DE82E43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01  Giới thiệu đề tài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0509A-B7C0-4742-9CC0-0919FB2A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47925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02  Cơ sở lý thuyết và thuật toán hồi quy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E3C61-5FAF-4359-A3C6-0AD7D0D6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9560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03  Dữ liệu và phân tích khám phá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FDCE7-1166-497F-AC01-C6FEE34A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43275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04  Tiền xử lý và xây dựng đặc trưng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06112-A5A4-4A60-B523-A7A9E03C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9095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05  Thiết kế thực nghiệm và lựa chọn mô hình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496FC-19B4-4AEA-9F85-C07CB6F4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06  Kết quả thực nghiệm và phân tích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52DBD-2C6D-40C2-8A96-6351FFD2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8630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07  Ứng dụng minh họa và khả năng tái lập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2E880-643C-4435-BC12-96BB4DB8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33975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08  Kết luận, hạn chế và hướng phát triển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Bài toán dự báo một giá trị liên tục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Chương 1 · Mục tiêu và phạm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24260-D251-49CE-B098-7ABB0557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Đầu vào: 79 thuộc tính về lô đất, công trình và tiện ích.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7C251-650B-4EC6-A38E-CB2C3930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718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Đầu ra: SalePrice, giá bán ước lượng bằng USD.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F6147-F38F-42C9-A84C-C5A335A5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481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So sánh mô hình bằng cùng split và quy trình tiền xử lý.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1E41F-4BB7-4667-BC47-EF5EBEF6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244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Kết quả phục vụ học tập trên Ames; không phải giá thẩm định.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Các họ mô hình hồi quy được so sánh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Chương 2 · Nguyên lý và lựa chọn thuật toán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52D8B-AC00-4357-AEF1-74F1FF5C87BA}"/>
              </a:ext>
            </a:extLst>
          </p:cNvPr>
          <p:cNvGraphicFramePr/>
          <p:nvPr/>
        </p:nvGraphicFramePr>
        <p:xfrm>
          <a:off xmlns:a="http://schemas.openxmlformats.org/drawingml/2006/main" x="619125" y="2047875"/>
          <a:ext xmlns:a="http://schemas.openxmlformats.org/drawingml/2006/main" cx="10953750" cy="3190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5334000"/>
                <a:gridCol w="3524250"/>
              </a:tblGrid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Nhóm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T w="6668">
                      <a:solidFill>
                        <a:srgbClr val="B7B7B7"/>
                      </a:solidFill>
                      <a:prstDash val="solid"/>
                    </a:lnT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Thuật toán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T w="6668">
                      <a:solidFill>
                        <a:srgbClr val="B7B7B7"/>
                      </a:solidFill>
                      <a:prstDash val="solid"/>
                    </a:lnT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Điểm cần kiểm soát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T w="6668">
                      <a:solidFill>
                        <a:srgbClr val="B7B7B7"/>
                      </a:solidFill>
                      <a:prstDash val="solid"/>
                    </a:lnT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Tuyến tính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Linear Regression, Ridge, ElasticNet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Tương quan, điều chuẩn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Láng giềng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KNN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Thang đo, số láng giềng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Cây / tổ hợp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Decision Tree, RF, Extra Trees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Độ phức tạp, overfitting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Boosting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Gradient Boosting, HistGB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Số vòng lặp, learning rate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F20B9-908E-4735-B1D0-8779321F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6C64"/>
                </a:solidFill>
                <a:latin typeface="Aptos"/>
                <a:ea typeface="Aptos"/>
                <a:cs typeface="Aptos"/>
              </a:rPr>
              <a:t>Chín thuật toán học máy; Dummy median là baseline riêng.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Dữ liệu và vai trò của ba tập cố định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Chương 3 · Dữ liệu House Prices – Ames Housing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499C7-7F17-4A12-B55F-2940C4787F18}"/>
              </a:ext>
            </a:extLst>
          </p:cNvPr>
          <p:cNvGraphicFramePr/>
          <p:nvPr/>
        </p:nvGraphicFramePr>
        <p:xfrm>
          <a:off xmlns:a="http://schemas.openxmlformats.org/drawingml/2006/main" x="619125" y="2095500"/>
          <a:ext xmlns:a="http://schemas.openxmlformats.org/drawingml/2006/main" cx="10953750" cy="2714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1905000"/>
                <a:gridCol w="1619250"/>
                <a:gridCol w="5048250"/>
              </a:tblGrid>
              <a:tr h="678656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Tập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T w="6668">
                      <a:solidFill>
                        <a:srgbClr val="B7B7B7"/>
                      </a:solidFill>
                      <a:prstDash val="solid"/>
                    </a:lnT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Số mẫu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T w="6668">
                      <a:solidFill>
                        <a:srgbClr val="B7B7B7"/>
                      </a:solidFill>
                      <a:prstDash val="solid"/>
                    </a:lnT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Tỷ lệ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T w="6668">
                      <a:solidFill>
                        <a:srgbClr val="B7B7B7"/>
                      </a:solidFill>
                      <a:prstDash val="solid"/>
                    </a:lnT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Vai trò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T w="6668">
                      <a:solidFill>
                        <a:srgbClr val="B7B7B7"/>
                      </a:solidFill>
                      <a:prstDash val="solid"/>
                    </a:lnT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Train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1.168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80%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Fit, CV và tuning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Validation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146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10%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So sánh và chốt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Test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146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10%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Đánh giá cuối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CBD2F-6279-4E81-A081-F2BC8A86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5676"/>
                </a:solidFill>
                <a:latin typeface="Aptos"/>
                <a:ea typeface="Aptos"/>
                <a:cs typeface="Aptos"/>
              </a:rPr>
              <a:t>1.460 dòng · 81 cột raw = Id + 79 biến + SalePrice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DF3F4D-9DD7-4B01-94AC-2A107854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6C64"/>
                </a:solidFill>
                <a:latin typeface="Aptos"/>
                <a:ea typeface="Aptos"/>
                <a:cs typeface="Aptos"/>
              </a:rPr>
              <a:t>Giữ nguyên split; chưa có script nguồn để tái tạo bước chia ban đầu.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Giá bán lệch phải và biến đổi log-target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Chương 3 · EDA trên train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9BFF9-AF6D-44A0-AB03-3951A005B9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6a05a6d2c4311"/>
          <a:stretch xmlns:a="http://schemas.openxmlformats.org/drawingml/2006/main"/>
        </p:blipFill>
        <p:spPr>
          <a:xfrm xmlns:a="http://schemas.openxmlformats.org/drawingml/2006/main">
            <a:off x="619125" y="1979568"/>
            <a:ext cx="10906125" cy="342274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55042-BDB1-4F6F-9D63-E479A9A3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6C64"/>
                </a:solidFill>
                <a:latin typeface="Aptos"/>
                <a:ea typeface="Aptos"/>
                <a:cs typeface="Aptos"/>
              </a:rPr>
              <a:t>Skewness train: 1,888 → 0,168 sau log1p; đánh giá cuối vẫn theo USD.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Dữ liệu thiếu khác với không có tiện ích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Chương 3–4 · Missing và semantic absence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EF050-4E0D-4D40-B53A-35F2D8A6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NA / None ở biến tiện ích có thể mang ý nghĩa nghiệp vụ.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E1198-65BF-414B-8859-1256C35E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718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Biến số: median trên train; biến phân loại: Missing + OHE.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254CF-EE15-48FC-B6A1-4E21321F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481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Không xóa cột chỉ vì tỷ lệ absence cao.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782AF-9477-4D9A-80E7-BA564F23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244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Giới hạn: cờ Has* hiện gộp số thiếu với không có tiện ích.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Mười lăm đặc trưng được tạo từ dữ liệu gốc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Chương 4 · Feature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5AAF5-33F3-4F19-8E73-3592DC2035C0}"/>
              </a:ext>
            </a:extLst>
          </p:cNvPr>
          <p:cNvGraphicFramePr/>
          <p:nvPr/>
        </p:nvGraphicFramePr>
        <p:xfrm>
          <a:off xmlns:a="http://schemas.openxmlformats.org/drawingml/2006/main" x="619125" y="2095500"/>
          <a:ext xmlns:a="http://schemas.openxmlformats.org/drawingml/2006/main" cx="10953750" cy="3095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8096250"/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Nhóm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T w="6668">
                      <a:solidFill>
                        <a:srgbClr val="B7B7B7"/>
                      </a:solidFill>
                      <a:prstDash val="solid"/>
                    </a:lnT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Các đặc trưng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T w="6668">
                      <a:solidFill>
                        <a:srgbClr val="B7B7B7"/>
                      </a:solidFill>
                      <a:prstDash val="solid"/>
                    </a:lnT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Tuổi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HouseAge, RemodAge, GarageAge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Diện tích / phòng tắm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TotalSF, TotalBathrooms, TotalPorchSF, TotalOutdoorSF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Cờ tiện ích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HasGarage, HasBsmt, HasFireplace, HasPool, Has2ndFloor, HasMasVnr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Chu kỳ tháng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MoSold_sin, MoSold_cos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D6DE6-CE39-4AAE-8A44-0F5C60A9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6C64"/>
                </a:solidFill>
                <a:latin typeface="Aptos"/>
                <a:ea typeface="Aptos"/>
                <a:cs typeface="Aptos"/>
              </a:rPr>
              <a:t>Giữ biến gốc: 79 → 94 cột trước mã hóa; chưa có ablation từng đặc trưng.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Pipeline thống nhất giữa train và dự báo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Chương 4 · Chống rò rỉ và đóng gói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A6E0A-D532-42C9-8E81-07CB9818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defPPr>
            <a:lvl1pPr algn="l">
              <a:defRPr sz="23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1pPr>
            <a:lvl2pPr algn="l">
              <a:defRPr sz="23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2pPr>
            <a:lvl3pPr algn="l">
              <a:defRPr sz="23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3pPr>
            <a:lvl4pPr algn="l">
              <a:defRPr sz="23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4pPr>
            <a:lvl5pPr algn="l">
              <a:defRPr sz="23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5pPr>
            <a:lvl6pPr algn="l">
              <a:defRPr sz="23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6pPr>
            <a:lvl7pPr algn="l">
              <a:defRPr sz="23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7pPr>
            <a:lvl8pPr algn="l">
              <a:defRPr sz="23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8pPr>
            <a:lvl9pPr algn="l">
              <a:defRPr sz="23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5676"/>
                </a:solidFill>
                <a:latin typeface="Aptos"/>
                <a:ea typeface="Aptos"/>
                <a:cs typeface="Aptos"/>
              </a:rPr>
              <a:t>Raw input → Feature engineering → ColumnTransformer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91199-C41F-4CE5-B66F-B5CC283E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defPPr>
            <a:lvl1pPr algn="l">
              <a:defRPr sz="23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1pPr>
            <a:lvl2pPr algn="l">
              <a:defRPr sz="23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2pPr>
            <a:lvl3pPr algn="l">
              <a:defRPr sz="23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3pPr>
            <a:lvl4pPr algn="l">
              <a:defRPr sz="23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4pPr>
            <a:lvl5pPr algn="l">
              <a:defRPr sz="23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5pPr>
            <a:lvl6pPr algn="l">
              <a:defRPr sz="23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6pPr>
            <a:lvl7pPr algn="l">
              <a:defRPr sz="23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7pPr>
            <a:lvl8pPr algn="l">
              <a:defRPr sz="23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8pPr>
            <a:lvl9pPr algn="l">
              <a:defRPr sz="23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5676"/>
                </a:solidFill>
                <a:latin typeface="Aptos"/>
                <a:ea typeface="Aptos"/>
                <a:cs typeface="Aptos"/>
              </a:rPr>
              <a:t>→ Model trên log1p(SalePrice) → expm1 → USD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03353-D3CB-4693-8A9F-BB46B2AF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Mọi thống kê preprocessing được fit trong train hoặc train-fold.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28893-4D55-4974-81C2-E8B4C204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Id và SalePrice không tham gia tập đặc trưng đầu vào.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Chốt mô hình trước khi đánh giá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Chương 5 · Giao thức thực nghiệm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FFAE1-0578-432F-8F7C-EAD8D03E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Benchmark: train 1.168 mẫu → so sánh trên validation.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2CB2B-79A8-421F-B02A-E46C4DC9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718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Tuning: CV 3 fold trên train, random_state = 42.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32884-48C3-441F-B6A4-414238B3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481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Chốt tên và tham số bằng validation / CV.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001F9-1107-41F0-ADC7-594F6CA5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244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Fit cuối train + validation = 1.314 mẫu → test 146 mẫu.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So sánh trên validation vượt baseline hằng số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Chương 6.1 · Kết quả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AAF12BAE-461E-49F0-985C-FEBE45913BEF}"/>
              </a:ext>
            </a:extLst>
          </p:cNvPr>
          <p:cNvGraphicFramePr/>
          <p:nvPr/>
        </p:nvGraphicFramePr>
        <p:xfrm>
          <a:off xmlns:a="http://schemas.openxmlformats.org/drawingml/2006/main" x="619125" y="1952625"/>
          <a:ext xmlns:a="http://schemas.openxmlformats.org/drawingml/2006/main" cx="10858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658e2319a44c51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783A6-2DA0-4DCD-8960-F64EE620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6C64"/>
                </a:solidFill>
                <a:latin typeface="Aptos"/>
                <a:ea typeface="Aptos"/>
                <a:cs typeface="Aptos"/>
              </a:rPr>
              <a:t>ElasticNet: 24.856 USD · Dummy median: 88.612 USD · Thấp hơn tốt hơn.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Ngân sách tuning có chủ đích và còn nhỏ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Chương 5–6 · RandomizedSearchCV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3D377-5FCF-4A53-8DB6-2F9543DC1E34}"/>
              </a:ext>
            </a:extLst>
          </p:cNvPr>
          <p:cNvGraphicFramePr/>
          <p:nvPr/>
        </p:nvGraphicFramePr>
        <p:xfrm>
          <a:off xmlns:a="http://schemas.openxmlformats.org/drawingml/2006/main" x="619125" y="2143125"/>
          <a:ext xmlns:a="http://schemas.openxmlformats.org/drawingml/2006/main" cx="10953750" cy="2190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5810250"/>
                <a:gridCol w="2667000"/>
              </a:tblGrid>
              <a:tr h="73025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Ứng viên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T w="6668">
                      <a:solidFill>
                        <a:srgbClr val="B7B7B7"/>
                      </a:solidFill>
                      <a:prstDash val="solid"/>
                    </a:lnT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Không gian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T w="6668">
                      <a:solidFill>
                        <a:srgbClr val="B7B7B7"/>
                      </a:solidFill>
                      <a:prstDash val="solid"/>
                    </a:lnT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Số cấu hình chạy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T w="6668">
                      <a:solidFill>
                        <a:srgbClr val="B7B7B7"/>
                      </a:solidFill>
                      <a:prstDash val="solid"/>
                    </a:lnT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Ridge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12 mức alpha: 0,1 → 100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ElasticNet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3 alpha × 2 l1_ratio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3 trong 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FBB79-5D05-40AD-A8DB-787F5F4F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5676"/>
                </a:solidFill>
                <a:latin typeface="Aptos"/>
                <a:ea typeface="Aptos"/>
                <a:cs typeface="Aptos"/>
              </a:rPr>
              <a:t>CV 3 fold · scoring = neg_root_mean_squared_error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BCCC2-9556-4089-94F4-965EE516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6C64"/>
                </a:solidFill>
                <a:latin typeface="Aptos"/>
                <a:ea typeface="Aptos"/>
                <a:cs typeface="Aptos"/>
              </a:rPr>
              <a:t>Các mô hình cây chưa được tuning trong bộ kết quả hiện hành.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ElasticNet thỏa chính sách lựa chọn hiện hành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Chương 6.2 · Kết quả 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052C8-3EBD-4EF1-8B45-010469C3324C}"/>
              </a:ext>
            </a:extLst>
          </p:cNvPr>
          <p:cNvGraphicFramePr/>
          <p:nvPr/>
        </p:nvGraphicFramePr>
        <p:xfrm>
          <a:off xmlns:a="http://schemas.openxmlformats.org/drawingml/2006/main" x="619125" y="2095500"/>
          <a:ext xmlns:a="http://schemas.openxmlformats.org/drawingml/2006/main" cx="10953750" cy="2047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2571750"/>
                <a:gridCol w="2667000"/>
                <a:gridCol w="2667000"/>
              </a:tblGrid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Mô hình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T w="6668">
                      <a:solidFill>
                        <a:srgbClr val="B7B7B7"/>
                      </a:solidFill>
                      <a:prstDash val="solid"/>
                    </a:lnT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Val RMSE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T w="6668">
                      <a:solidFill>
                        <a:srgbClr val="B7B7B7"/>
                      </a:solidFill>
                      <a:prstDash val="solid"/>
                    </a:lnT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CV RMSE mean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T w="6668">
                      <a:solidFill>
                        <a:srgbClr val="B7B7B7"/>
                      </a:solidFill>
                      <a:prstDash val="solid"/>
                    </a:lnT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CV RMSE std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T w="6668">
                      <a:solidFill>
                        <a:srgbClr val="B7B7B7"/>
                      </a:solidFill>
                      <a:prstDash val="solid"/>
                    </a:lnT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ElasticNet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24,856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39,729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15,890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Ridge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25,362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41,704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19,211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732E6-268D-42B4-9705-D177E1CE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5676"/>
                </a:solidFill>
                <a:latin typeface="Aptos"/>
                <a:ea typeface="Aptos"/>
                <a:cs typeface="Aptos"/>
              </a:rPr>
              <a:t>ElasticNet: alpha = 0,001 · l1_ratio = 0,2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EF161-9AD1-4252-8809-98E3F057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6C64"/>
                </a:solidFill>
                <a:latin typeface="Aptos"/>
                <a:ea typeface="Aptos"/>
                <a:cs typeface="Aptos"/>
              </a:rPr>
              <a:t>Ridge chỉ được ưu tiên khi trong dung sai 2% và CV mean không tệ hơn.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Kết quả của mô hình cuối trên tập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Chương 6.3 · ElasticNet đã chốt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57D0D-26CD-4966-A9E5-FBE8926F1308}"/>
              </a:ext>
            </a:extLst>
          </p:cNvPr>
          <p:cNvGraphicFramePr/>
          <p:nvPr/>
        </p:nvGraphicFramePr>
        <p:xfrm>
          <a:off xmlns:a="http://schemas.openxmlformats.org/drawingml/2006/main" x="619125" y="2047875"/>
          <a:ext xmlns:a="http://schemas.openxmlformats.org/drawingml/2006/main" cx="10953750" cy="3000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33750"/>
                <a:gridCol w="3810000"/>
                <a:gridCol w="3810000"/>
              </a:tblGrid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Chỉ số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T w="6668">
                      <a:solidFill>
                        <a:srgbClr val="B7B7B7"/>
                      </a:solidFill>
                      <a:prstDash val="solid"/>
                    </a:lnT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Validation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T w="6668">
                      <a:solidFill>
                        <a:srgbClr val="B7B7B7"/>
                      </a:solidFill>
                      <a:prstDash val="solid"/>
                    </a:lnT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Test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T w="6668">
                      <a:solidFill>
                        <a:srgbClr val="B7B7B7"/>
                      </a:solidFill>
                      <a:prstDash val="solid"/>
                    </a:lnT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RMSE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24,855.66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22,228.60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MAE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15,376.31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15,452.34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R²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0.9172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0.9076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RMSLE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0.1202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0.1177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AE68E-9221-4E0A-A353-A284196A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6C64"/>
                </a:solidFill>
                <a:latin typeface="Aptos"/>
                <a:ea typeface="Aptos"/>
                <a:cs typeface="Aptos"/>
              </a:rPr>
              <a:t>Validation: fit trên train; Test: fit cuối trên train + validation.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Sai số cần được đọc cùng phân phối phần dư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Chương 6.4 · Diagnostic sau khi chốt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3A015-E3B5-406B-A307-23ADF9FC45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e3f6924d44613"/>
          <a:stretch xmlns:a="http://schemas.openxmlformats.org/drawingml/2006/main"/>
        </p:blipFill>
        <p:spPr>
          <a:xfrm xmlns:a="http://schemas.openxmlformats.org/drawingml/2006/main">
            <a:off x="1226389" y="1952625"/>
            <a:ext cx="4119473" cy="3476625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94FA3-1A1B-495E-863D-1520E47173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fddc0bae34430"/>
          <a:stretch xmlns:a="http://schemas.openxmlformats.org/drawingml/2006/main"/>
        </p:blipFill>
        <p:spPr>
          <a:xfrm xmlns:a="http://schemas.openxmlformats.org/drawingml/2006/main">
            <a:off x="6623277" y="1952625"/>
            <a:ext cx="4469946" cy="3476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95DFD-9A8E-45F5-912C-35A4DE38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6C64"/>
                </a:solidFill>
                <a:latin typeface="Aptos"/>
                <a:ea typeface="Aptos"/>
                <a:cs typeface="Aptos"/>
              </a:rPr>
              <a:t>Theo được xu hướng chung; vẫn có các ca lệch lớn ở vùng giá cao.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Nhà giá cao có sai số tuyệt đối lớn hơn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Chương 6.4 · Phân tích theo tứ phân vị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3D6E702F-D539-4176-9E84-2B4B96880FC4}"/>
              </a:ext>
            </a:extLst>
          </p:cNvPr>
          <p:cNvGraphicFramePr/>
          <p:nvPr/>
        </p:nvGraphicFramePr>
        <p:xfrm>
          <a:off xmlns:a="http://schemas.openxmlformats.org/drawingml/2006/main" x="619125" y="1952625"/>
          <a:ext xmlns:a="http://schemas.openxmlformats.org/drawingml/2006/main" cx="10858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e2150bcb154544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8B760-995A-4F59-92E6-AE8F7114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6C64"/>
                </a:solidFill>
                <a:latin typeface="Aptos"/>
                <a:ea typeface="Aptos"/>
                <a:cs typeface="Aptos"/>
              </a:rPr>
              <a:t>Q4: MAE khoảng 27.419 USD · Cần thận trọng với căn nhà đắt hoặc hiếm.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Những tín hiệu mô hình phụ thuộc nhiều nhất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Chương 6.5 · Permutation importance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67C0D165-3A79-4ACE-ABA7-AE2323278723}"/>
              </a:ext>
            </a:extLst>
          </p:cNvPr>
          <p:cNvGraphicFramePr/>
          <p:nvPr/>
        </p:nvGraphicFramePr>
        <p:xfrm>
          <a:off xmlns:a="http://schemas.openxmlformats.org/drawingml/2006/main" x="619125" y="1952625"/>
          <a:ext xmlns:a="http://schemas.openxmlformats.org/drawingml/2006/main" cx="10858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9d36b14b3f40d6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48A8A-4938-4090-B3EE-1FF1580C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6C64"/>
                </a:solidFill>
                <a:latin typeface="Aptos"/>
                <a:ea typeface="Aptos"/>
                <a:cs typeface="Aptos"/>
              </a:rPr>
              <a:t>Importance phụ thuộc mẫu và tương quan biến; không diễn giải nhân quả.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Ứng dụng nhận dữ liệu raw và trả giá USD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Chương 7 · Minh họa Streamlit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44C29-E9CF-4996-BB39-8C86088DEC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ee97be58142fd"/>
          <a:stretch xmlns:a="http://schemas.openxmlformats.org/drawingml/2006/main"/>
        </p:blipFill>
        <p:spPr>
          <a:xfrm xmlns:a="http://schemas.openxmlformats.org/drawingml/2006/main">
            <a:off x="1418273" y="1952625"/>
            <a:ext cx="5212080" cy="3619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279F7-8A9D-4555-BF94-FE85A56C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38375"/>
            <a:ext cx="3619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Quick: 15 biến</a:t>
            </a:r>
          </a:p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Full: 79 biến</a:t>
            </a:r>
          </a:p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Batch: upload CSV</a:t>
            </a:r>
          </a:p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Tải kết quả dự báo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48333-477D-4AAB-94AD-A9986EAA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6C64"/>
                </a:solidFill>
                <a:latin typeface="Aptos"/>
                <a:ea typeface="Aptos"/>
                <a:cs typeface="Aptos"/>
              </a:rPr>
              <a:t>Ảnh giao diện đã lưu; ứng dụng load artifact, không retrain khi dự báo.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Bằng chứng kỹ thuật có phạm vi xác định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Chương 7 · Kiểm thử và tái lập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5E367-72DB-4E1C-BA47-050B711E1AF8}"/>
              </a:ext>
            </a:extLst>
          </p:cNvPr>
          <p:cNvGraphicFramePr/>
          <p:nvPr/>
        </p:nvGraphicFramePr>
        <p:xfrm>
          <a:off xmlns:a="http://schemas.openxmlformats.org/drawingml/2006/main" x="619125" y="2095500"/>
          <a:ext xmlns:a="http://schemas.openxmlformats.org/drawingml/2006/main" cx="10953750" cy="2571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429500"/>
                <a:gridCol w="3524250"/>
              </a:tblGrid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Bằng chứng đã lưu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T w="6668">
                      <a:solidFill>
                        <a:srgbClr val="B7B7B7"/>
                      </a:solidFill>
                      <a:prstDash val="solid"/>
                    </a:lnT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Trạng thái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T w="6668">
                      <a:solidFill>
                        <a:srgbClr val="B7B7B7"/>
                      </a:solidFill>
                      <a:prstDash val="solid"/>
                    </a:lnT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Pytest ngày 05/10/2026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69 passed; 0 failed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Coverage core + backend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99,7%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Notebook Detailed / Basic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B7B7B7"/>
                      </a:solidFill>
                      <a:prstDash val="solid"/>
                    </a:lnL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42C40"/>
                          </a:solidFill>
                          <a:latin typeface="Aptos"/>
                          <a:ea typeface="Aptos"/>
                          <a:cs typeface="Aptos"/>
                        </a:rPr>
                        <a:t>PASS / PASS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B7B7B7"/>
                      </a:solidFill>
                      <a:prstDash val="solid"/>
                    </a:lnR>
                    <a:lnB w="6668">
                      <a:solidFill>
                        <a:srgbClr val="B7B7B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3FCDD-4FAE-4F4B-BA54-878C3A3E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Coverage cao không bảo đảm không còn bug, đặc biệt ở giao diện.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Đường dẫn ứng dụng và giới hạn xác minh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Chương 7 · Trạng thái triển khai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3370F-F58D-4CF8-A70D-B8445668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5676"/>
                </a:solidFill>
                <a:latin typeface="Aptos"/>
                <a:ea typeface="Aptos"/>
                <a:cs typeface="Aptos"/>
              </a:rPr>
              <a:t>ames-house-price-prediction-td.streamlit.app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B4F0B-E740-4DFD-A2EE-5C4A2121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URL do chủ dự án cung cấp; chưa xác minh lại đầy đủ suy luận cloud.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3FB9F-AC66-457D-AE1D-BA58D276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Code và metric local không tự chứng minh deployment đã đồng bộ.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6681F-D165-44FF-BB68-AE9EE58F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46C6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6C64"/>
                </a:solidFill>
                <a:latin typeface="Aptos"/>
                <a:ea typeface="Aptos"/>
                <a:cs typeface="Aptos"/>
              </a:rPr>
              <a:t>Nguồn kết quả: summary, metadata, policy, data hashes và notebook đã chạy.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Giới hạn của kết luận thực nghiệm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Chương 8 · Hạn chế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5A61C-E754-488D-A480-05163F10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Một bộ dữ liệu, một split; chưa có external validation.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321EA-D70B-4C9B-8EBC-F2CD810E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718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Tuning hẹp; chưa có ablation hoặc tối ưu các cây.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C041F-2181-49D9-B3CB-0EB12464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481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CV RMSE biến động lớn; nhóm giá cao còn sai số lớn.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848ED-D368-434D-A603-D13E3D45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244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Chưa có khoảng dự báo riêng cho từng căn nhà.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Các bước phát triển tiếp theo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Chương 8 · Đề xuất chưa thực hiện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A0FFA-A3D3-49D6-A65C-489F94C6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Repeated CV và đánh giá trên dữ liệu ngoài Ames.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3B604-F1C6-4E6F-9BD8-BA79A8F7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718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Ablation theo nhóm đặc trưng và cách xử lý missing.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C02AD-E406-4734-BC4C-134ACA40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481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Tuning với ngân sách rộng và so sánh công bằng hơn.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E9262-6147-4DEE-B845-21A28871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244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Khoảng dự báo, version model và theo dõi drift.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Kết luận của bài Học máy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Chương 8 · Nội dung chính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BE28B-D5AC-4162-92B8-2375ACD1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Đã xây dựng quy trình hồi quy trên dữ liệu bảng có kiểm soát.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D90E2-12E6-4925-A450-445E5617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718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Chín thuật toán + baseline; ElasticNet được chọn theo protocol.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66864-96FA-4403-932C-E11D954A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481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Test RMSE 22.228,60 USD · R² = 0,9076.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F4A7D-69F0-42FC-BDF3-BB42E60D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24400"/>
            <a:ext cx="1071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Kết quả phục vụ học tập, đi kèm giới hạn dữ liệu và thực nghiệm.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EB0E-2FB8-4EA8-97C1-168ED9C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C40"/>
                </a:solidFill>
              </a:defRPr>
            </a:defPPr>
            <a:lvl1pPr>
              <a:defRPr sz="2850" b="1">
                <a:solidFill>
                  <a:srgbClr val="142C40"/>
                </a:solidFill>
              </a:defRPr>
            </a:lvl1pPr>
            <a:lvl2pPr>
              <a:defRPr sz="2850" b="1">
                <a:solidFill>
                  <a:srgbClr val="142C40"/>
                </a:solidFill>
              </a:defRPr>
            </a:lvl2pPr>
            <a:lvl3pPr>
              <a:defRPr sz="2850" b="1">
                <a:solidFill>
                  <a:srgbClr val="142C40"/>
                </a:solidFill>
              </a:defRPr>
            </a:lvl3pPr>
            <a:lvl4pPr>
              <a:defRPr sz="2850" b="1">
                <a:solidFill>
                  <a:srgbClr val="142C40"/>
                </a:solidFill>
              </a:defRPr>
            </a:lvl4pPr>
            <a:lvl5pPr>
              <a:defRPr sz="2850" b="1">
                <a:solidFill>
                  <a:srgbClr val="142C40"/>
                </a:solidFill>
              </a:defRPr>
            </a:lvl5pPr>
            <a:lvl6pPr>
              <a:defRPr sz="2850" b="1">
                <a:solidFill>
                  <a:srgbClr val="142C40"/>
                </a:solidFill>
              </a:defRPr>
            </a:lvl6pPr>
            <a:lvl7pPr>
              <a:defRPr sz="2850" b="1">
                <a:solidFill>
                  <a:srgbClr val="142C40"/>
                </a:solidFill>
              </a:defRPr>
            </a:lvl7pPr>
            <a:lvl8pPr>
              <a:defRPr sz="2850" b="1">
                <a:solidFill>
                  <a:srgbClr val="142C40"/>
                </a:solidFill>
              </a:defRPr>
            </a:lvl8pPr>
            <a:lvl9pPr>
              <a:defRPr sz="2850" b="1">
                <a:solidFill>
                  <a:srgbClr val="142C40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C40"/>
                </a:solidFill>
              </a:defRPr>
            </a:pPr>
            <a:r>
              <a:rPr sz="2850" b="1">
                <a:solidFill>
                  <a:srgbClr val="142C40"/>
                </a:solidFill>
              </a:rPr>
              <a:t>Trao đổi và câu hỏi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E2F9F-9A25-4A2F-BBAA-581E1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6C64"/>
                </a:solidFill>
              </a:defRPr>
            </a:defPPr>
            <a:lvl1pPr>
              <a:defRPr sz="1425" b="0">
                <a:solidFill>
                  <a:srgbClr val="146C64"/>
                </a:solidFill>
              </a:defRPr>
            </a:lvl1pPr>
            <a:lvl2pPr>
              <a:defRPr sz="1425" b="0">
                <a:solidFill>
                  <a:srgbClr val="146C64"/>
                </a:solidFill>
              </a:defRPr>
            </a:lvl2pPr>
            <a:lvl3pPr>
              <a:defRPr sz="1425" b="0">
                <a:solidFill>
                  <a:srgbClr val="146C64"/>
                </a:solidFill>
              </a:defRPr>
            </a:lvl3pPr>
            <a:lvl4pPr>
              <a:defRPr sz="1425" b="0">
                <a:solidFill>
                  <a:srgbClr val="146C64"/>
                </a:solidFill>
              </a:defRPr>
            </a:lvl4pPr>
            <a:lvl5pPr>
              <a:defRPr sz="1425" b="0">
                <a:solidFill>
                  <a:srgbClr val="146C64"/>
                </a:solidFill>
              </a:defRPr>
            </a:lvl5pPr>
            <a:lvl6pPr>
              <a:defRPr sz="1425" b="0">
                <a:solidFill>
                  <a:srgbClr val="146C64"/>
                </a:solidFill>
              </a:defRPr>
            </a:lvl6pPr>
            <a:lvl7pPr>
              <a:defRPr sz="1425" b="0">
                <a:solidFill>
                  <a:srgbClr val="146C64"/>
                </a:solidFill>
              </a:defRPr>
            </a:lvl7pPr>
            <a:lvl8pPr>
              <a:defRPr sz="1425" b="0">
                <a:solidFill>
                  <a:srgbClr val="146C64"/>
                </a:solidFill>
              </a:defRPr>
            </a:lvl8pPr>
            <a:lvl9pPr>
              <a:defRPr sz="1425" b="0">
                <a:solidFill>
                  <a:srgbClr val="146C64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46C64"/>
                </a:solidFill>
              </a:defRPr>
            </a:pPr>
            <a:r>
              <a:rPr sz="1425" b="0">
                <a:solidFill>
                  <a:srgbClr val="146C64"/>
                </a:solidFill>
              </a:rPr>
              <a:t>Nguồn dữ liệu và phương pháp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EA75-4559-4B37-A057-6F59C42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0616D"/>
                </a:solidFill>
              </a:defRPr>
            </a:defPPr>
            <a:lvl1pPr>
              <a:defRPr sz="1275" b="0">
                <a:solidFill>
                  <a:srgbClr val="50616D"/>
                </a:solidFill>
              </a:defRPr>
            </a:lvl1pPr>
            <a:lvl2pPr>
              <a:defRPr sz="1275" b="0">
                <a:solidFill>
                  <a:srgbClr val="50616D"/>
                </a:solidFill>
              </a:defRPr>
            </a:lvl2pPr>
            <a:lvl3pPr>
              <a:defRPr sz="1275" b="0">
                <a:solidFill>
                  <a:srgbClr val="50616D"/>
                </a:solidFill>
              </a:defRPr>
            </a:lvl3pPr>
            <a:lvl4pPr>
              <a:defRPr sz="1275" b="0">
                <a:solidFill>
                  <a:srgbClr val="50616D"/>
                </a:solidFill>
              </a:defRPr>
            </a:lvl4pPr>
            <a:lvl5pPr>
              <a:defRPr sz="1275" b="0">
                <a:solidFill>
                  <a:srgbClr val="50616D"/>
                </a:solidFill>
              </a:defRPr>
            </a:lvl5pPr>
            <a:lvl6pPr>
              <a:defRPr sz="1275" b="0">
                <a:solidFill>
                  <a:srgbClr val="50616D"/>
                </a:solidFill>
              </a:defRPr>
            </a:lvl6pPr>
            <a:lvl7pPr>
              <a:defRPr sz="1275" b="0">
                <a:solidFill>
                  <a:srgbClr val="50616D"/>
                </a:solidFill>
              </a:defRPr>
            </a:lvl7pPr>
            <a:lvl8pPr>
              <a:defRPr sz="1275" b="0">
                <a:solidFill>
                  <a:srgbClr val="50616D"/>
                </a:solidFill>
              </a:defRPr>
            </a:lvl8pPr>
            <a:lvl9pPr>
              <a:defRPr sz="127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0616D"/>
                </a:solidFill>
              </a:defRPr>
            </a:pPr>
            <a:r>
              <a:rPr sz="1275" b="0">
                <a:solidFill>
                  <a:srgbClr val="50616D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8797-1BFC-4DB5-87D7-C69B4E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0616D"/>
                </a:solidFill>
              </a:defRPr>
            </a:defPPr>
            <a:lvl1pPr>
              <a:defRPr sz="1125" b="0">
                <a:solidFill>
                  <a:srgbClr val="50616D"/>
                </a:solidFill>
              </a:defRPr>
            </a:lvl1pPr>
            <a:lvl2pPr>
              <a:defRPr sz="1125" b="0">
                <a:solidFill>
                  <a:srgbClr val="50616D"/>
                </a:solidFill>
              </a:defRPr>
            </a:lvl2pPr>
            <a:lvl3pPr>
              <a:defRPr sz="1125" b="0">
                <a:solidFill>
                  <a:srgbClr val="50616D"/>
                </a:solidFill>
              </a:defRPr>
            </a:lvl3pPr>
            <a:lvl4pPr>
              <a:defRPr sz="1125" b="0">
                <a:solidFill>
                  <a:srgbClr val="50616D"/>
                </a:solidFill>
              </a:defRPr>
            </a:lvl4pPr>
            <a:lvl5pPr>
              <a:defRPr sz="1125" b="0">
                <a:solidFill>
                  <a:srgbClr val="50616D"/>
                </a:solidFill>
              </a:defRPr>
            </a:lvl5pPr>
            <a:lvl6pPr>
              <a:defRPr sz="1125" b="0">
                <a:solidFill>
                  <a:srgbClr val="50616D"/>
                </a:solidFill>
              </a:defRPr>
            </a:lvl6pPr>
            <a:lvl7pPr>
              <a:defRPr sz="1125" b="0">
                <a:solidFill>
                  <a:srgbClr val="50616D"/>
                </a:solidFill>
              </a:defRPr>
            </a:lvl7pPr>
            <a:lvl8pPr>
              <a:defRPr sz="1125" b="0">
                <a:solidFill>
                  <a:srgbClr val="50616D"/>
                </a:solidFill>
              </a:defRPr>
            </a:lvl8pPr>
            <a:lvl9pPr>
              <a:defRPr sz="1125" b="0">
                <a:solidFill>
                  <a:srgbClr val="50616D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0616D"/>
                </a:solidFill>
              </a:defRPr>
            </a:pPr>
            <a:r>
              <a:rPr sz="1125" b="0">
                <a:solidFill>
                  <a:srgbClr val="50616D"/>
                </a:solidFill>
              </a:rPr>
              <a:t>HỌC MÁY · DỰ BÁO GIÁ NHÀ · NHÓM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F94E5-5E23-48A2-9467-A028768C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defPPr>
            <a:lvl1pPr algn="l">
              <a:defRPr sz="26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1pPr>
            <a:lvl2pPr algn="l">
              <a:defRPr sz="26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2pPr>
            <a:lvl3pPr algn="l">
              <a:defRPr sz="26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3pPr>
            <a:lvl4pPr algn="l">
              <a:defRPr sz="26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4pPr>
            <a:lvl5pPr algn="l">
              <a:defRPr sz="26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5pPr>
            <a:lvl6pPr algn="l">
              <a:defRPr sz="26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6pPr>
            <a:lvl7pPr algn="l">
              <a:defRPr sz="26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7pPr>
            <a:lvl8pPr algn="l">
              <a:defRPr sz="26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8pPr>
            <a:lvl9pPr algn="l">
              <a:defRPr sz="26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5676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75676"/>
                </a:solidFill>
                <a:latin typeface="Aptos"/>
                <a:ea typeface="Aptos"/>
                <a:cs typeface="Aptos"/>
              </a:rPr>
              <a:t>Nhóm 5 · Dự báo giá nhà bằng Học máy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F3AB3-58A3-4C1E-8A26-C8FFAC4D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Dữ liệu: Kaggle House Prices / Ames Housing.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CD56E-5ADC-4EBF-BC3E-6C1D8872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528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42C40"/>
                </a:solidFill>
                <a:latin typeface="Aptos"/>
                <a:ea typeface="Aptos"/>
                <a:cs typeface="Aptos"/>
              </a:rPr>
              <a:t>Phương pháp: tài liệu chính thức scikit-learn; nguồn chi tiết trong notes.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61055-D976-4E9B-8A5E-EE0F1C7F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0616D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50616D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50616D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50616D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50616D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50616D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50616D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50616D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50616D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50616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0616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0616D"/>
                </a:solidFill>
                <a:latin typeface="Aptos"/>
                <a:ea typeface="Aptos"/>
                <a:cs typeface="Aptos"/>
              </a:rPr>
              <a:t>GV: TS. Nguyễn Ngọc Giang · Tháng 10/2026 · Lớp: chưa bổ sung</a:t>
            </a:r>
          </a:p>
        </p:txBody>
      </p:sp>
    </p:spTree>
    <p:extLst>
      <p:ext uri="{BB962C8B-B14F-4D97-AF65-F5344CB8AC3E}">
        <p14:creationId xmlns:p14="http://schemas.microsoft.com/office/powerpoint/2010/main" val="1731807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2026-10-18T07:08:03.1640000Z</dcterms:created>
  <dcterms:modified xsi:type="dcterms:W3CDTF">2026-10-18T07:08:03.1640000Z</dcterms:modified>
</coreProperties>
</file>