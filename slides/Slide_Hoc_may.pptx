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4.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5.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2f9bcc793f249e0" /><Relationship Type="http://schemas.openxmlformats.org/officeDocument/2006/relationships/extended-properties" Target="/docProps/app.xml" Id="R66296f910c184040" /><Relationship Type="http://schemas.openxmlformats.org/officeDocument/2006/relationships/officeDocument" Target="/ppt/presentation.xml" Id="R0d46f2cd70e04fd5" /></Relationships>
</file>

<file path=ppt/presentation.xml><?xml version="1.0" encoding="utf-8"?>
<p:presentation xmlns:p="http://schemas.openxmlformats.org/presentationml/2006/main">
  <p:sldMasterIdLst>
    <p:sldMasterId xmlns:r="http://schemas.openxmlformats.org/officeDocument/2006/relationships" id="2147483648" r:id="R2b863735b283454c"/>
  </p:sldMasterIdLst>
  <p:notesMasterIdLst>
    <p:notesMasterId xmlns:r="http://schemas.openxmlformats.org/officeDocument/2006/relationships" r:id="R0832458027f24cec"/>
  </p:notesMasterIdLst>
  <p:sldIdLst>
    <p:sldId xmlns:r="http://schemas.openxmlformats.org/officeDocument/2006/relationships" id="256" r:id="Ra0720f5f4e5e4412"/>
    <p:sldId xmlns:r="http://schemas.openxmlformats.org/officeDocument/2006/relationships" id="257" r:id="R05004db3236c46f8"/>
    <p:sldId xmlns:r="http://schemas.openxmlformats.org/officeDocument/2006/relationships" id="258" r:id="Rdeec609abfdd4862"/>
    <p:sldId xmlns:r="http://schemas.openxmlformats.org/officeDocument/2006/relationships" id="259" r:id="R299935ee727c4bb1"/>
    <p:sldId xmlns:r="http://schemas.openxmlformats.org/officeDocument/2006/relationships" id="260" r:id="Rfc2dfeae29864f5e"/>
    <p:sldId xmlns:r="http://schemas.openxmlformats.org/officeDocument/2006/relationships" id="261" r:id="Ra690b67d5d52495d"/>
    <p:sldId xmlns:r="http://schemas.openxmlformats.org/officeDocument/2006/relationships" id="262" r:id="Re884d4c524084503"/>
    <p:sldId xmlns:r="http://schemas.openxmlformats.org/officeDocument/2006/relationships" id="263" r:id="R1fadc62d59e24d43"/>
    <p:sldId xmlns:r="http://schemas.openxmlformats.org/officeDocument/2006/relationships" id="264" r:id="Rca02e036d0f84ecb"/>
    <p:sldId xmlns:r="http://schemas.openxmlformats.org/officeDocument/2006/relationships" id="265" r:id="R257996498b61490f"/>
    <p:sldId xmlns:r="http://schemas.openxmlformats.org/officeDocument/2006/relationships" id="266" r:id="R551a0739cb0748fd"/>
    <p:sldId xmlns:r="http://schemas.openxmlformats.org/officeDocument/2006/relationships" id="267" r:id="R57dad33026004f9e"/>
    <p:sldId xmlns:r="http://schemas.openxmlformats.org/officeDocument/2006/relationships" id="268" r:id="Rc226cf739346473c"/>
    <p:sldId xmlns:r="http://schemas.openxmlformats.org/officeDocument/2006/relationships" id="269" r:id="R99eb907893f241b5"/>
    <p:sldId xmlns:r="http://schemas.openxmlformats.org/officeDocument/2006/relationships" id="270" r:id="R8ddad2a0aac142be"/>
    <p:sldId xmlns:r="http://schemas.openxmlformats.org/officeDocument/2006/relationships" id="271" r:id="R50c50973bf764ead"/>
    <p:sldId xmlns:r="http://schemas.openxmlformats.org/officeDocument/2006/relationships" id="272" r:id="R08e511a221d44383"/>
    <p:sldId xmlns:r="http://schemas.openxmlformats.org/officeDocument/2006/relationships" id="273" r:id="R5804ff42119f4fa8"/>
    <p:sldId xmlns:r="http://schemas.openxmlformats.org/officeDocument/2006/relationships" id="274" r:id="R1b4a192bf3db48f4"/>
    <p:sldId xmlns:r="http://schemas.openxmlformats.org/officeDocument/2006/relationships" id="275" r:id="R6fad67cc3c1543cd"/>
    <p:sldId xmlns:r="http://schemas.openxmlformats.org/officeDocument/2006/relationships" id="276" r:id="Rfd99355ef08f4d0e"/>
    <p:sldId xmlns:r="http://schemas.openxmlformats.org/officeDocument/2006/relationships" id="277" r:id="R01f9e56aa85142be"/>
    <p:sldId xmlns:r="http://schemas.openxmlformats.org/officeDocument/2006/relationships" id="278" r:id="R1cc3a8c0d4434ad3"/>
    <p:sldId xmlns:r="http://schemas.openxmlformats.org/officeDocument/2006/relationships" id="279" r:id="Re635c0f5f7e847d7"/>
    <p:sldId xmlns:r="http://schemas.openxmlformats.org/officeDocument/2006/relationships" id="280" r:id="R709c58d3ab7946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f35c772ac3418c" /><Relationship Type="http://schemas.openxmlformats.org/officeDocument/2006/relationships/slideMaster" Target="/ppt/slideMasters/slideMaster1.xml" Id="R2b863735b283454c" /><Relationship Type="http://schemas.openxmlformats.org/officeDocument/2006/relationships/notesMaster" Target="/ppt/notesMasters/notesMaster1.xml" Id="R0832458027f24cec" /><Relationship Type="http://schemas.openxmlformats.org/officeDocument/2006/relationships/presProps" Target="/ppt/presProps.xml" Id="R250e698e214f4ebe" /><Relationship Type="http://schemas.openxmlformats.org/officeDocument/2006/relationships/tableStyles" Target="/ppt/tableStyles.xml" Id="R4fde5193e6114c12" /><Relationship Type="http://schemas.openxmlformats.org/officeDocument/2006/relationships/slide" Target="/ppt/slides/slide1.xml" Id="Ra0720f5f4e5e4412" /><Relationship Type="http://schemas.openxmlformats.org/officeDocument/2006/relationships/slide" Target="/ppt/slides/slide2.xml" Id="R05004db3236c46f8" /><Relationship Type="http://schemas.openxmlformats.org/officeDocument/2006/relationships/slide" Target="/ppt/slides/slide3.xml" Id="Rdeec609abfdd4862" /><Relationship Type="http://schemas.openxmlformats.org/officeDocument/2006/relationships/slide" Target="/ppt/slides/slide4.xml" Id="R299935ee727c4bb1" /><Relationship Type="http://schemas.openxmlformats.org/officeDocument/2006/relationships/slide" Target="/ppt/slides/slide5.xml" Id="Rfc2dfeae29864f5e" /><Relationship Type="http://schemas.openxmlformats.org/officeDocument/2006/relationships/slide" Target="/ppt/slides/slide6.xml" Id="Ra690b67d5d52495d" /><Relationship Type="http://schemas.openxmlformats.org/officeDocument/2006/relationships/slide" Target="/ppt/slides/slide7.xml" Id="Re884d4c524084503" /><Relationship Type="http://schemas.openxmlformats.org/officeDocument/2006/relationships/slide" Target="/ppt/slides/slide8.xml" Id="R1fadc62d59e24d43" /><Relationship Type="http://schemas.openxmlformats.org/officeDocument/2006/relationships/slide" Target="/ppt/slides/slide9.xml" Id="Rca02e036d0f84ecb" /><Relationship Type="http://schemas.openxmlformats.org/officeDocument/2006/relationships/slide" Target="/ppt/slides/slide10.xml" Id="R257996498b61490f" /><Relationship Type="http://schemas.openxmlformats.org/officeDocument/2006/relationships/slide" Target="/ppt/slides/slide11.xml" Id="R551a0739cb0748fd" /><Relationship Type="http://schemas.openxmlformats.org/officeDocument/2006/relationships/slide" Target="/ppt/slides/slide12.xml" Id="R57dad33026004f9e" /><Relationship Type="http://schemas.openxmlformats.org/officeDocument/2006/relationships/slide" Target="/ppt/slides/slide13.xml" Id="Rc226cf739346473c" /><Relationship Type="http://schemas.openxmlformats.org/officeDocument/2006/relationships/slide" Target="/ppt/slides/slide14.xml" Id="R99eb907893f241b5" /><Relationship Type="http://schemas.openxmlformats.org/officeDocument/2006/relationships/slide" Target="/ppt/slides/slide15.xml" Id="R8ddad2a0aac142be" /><Relationship Type="http://schemas.openxmlformats.org/officeDocument/2006/relationships/slide" Target="/ppt/slides/slide16.xml" Id="R50c50973bf764ead" /><Relationship Type="http://schemas.openxmlformats.org/officeDocument/2006/relationships/slide" Target="/ppt/slides/slide17.xml" Id="R08e511a221d44383" /><Relationship Type="http://schemas.openxmlformats.org/officeDocument/2006/relationships/slide" Target="/ppt/slides/slide18.xml" Id="R5804ff42119f4fa8" /><Relationship Type="http://schemas.openxmlformats.org/officeDocument/2006/relationships/slide" Target="/ppt/slides/slide19.xml" Id="R1b4a192bf3db48f4" /><Relationship Type="http://schemas.openxmlformats.org/officeDocument/2006/relationships/slide" Target="/ppt/slides/slide20.xml" Id="R6fad67cc3c1543cd" /><Relationship Type="http://schemas.openxmlformats.org/officeDocument/2006/relationships/slide" Target="/ppt/slides/slide21.xml" Id="Rfd99355ef08f4d0e" /><Relationship Type="http://schemas.openxmlformats.org/officeDocument/2006/relationships/slide" Target="/ppt/slides/slide22.xml" Id="R01f9e56aa85142be" /><Relationship Type="http://schemas.openxmlformats.org/officeDocument/2006/relationships/slide" Target="/ppt/slides/slide23.xml" Id="R1cc3a8c0d4434ad3" /><Relationship Type="http://schemas.openxmlformats.org/officeDocument/2006/relationships/slide" Target="/ppt/slides/slide24.xml" Id="Re635c0f5f7e847d7" /><Relationship Type="http://schemas.openxmlformats.org/officeDocument/2006/relationships/slide" Target="/ppt/slides/slide25.xml" Id="R709c58d3ab7946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943560b54a49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f23d8ac1b34914" /><Relationship Type="http://schemas.openxmlformats.org/officeDocument/2006/relationships/notesMaster" Target="/ppt/notesMasters/notesMaster1.xml" Id="R2b1f345e73964f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21d902a84940e4" /><Relationship Type="http://schemas.openxmlformats.org/officeDocument/2006/relationships/notesMaster" Target="/ppt/notesMasters/notesMaster1.xml" Id="R536e734905f744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c69867af3f480b" /><Relationship Type="http://schemas.openxmlformats.org/officeDocument/2006/relationships/notesMaster" Target="/ppt/notesMasters/notesMaster1.xml" Id="R752c8618e0944c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0c9dcc3c3f47b4" /><Relationship Type="http://schemas.openxmlformats.org/officeDocument/2006/relationships/notesMaster" Target="/ppt/notesMasters/notesMaster1.xml" Id="Re9e161fb5e514e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1b17e654444234" /><Relationship Type="http://schemas.openxmlformats.org/officeDocument/2006/relationships/notesMaster" Target="/ppt/notesMasters/notesMaster1.xml" Id="R4172cc97e52f4b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493dd42ee642b9" /><Relationship Type="http://schemas.openxmlformats.org/officeDocument/2006/relationships/notesMaster" Target="/ppt/notesMasters/notesMaster1.xml" Id="R525f4066e1b54e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2ee18c728d40f6" /><Relationship Type="http://schemas.openxmlformats.org/officeDocument/2006/relationships/notesMaster" Target="/ppt/notesMasters/notesMaster1.xml" Id="Rf82e2ecc5f624a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4a4ced09a54ec0" /><Relationship Type="http://schemas.openxmlformats.org/officeDocument/2006/relationships/notesMaster" Target="/ppt/notesMasters/notesMaster1.xml" Id="Rc8464ca04b2845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e5869cbac1465c" /><Relationship Type="http://schemas.openxmlformats.org/officeDocument/2006/relationships/notesMaster" Target="/ppt/notesMasters/notesMaster1.xml" Id="Rab6999f6fa6d4b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529a6e2d66461f" /><Relationship Type="http://schemas.openxmlformats.org/officeDocument/2006/relationships/notesMaster" Target="/ppt/notesMasters/notesMaster1.xml" Id="R377727e048644c3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c8f18a645564f99" /><Relationship Type="http://schemas.openxmlformats.org/officeDocument/2006/relationships/notesMaster" Target="/ppt/notesMasters/notesMaster1.xml" Id="R57b4d4c1346d4bc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0c4e9fec4f44f7" /><Relationship Type="http://schemas.openxmlformats.org/officeDocument/2006/relationships/notesMaster" Target="/ppt/notesMasters/notesMaster1.xml" Id="Rbcaa4d563f6e4e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c11ed277eae4251" /><Relationship Type="http://schemas.openxmlformats.org/officeDocument/2006/relationships/notesMaster" Target="/ppt/notesMasters/notesMaster1.xml" Id="R5cb31c5e696643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407dfb857b04ef9" /><Relationship Type="http://schemas.openxmlformats.org/officeDocument/2006/relationships/notesMaster" Target="/ppt/notesMasters/notesMaster1.xml" Id="R46277546274d4b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cc718635fb4b6f" /><Relationship Type="http://schemas.openxmlformats.org/officeDocument/2006/relationships/notesMaster" Target="/ppt/notesMasters/notesMaster1.xml" Id="Rbf19705a7bc2403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c3ed4ce9d94347" /><Relationship Type="http://schemas.openxmlformats.org/officeDocument/2006/relationships/notesMaster" Target="/ppt/notesMasters/notesMaster1.xml" Id="R46be5a34cfc941a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aba15cf68a94834" /><Relationship Type="http://schemas.openxmlformats.org/officeDocument/2006/relationships/notesMaster" Target="/ppt/notesMasters/notesMaster1.xml" Id="R92fb40067e8f4d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2a4e71c1ff4a18" /><Relationship Type="http://schemas.openxmlformats.org/officeDocument/2006/relationships/notesMaster" Target="/ppt/notesMasters/notesMaster1.xml" Id="Rcdac61993a5f48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cf3c68e746a4aa7" /><Relationship Type="http://schemas.openxmlformats.org/officeDocument/2006/relationships/notesMaster" Target="/ppt/notesMasters/notesMaster1.xml" Id="R2a05f31554d741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7017a1513fe495f" /><Relationship Type="http://schemas.openxmlformats.org/officeDocument/2006/relationships/notesMaster" Target="/ppt/notesMasters/notesMaster1.xml" Id="Rf49a11b3c9b24de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d40c67f39b493d" /><Relationship Type="http://schemas.openxmlformats.org/officeDocument/2006/relationships/notesMaster" Target="/ppt/notesMasters/notesMaster1.xml" Id="R8bb33386bc7d4f6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01ee768eedd4418" /><Relationship Type="http://schemas.openxmlformats.org/officeDocument/2006/relationships/notesMaster" Target="/ppt/notesMasters/notesMaster1.xml" Id="Rf1c03e68d0c9406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b8e9af3af544187" /><Relationship Type="http://schemas.openxmlformats.org/officeDocument/2006/relationships/notesMaster" Target="/ppt/notesMasters/notesMaster1.xml" Id="R15c2b991004f49a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c696b8b1bf4e2c" /><Relationship Type="http://schemas.openxmlformats.org/officeDocument/2006/relationships/notesMaster" Target="/ppt/notesMasters/notesMaster1.xml" Id="R8ee28e543bb3473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c70fce980784007" /><Relationship Type="http://schemas.openxmlformats.org/officeDocument/2006/relationships/notesMaster" Target="/ppt/notesMasters/notesMaster1.xml" Id="R8582d6a7f26a45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Em xin chào thầy cô và các bạn. Nhóm 5 trình bày đề tài dự báo giá nhà trên dữ liệu House Prices – Ames Housing. Nhóm xây dựng quy trình từ khám phá dữ liệu, tiền xử lý và so sánh mô hình đến ứng dụng dự báo. Bài trình bày sẽ giải thích mỗi quyết định xử lý dựa trên dữ liệu nào, cách chọn mô hình và kết quả đạt được trong phạm vi thực nghiệm.</a:t>
            </a:r>
          </a:p>
          <a:p xmlns:a="http://schemas.openxmlformats.org/drawingml/2006/main">
            <a:r>
              <a:t/>
            </a:r>
          </a:p>
          <a:p xmlns:a="http://schemas.openxmlformats.org/drawingml/2006/main">
            <a:r>
              <a:t>Cách đọc: Giới thiệu tên đề tài trước. Dòng 80/10/10 là tỷ lệ train, validation và test, không phải ba mức độ chính xác.</a:t>
            </a:r>
          </a:p>
          <a:p xmlns:a="http://schemas.openxmlformats.org/drawingml/2006/main">
            <a:r>
              <a:t>Cần hiểu: Đây là hồi quy có giám sát trên dữ liệu bảng. Mỗi hàng là một căn nhà có các thuộc tính và giá bán thật; ứng dụng nhận thuộc tính để dự báo giá USD.</a:t>
            </a:r>
          </a:p>
          <a:p xmlns:a="http://schemas.openxmlformats.org/drawingml/2006/main">
            <a:r>
              <a:t>Hỏi đáp: Vì sao chọn đề tài này? Dữ liệu có biến số, biến phân loại, giá trị thiếu và giá lệch phải, phù hợp để thực hành đầy đủ quy trình học máy.</a:t>
            </a:r>
          </a:p>
          <a:p xmlns:a="http://schemas.openxmlformats.org/drawingml/2006/main">
            <a:r>
              <a:t>Chuyển ý: Trước hết, em xin giới thiệu nhóm và phần phụ trách của từng thành viên.</a:t>
            </a:r>
          </a:p>
          <a:p xmlns:a="http://schemas.openxmlformats.org/drawingml/2006/main">
            <a:r>
              <a:t>Nguồn: Báo cáo Học máy; bảng phân công nhiệm vụ nhóm 5; outputs/summary.json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Nhóm 5 gồm Nguyễn Tùng Dương, Nguyễn Anh Tuấn, Nguyễn Hưng Vũ và Đào Trọng Đức. Em phụ trách dữ liệu và phân tích khám phá; Tuấn phụ trách tiền xử lý và đặc trưng; Vũ phụ trách mô hình và đánh giá; Đức phụ trách ứng dụng và kiểm thử. Giảng viên hướng dẫn là TS. Nguyễn Ngọc Giang.</a:t>
            </a:r>
          </a:p>
          <a:p xmlns:a="http://schemas.openxmlformats.org/drawingml/2006/main">
            <a:r>
              <a:t/>
            </a:r>
          </a:p>
          <a:p xmlns:a="http://schemas.openxmlformats.org/drawingml/2006/main">
            <a:r>
              <a:t>Cách đọc: Tên và MSSV theo bảng trên slide. Giới thiệu vai trò bằng công việc thực tế; không suy ra tỷ lệ đóng góp từ số trang trình bày.</a:t>
            </a:r>
          </a:p>
          <a:p xmlns:a="http://schemas.openxmlformats.org/drawingml/2006/main">
            <a:r>
              <a:t>Cần hiểu: Bốn phần liên kết với nhau: dữ liệu đưa ra vấn đề, tiền xử lý tạo đầu vào, thực nghiệm chọn mô hình, ứng dụng sử dụng đúng mô hình đã lưu.</a:t>
            </a:r>
          </a:p>
          <a:p xmlns:a="http://schemas.openxmlformats.org/drawingml/2006/main">
            <a:r>
              <a:t>Hỏi đáp: Mỗi người trình bày phần nào? Dương trang 1–7; Tuấn 8–11; Vũ 12–20; Đức 21–25. Câu hỏi chuyên môn chuyển cho người phụ trách tương ứng.</a:t>
            </a:r>
          </a:p>
          <a:p xmlns:a="http://schemas.openxmlformats.org/drawingml/2006/main">
            <a:r>
              <a:t>Chuyển ý: Các phần được sắp xếp theo luồng từ dữ liệu đến dự báo như sau.</a:t>
            </a:r>
          </a:p>
          <a:p xmlns:a="http://schemas.openxmlformats.org/drawingml/2006/main">
            <a:r>
              <a:t>Nguồn: Báo cáo Học máy; bảng phân công nhiệm vụ nhóm 5; outputs/summary.json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Bài bắt đầu từ mục tiêu và đặc điểm dữ liệu. Những quan sát từ EDA dẫn đến cách xử lý thiếu, biến đổi giá và xây dựng đặc trưng. Tiếp theo, nhóm giải thích mô hình, thước đo và giao thức thực nghiệm trước khi xem kết quả. Cuối cùng là ứng dụng, kiểm thử và kết luận có giới hạn.</a:t>
            </a:r>
          </a:p>
          <a:p xmlns:a="http://schemas.openxmlformats.org/drawingml/2006/main">
            <a:r>
              <a:t/>
            </a:r>
          </a:p>
          <a:p xmlns:a="http://schemas.openxmlformats.org/drawingml/2006/main">
            <a:r>
              <a:t>Cách đọc: Đọc theo bốn phần công việc thay vì đọc nguyên danh sách trang. Mỗi phần phải trả lời được câu hỏi còn lại từ phần trước.</a:t>
            </a:r>
          </a:p>
          <a:p xmlns:a="http://schemas.openxmlformats.org/drawingml/2006/main">
            <a:r>
              <a:t>Cần hiểu: Mạch trình bày là bài toán → quan sát dữ liệu → quyết định xử lý → so sánh có kiểm soát → kết quả → sử dụng. Đây là mạch của slide, không thay thế mục lục tám chương trong báo cáo Word.</a:t>
            </a:r>
          </a:p>
          <a:p xmlns:a="http://schemas.openxmlformats.org/drawingml/2006/main">
            <a:r>
              <a:t>Hỏi đáp: Vì sao đưa thuật toán sau dữ liệu? Người nghe cần biết loại dữ liệu và cách biểu diễn trước khi hiểu lý do so sánh các họ mô hình.</a:t>
            </a:r>
          </a:p>
          <a:p xmlns:a="http://schemas.openxmlformats.org/drawingml/2006/main">
            <a:r>
              <a:t>Chuyển ý: Đầu tiên, nhóm xác định đầu vào, đầu ra và phạm vi của bài toán.</a:t>
            </a:r>
          </a:p>
          <a:p xmlns:a="http://schemas.openxmlformats.org/drawingml/2006/main">
            <a:r>
              <a:t>Nguồn: Báo cáo Học máy; bảng phân công nhiệm vụ nhóm 5; outputs/summary.json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Một căn nhà được mô tả bằng 79 thuộc tính về vị trí, diện tích, chất lượng và tiện ích. Nhóm dự báo SalePrice, tức giá bán bằng USD. Mục tiêu là xây dựng mô hình dự báo tốt hơn baseline trung vị và đưa cùng pipeline vào ứng dụng. Id chỉ là mã nhận diện; SalePrice là đáp án nên cả hai không được đưa vào tập đặc trưng.</a:t>
            </a:r>
          </a:p>
          <a:p xmlns:a="http://schemas.openxmlformats.org/drawingml/2006/main">
            <a:r>
              <a:t/>
            </a:r>
          </a:p>
          <a:p xmlns:a="http://schemas.openxmlformats.org/drawingml/2006/main">
            <a:r>
              <a:t>Cách đọc: X là dữ liệu thuộc tính, y là giá thật. Khi chạy ứng dụng, người dùng cung cấp X; mô hình trả giá dự báo, không cần nhập y.</a:t>
            </a:r>
          </a:p>
          <a:p xmlns:a="http://schemas.openxmlformats.org/drawingml/2006/main">
            <a:r>
              <a:t>Cần hiểu: Đánh giá trên dữ liệu chưa dùng để fit giúp ước lượng khả năng khái quát. Accuracy là thước đo phân loại, không dùng làm chỉ số chính cho bài dự báo giá liên tục.</a:t>
            </a:r>
          </a:p>
          <a:p xmlns:a="http://schemas.openxmlformats.org/drawingml/2006/main">
            <a:r>
              <a:t>Hỏi đáp: Có dùng cho thị trường Việt Nam được không? Chưa có bằng chứng; dữ liệu hiện tại là lịch sử tại Ames và chưa được kiểm chứng trên thị trường khác.</a:t>
            </a:r>
          </a:p>
          <a:p xmlns:a="http://schemas.openxmlformats.org/drawingml/2006/main">
            <a:r>
              <a:t>Chuyển ý: Để đánh giá đúng mục tiêu đó, trước hết cần hiểu dữ liệu và cách chia tập.</a:t>
            </a:r>
          </a:p>
          <a:p xmlns:a="http://schemas.openxmlformats.org/drawingml/2006/main">
            <a:r>
              <a:t>Nguồn: Báo cáo Học máy; bảng phân công nhiệm vụ nhóm 5; outputs/summary.json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Nhóm dùng 1.460 quan sát có nhãn: 1.168 mẫu train, 146 mẫu validation và 146 mẫu test. Mỗi tập có 81 cột, gồm Id, 79 biến đầu vào và SalePrice. Train dùng để học và kiểm định chéo; validation hỗ trợ lựa chọn; test dành cho đánh giá cuối sau khi chốt. Nhóm giữ nguyên ba tệp được cung cấp.</a:t>
            </a:r>
          </a:p>
          <a:p xmlns:a="http://schemas.openxmlformats.org/drawingml/2006/main">
            <a:r>
              <a:t/>
            </a:r>
          </a:p>
          <a:p xmlns:a="http://schemas.openxmlformats.org/drawingml/2006/main">
            <a:r>
              <a:t>Cách đọc: Đọc số mẫu cùng vai trò. 1.460 là phần dữ liệu có nhãn đang sử dụng, không phải kích thước toàn bộ Ames Housing gốc. Không nói nhóm đã tự tái tạo bước chia ban đầu.</a:t>
            </a:r>
          </a:p>
          <a:p xmlns:a="http://schemas.openxmlformats.org/drawingml/2006/main">
            <a:r>
              <a:t>Cần hiểu: CV chỉ chia bên trong train. Sau khi tên và tham số đã chốt, mô hình cuối được fit trên train + validation, tổng cộng 1.314 mẫu. Hash xác nhận phiên bản tệp, không thay thế script tạo split.</a:t>
            </a:r>
          </a:p>
          <a:p xmlns:a="http://schemas.openxmlformats.org/drawingml/2006/main">
            <a:r>
              <a:t>Hỏi đáp: Vì sao không học trên tất cả 1.460 mẫu? Khi đó không còn tập độc lập cho đánh giá cuối. Hiện chưa có script nguồn để tái tạo bước chia ban đầu.</a:t>
            </a:r>
          </a:p>
          <a:p xmlns:a="http://schemas.openxmlformats.org/drawingml/2006/main">
            <a:r>
              <a:t>Chuyển ý: Khảo sát train cho thấy giá bán lệch phải, dẫn đến quyết định biến đổi mục tiêu.</a:t>
            </a:r>
          </a:p>
          <a:p xmlns:a="http://schemas.openxmlformats.org/drawingml/2006/main">
            <a:r>
              <a:t>Nguồn: data/house_train_80.csv, house_validation_10.csv, house_test_10.csv; DATA_CARD.md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Biểu đồ trái cho thấy nhiều căn nhà ở vùng giá thấp và trung bình, trong khi một số nhà rất đắt tạo đuôi phải dài. Sau log1p, độ lệch giảm từ khoảng 1,888 xuống 0,168. Nhóm cho mô hình học trên log một cộng giá, rồi dùng expm1 để đưa dự báo về USD. Vì vậy RMSE và MAE báo cáo cuối vẫn theo đơn vị giá ban đầu.</a:t>
            </a:r>
          </a:p>
          <a:p xmlns:a="http://schemas.openxmlformats.org/drawingml/2006/main">
            <a:r>
              <a:t/>
            </a:r>
          </a:p>
          <a:p xmlns:a="http://schemas.openxmlformats.org/drawingml/2006/main">
            <a:r>
              <a:t>Cách đọc: Trục giá ở biểu đồ trái dùng nghìn USD; các mốc thể hiện tâm khoảng giá. Biểu đồ phải là log1p nên không còn đơn vị USD trực tiếp. Đọc hai histogram từ trái sang phải.</a:t>
            </a:r>
          </a:p>
          <a:p xmlns:a="http://schemas.openxmlformats.org/drawingml/2006/main">
            <a:r>
              <a:t>Cần hiểu: log1p(y)=ln(1+y); expm1(z)=exp(z)−1. Giá bớt lệch không chứng minh chất lượng dự báo tự động tăng; bài chưa có đối chứng riêng có/không log-target.</a:t>
            </a:r>
          </a:p>
          <a:p xmlns:a="http://schemas.openxmlformats.org/drawingml/2006/main">
            <a:r>
              <a:t>Hỏi đáp: Tại sao dùng log1p? Để nén thang giá và giảm độ lệch của mục tiêu trong cấu hình đã chọn. Không đồng nhất histogram gần đối xứng với giả định mọi sai số đã chuẩn.</a:t>
            </a:r>
          </a:p>
          <a:p xmlns:a="http://schemas.openxmlformats.org/drawingml/2006/main">
            <a:r>
              <a:t>Chuyển ý: Ngoài giá bán, nhóm xem những thuộc tính nào có liên hệ rõ với giá.</a:t>
            </a:r>
          </a:p>
          <a:p xmlns:a="http://schemas.openxmlformats.org/drawingml/2006/main">
            <a:r>
              <a:t>Nguồn: data/house_train_80.csv; outputs/summary.json (target_stats)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Dương.</a:t>
            </a:r>
          </a:p>
          <a:p xmlns:a="http://schemas.openxmlformats.org/drawingml/2006/main">
            <a:r>
              <a:t>Trên train, OverallQual có tương quan Pearson với SalePrice khoảng 0,790; GrLivArea khoảng 0,705; GarageCars khoảng 0,638. Những liên hệ này cho thấy chất lượng và quy mô công trình chứa tín hiệu dự báo. Chúng gợi ý xem xét các biểu diễn về diện tích, tiện ích và tuổi nhà, nhưng chưa chứng minh nguyên nhân hay hiệu quả của từng đặc trưng mới.</a:t>
            </a:r>
          </a:p>
          <a:p xmlns:a="http://schemas.openxmlformats.org/drawingml/2006/main">
            <a:r>
              <a:t/>
            </a:r>
          </a:p>
          <a:p xmlns:a="http://schemas.openxmlformats.org/drawingml/2006/main">
            <a:r>
              <a:t>Cách đọc: OverallQual là điểm chất lượng tổng thể; GrLivArea là diện tích sinh hoạt trên mặt đất; GarageCars là sức chứa gara. Hệ số tương quan không có đơn vị; lớn hơn không đồng nghĩa quan hệ nhân quả.</a:t>
            </a:r>
          </a:p>
          <a:p xmlns:a="http://schemas.openxmlformats.org/drawingml/2006/main">
            <a:r>
              <a:t>Cần hiểu: Đây là liên hệ với target trên train, khác permutation importance ở trang 20 là mức độ phụ thuộc của mô hình đã fit. Tương quan Pearson chỉ phản ánh liên hệ tuyến tính và có thể bị ảnh hưởng bởi ngoại lệ.</a:t>
            </a:r>
          </a:p>
          <a:p xmlns:a="http://schemas.openxmlformats.org/drawingml/2006/main">
            <a:r>
              <a:t>Hỏi đáp: Có thể bỏ hết biến tương quan thấp không? Không nên kết luận như vậy: biến phân loại, quan hệ phi tuyến và tương tác có thể vẫn chứa tín hiệu. Muốn chọn đặc trưng cần thực nghiệm trên train/validation.</a:t>
            </a:r>
          </a:p>
          <a:p xmlns:a="http://schemas.openxmlformats.org/drawingml/2006/main">
            <a:r>
              <a:t>Chuyển ý: Từ dữ liệu lệch, thiếu và có nhiều loại thuộc tính, em xin chuyển Tuấn trình bày cách xử lý.</a:t>
            </a:r>
          </a:p>
          <a:p xmlns:a="http://schemas.openxmlformats.org/drawingml/2006/main">
            <a:r>
              <a:t>Nguồn: outputs/summary.json (top_correlations); outputs/tables/numeric_correlations.csv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Tuấn.</a:t>
            </a:r>
          </a:p>
          <a:p xmlns:a="http://schemas.openxmlformats.org/drawingml/2006/main">
            <a:r>
              <a:t>Một ô NA trong dữ liệu nhà có thể mang nghĩa không có gara hoặc hồ bơi, thay vì không biết thông tin. Nhóm giữ các token có ý nghĩa nghiệp vụ khi đọc CSV. Với thiếu thật, biến số được điền median học từ tập fit; biến phân loại được điền nhãn Missing. Vì vậy không xóa cột chỉ vì tỷ lệ NA cao.</a:t>
            </a:r>
          </a:p>
          <a:p xmlns:a="http://schemas.openxmlformats.org/drawingml/2006/main">
            <a:r>
              <a:t/>
            </a:r>
          </a:p>
          <a:p xmlns:a="http://schemas.openxmlformats.org/drawingml/2006/main">
            <a:r>
              <a:t>Cách đọc: Nêu một ví dụ: GarageType=NA có thể nghĩa là không có gara. Phân biệt nhãn này với NaN của thư viện và với token số trống trong hợp đồng đầu vào.</a:t>
            </a:r>
          </a:p>
          <a:p xmlns:a="http://schemas.openxmlformats.org/drawingml/2006/main">
            <a:r>
              <a:t>Cần hiểu: Imputer phải fit trong train hoặc train-fold, không tính median từ toàn bộ dữ liệu. Mô hình hiện có giới hạn: cờ Has* coi số thiếu là 0, nên chưa tách hết thiếu thông tin và không có tiện ích.</a:t>
            </a:r>
          </a:p>
          <a:p xmlns:a="http://schemas.openxmlformats.org/drawingml/2006/main">
            <a:r>
              <a:t>Hỏi đáp: Vì sao không điền 0 cho mọi ô? Số 0 có ý nghĩa cụ thể; điền bừa có thể tạo căn nhà có diện tích hoặc tuổi không hợp lý. Cách xử lý phụ thuộc kiểu và ý nghĩa cột.</a:t>
            </a:r>
          </a:p>
          <a:p xmlns:a="http://schemas.openxmlformats.org/drawingml/2006/main">
            <a:r>
              <a:t>Chuyển ý: Sau khi bảo toàn ý nghĩa dữ liệu, nhóm xây dựng thêm các đặc trưng mô tả căn nhà.</a:t>
            </a:r>
          </a:p>
          <a:p xmlns:a="http://schemas.openxmlformats.org/drawingml/2006/main">
            <a:r>
              <a:t>Nguồn: src/house_price/data.py, preprocessing.py, features.py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Tuấn.</a:t>
            </a:r>
          </a:p>
          <a:p xmlns:a="http://schemas.openxmlformats.org/drawingml/2006/main">
            <a:r>
              <a:t>Nhóm giữ 79 biến raw và tạo thêm 15 đặc trưng. Ví dụ, HouseAge bằng năm bán trừ năm xây, chặn dưới tại 0. TotalSF cộng diện tích tầng hầm, tầng một và tầng hai. TotalBathrooms cộng phòng tắm đầy đủ, một nửa phòng tắm và phần tầng hầm theo trọng số. Các nhóm còn lại mô tả tuổi cải tạo/gara, hiên sân, cờ tiện ích và chu kỳ tháng.</a:t>
            </a:r>
          </a:p>
          <a:p xmlns:a="http://schemas.openxmlformats.org/drawingml/2006/main">
            <a:r>
              <a:t/>
            </a:r>
          </a:p>
          <a:p xmlns:a="http://schemas.openxmlformats.org/drawingml/2006/main">
            <a:r>
              <a:t>Cách đọc: Chọn hai công thức để giải thích ý nghĩa, không đọc mọi tên biến. Ví dụ minh họa HouseAge: bán năm 2010, xây năm 2000 thì tuổi nhà bằng 10; đây là ví dụ học cơ chế, không phải một kết quả test.</a:t>
            </a:r>
          </a:p>
          <a:p xmlns:a="http://schemas.openxmlformats.org/drawingml/2006/main">
            <a:r>
              <a:t>Cần hiểu: 79+15=94 cột trước mã hóa, không phải 94 cột cuối cùng sau OHE. Các phép tạo đặc trưng theo từng hàng không học thống kê từ target. Chưa có ablation để chứng minh riêng từng đặc trưng cải thiện kết quả.</a:t>
            </a:r>
          </a:p>
          <a:p xmlns:a="http://schemas.openxmlformats.org/drawingml/2006/main">
            <a:r>
              <a:t>Hỏi đáp: Có thể nói thêm 15 đặc trưng làm RMSE giảm bao nhiêu không? Chưa thể; cần so sánh đối chứng giữ cùng split, mô hình và giao thức có/không từng nhóm đặc trưng.</a:t>
            </a:r>
          </a:p>
          <a:p xmlns:a="http://schemas.openxmlformats.org/drawingml/2006/main">
            <a:r>
              <a:t>Chuyển ý: Bảng sau cho thấy từng loại cột được đưa về đầu vào số như thế nào.</a:t>
            </a:r>
          </a:p>
          <a:p xmlns:a="http://schemas.openxmlformats.org/drawingml/2006/main">
            <a:r>
              <a:t>Nguồn: src/house_price/features.py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Tuấn.</a:t>
            </a:r>
          </a:p>
          <a:p xmlns:a="http://schemas.openxmlformats.org/drawingml/2006/main">
            <a:r>
              <a:t>Nhánh số điền median rồi StandardScaler để đưa các biến về thang đo phù hợp. Nhánh phân loại điền Missing cho thiếu thật rồi One-Hot Encoding, biến mỗi nhóm thành các cột số. Các nhãn NA có ý nghĩa được bảo toàn. Với target, mô hình học log1p và đổi ngược bằng expm1. ColumnTransformer ghép các nhánh vào cùng một đầu vào cho estimator.</a:t>
            </a:r>
          </a:p>
          <a:p xmlns:a="http://schemas.openxmlformats.org/drawingml/2006/main">
            <a:r>
              <a:t/>
            </a:r>
          </a:p>
          <a:p xmlns:a="http://schemas.openxmlformats.org/drawingml/2006/main">
            <a:r>
              <a:t>Cách đọc: Đọc theo hàng: loại dữ liệu → phép xử lý → mục đích. Ví dụ Neighborhood=NAmes được biểu diễn bằng cột chỉ báo; không coi NAmes là nhãn thiếu vì bắt đầu bằng chữ NA.</a:t>
            </a:r>
          </a:p>
          <a:p xmlns:a="http://schemas.openxmlformats.org/drawingml/2006/main">
            <a:r>
              <a:t>Cần hiểu: StandardScaler dùng trung bình và độ lệch chuẩn của dữ liệu fit. Trong mã hiện hành, OneHotEncoder có handle_unknown='ignore', min_frequency=2 và đầu ra dense. Ngưỡng và danh mục đều học trong tập fit, không học từ test.</a:t>
            </a:r>
          </a:p>
          <a:p xmlns:a="http://schemas.openxmlformats.org/drawingml/2006/main">
            <a:r>
              <a:t>Hỏi đáp: Khu dân cư mới chưa thấy khi fit có làm ứng dụng lỗi không? Encoder được cấu hình bỏ qua category lạ; điều đó tránh lỗi kỹ thuật nhưng không bảo đảm dự báo đáng tin ở dữ liệu ngoài phân phối.</a:t>
            </a:r>
          </a:p>
          <a:p xmlns:a="http://schemas.openxmlformats.org/drawingml/2006/main">
            <a:r>
              <a:t>Chuyển ý: Các phép xử lý này được đóng gói để lúc huấn luyện và lúc dự báo luôn dùng cùng quy tắc.</a:t>
            </a:r>
          </a:p>
          <a:p xmlns:a="http://schemas.openxmlformats.org/drawingml/2006/main">
            <a:r>
              <a:t>Nguồn: src/house_price/preprocessing.py, modeling.py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Tuấn.</a:t>
            </a:r>
          </a:p>
          <a:p xmlns:a="http://schemas.openxmlformats.org/drawingml/2006/main">
            <a:r>
              <a:t>Pipeline nhận 79 biến raw, tạo đặc trưng, tiền xử lý rồi đưa vào mô hình học trên log-target. Khi fit, imputer, scaler, encoder và mô hình học từ dữ liệu được phép. Khi dự báo, hệ thống chỉ dùng các thành phần đã học và đổi kết quả về USD. Ứng dụng nạp cùng artifact này, nên không tự viết lại tiền xử lý hoặc huấn luyện lại khi người dùng nhập dữ liệu.</a:t>
            </a:r>
          </a:p>
          <a:p xmlns:a="http://schemas.openxmlformats.org/drawingml/2006/main">
            <a:r>
              <a:t/>
            </a:r>
          </a:p>
          <a:p xmlns:a="http://schemas.openxmlformats.org/drawingml/2006/main">
            <a:r>
              <a:t>Cách đọc: Đi theo luồng từ trái sang phải. AmesFeatureEngineer làm phần tạo đặc trưng; ColumnTransformer xử lý hai loại cột. Id và SalePrice không được đi vào X.</a:t>
            </a:r>
          </a:p>
          <a:p xmlns:a="http://schemas.openxmlformats.org/drawingml/2006/main">
            <a:r>
              <a:t>Cần hiểu: Chống leakage cần cả đóng gói Pipeline và chia tập đúng. Nếu fit scaler trước CV trên toàn bộ dữ liệu thì chỉ có tên Pipeline cũng chưa đủ. Trong dự án, estimator end-to-end được đưa vào CV.</a:t>
            </a:r>
          </a:p>
          <a:p xmlns:a="http://schemas.openxmlformats.org/drawingml/2006/main">
            <a:r>
              <a:t>Hỏi đáp: Lưu riêng model mà quên scaler có sao không? Có thể làm đầu vào khác thang đo lúc học; vì vậy artifact lưu cả chuỗi xử lý. Joblib chỉ được nạp từ nguồn tin cậy.</a:t>
            </a:r>
          </a:p>
          <a:p xmlns:a="http://schemas.openxmlformats.org/drawingml/2006/main">
            <a:r>
              <a:t>Chuyển ý: Đầu vào đã thống nhất. Em xin chuyển Vũ trình bày các mô hình và cách so sánh chúng.</a:t>
            </a:r>
          </a:p>
          <a:p xmlns:a="http://schemas.openxmlformats.org/drawingml/2006/main">
            <a:r>
              <a:t>Nguồn: src/house_price/modeling.py, features.py; backend/service.py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Nhóm so sánh chín thuật toán thuộc bốn họ. Linear Regression, Ridge và ElasticNet học hệ số; Ridge và ElasticNet có điều chuẩn. KNN dựa vào những mẫu gần nhau nên cần chú ý thang đo. Decision Tree học luật chia, còn Random Forest và Extra Trees kết hợp nhiều cây. Gradient Boosting và HistGradientBoosting xây các bước cải thiện dự báo tuần tự. Dummy median là baseline riêng, luôn đoán trung vị giá train.</a:t>
            </a:r>
          </a:p>
          <a:p xmlns:a="http://schemas.openxmlformats.org/drawingml/2006/main">
            <a:r>
              <a:t/>
            </a:r>
          </a:p>
          <a:p xmlns:a="http://schemas.openxmlformats.org/drawingml/2006/main">
            <a:r>
              <a:t>Cách đọc: Giải thích mỗi họ bằng một câu cơ chế, không đọc hết tên rồi chuyển trang. ElasticNet kết hợp L1 và L2; alpha điều khiển độ mạnh điều chuẩn, l1_ratio điều khiển tỷ lệ L1.</a:t>
            </a:r>
          </a:p>
          <a:p xmlns:a="http://schemas.openxmlformats.org/drawingml/2006/main">
            <a:r>
              <a:t>Cần hiểu: Mọi ứng viên dùng cùng split và pipeline trong bộ thực nghiệm. Tuy nhiên, cây chưa được tuning với ngân sách tương đương; kết quả chỉ so sánh các cấu hình đã chạy. Mô hình phức tạp hơn không mặc nhiên tốt hơn.</a:t>
            </a:r>
          </a:p>
          <a:p xmlns:a="http://schemas.openxmlformats.org/drawingml/2006/main">
            <a:r>
              <a:t>Hỏi đáp: Vì sao cần Dummy? Để kiểm tra mô hình có học được tín hiệu tốt hơn việc bỏ qua toàn bộ thuộc tính. Không tính Dummy vào chín thuật toán học máy.</a:t>
            </a:r>
          </a:p>
          <a:p xmlns:a="http://schemas.openxmlformats.org/drawingml/2006/main">
            <a:r>
              <a:t>Chuyển ý: Để kết luận mô hình nào tốt hơn, trước hết phải thống nhất cách đọc các chỉ số.</a:t>
            </a:r>
          </a:p>
          <a:p xmlns:a="http://schemas.openxmlformats.org/drawingml/2006/main">
            <a:r>
              <a:t>Nguồn: src/house_price/modeling.py; outputs/tables/validation_model_comparison.csv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RMSE và MAE đều theo USD. MAE là độ lệch tuyệt đối trung bình; RMSE phạt mạnh các sai số lớn. R bình phương so mức sai số với mốc dự báo trung bình, lớn hơn thường tốt hơn nhưng không phải phần trăm dự báo đúng. RMSLE đo chênh lệch trên thang log. Nhóm ưu tiên validation RMSE khi chọn mô hình, đồng thời xem MAE và RMSLE để tránh kết luận chỉ từ một con số.</a:t>
            </a:r>
          </a:p>
          <a:p xmlns:a="http://schemas.openxmlformats.org/drawingml/2006/main">
            <a:r>
              <a:t/>
            </a:r>
          </a:p>
          <a:p xmlns:a="http://schemas.openxmlformats.org/drawingml/2006/main">
            <a:r>
              <a:t>Cách đọc: RMSE, MAE và RMSLE thấp hơn tốt hơn; R² cao hơn tốt hơn. Ví dụ MAE=15.452 USD nghĩa là trung bình độ lệch tuyệt đối trên các mẫu đánh giá, không phải mọi căn nhà đều lệch đúng số tiền đó.</a:t>
            </a:r>
          </a:p>
          <a:p xmlns:a="http://schemas.openxmlformats.org/drawingml/2006/main">
            <a:r>
              <a:t>Cần hiểu: RMSE=sqrt(mean((y−ŷ)²)); MAE=mean(abs(y−ŷ)). R² có thể âm khi kém mốc dự báo trung bình. RMSLE không tự bằng MAPE; không biến 0,1177 thành 11,77% sai số giá chính xác.</a:t>
            </a:r>
          </a:p>
          <a:p xmlns:a="http://schemas.openxmlformats.org/drawingml/2006/main">
            <a:r>
              <a:t>Hỏi đáp: R²=0,9076 có phải accuracy 90,76% không? Không. Đây là tỷ lệ giảm tổng bình phương sai số so với mốc dùng trung bình của y trong định nghĩa R².</a:t>
            </a:r>
          </a:p>
          <a:p xmlns:a="http://schemas.openxmlformats.org/drawingml/2006/main">
            <a:r>
              <a:t>Chuyển ý: Tiếp theo là cách sử dụng các chỉ số đó mà vẫn giữ test độc lập.</a:t>
            </a:r>
          </a:p>
          <a:p xmlns:a="http://schemas.openxmlformats.org/drawingml/2006/main">
            <a:r>
              <a:t>Nguồn: https://scikit-learn.org/1.8/modules/model_evaluation.html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Đầu tiên, các ứng viên fit trên 1.168 mẫu train và được chấm trên validation. Tuning dùng CV 3 fold chỉ bên trong train. Nhóm chốt tên và tham số bằng validation cùng thông tin CV. Sau khi chốt mới fit estimator cuối trên 1.314 mẫu train + validation, rồi mở 146 mẫu test để đánh giá. Test không được dùng để đổi tên mô hình hoặc chọn siêu tham số.</a:t>
            </a:r>
          </a:p>
          <a:p xmlns:a="http://schemas.openxmlformats.org/drawingml/2006/main">
            <a:r>
              <a:t/>
            </a:r>
          </a:p>
          <a:p xmlns:a="http://schemas.openxmlformats.org/drawingml/2006/main">
            <a:r>
              <a:t>Cách đọc: Nhấn mốc chốt mô hình nằm trước khi đánh giá test. Random_state=42 là cấu hình ngẫu nhiên của thực nghiệm, không chứng minh đã tái tạo bước chia dữ liệu ban đầu.</a:t>
            </a:r>
          </a:p>
          <a:p xmlns:a="http://schemas.openxmlformats.org/drawingml/2006/main">
            <a:r>
              <a:t>Cần hiểu: Trong mỗi fold, toàn bộ pipeline chỉ fit trên phần train-fold. Các kết quả validation và test cuối đến từ hai estimator fit trên hai lượng dữ liệu khác nhau; không xem đó là hai lần chấm cùng một estimator đã fit.</a:t>
            </a:r>
          </a:p>
          <a:p xmlns:a="http://schemas.openxmlformats.org/drawingml/2006/main">
            <a:r>
              <a:t>Hỏi đáp: Vì sao được gộp train với validation? Khi mọi lựa chọn đã khóa, có thể dùng thêm dữ liệu phát triển để fit cuối; test vẫn phải giữ độc lập. Nếu tiếp tục chọn theo test thì tính độc lập bị mất.</a:t>
            </a:r>
          </a:p>
          <a:p xmlns:a="http://schemas.openxmlformats.org/drawingml/2006/main">
            <a:r>
              <a:t>Chuyển ý: Với giao thức này, bảng đầu tiên so sánh chín thuật toán và baseline trên validation.</a:t>
            </a:r>
          </a:p>
          <a:p xmlns:a="http://schemas.openxmlformats.org/drawingml/2006/main">
            <a:r>
              <a:t>Nguồn: scripts/train_full_project.py; src/house_price/tuning.py, selection.py; https://scikit-learn.org/1.8/common_pitfalls.html#data-leakage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Biểu đồ dùng validation RMSE theo USD, thấp hơn tốt hơn. Dummy trung vị có RMSE khoảng 88.612 USD; ElasticNet khoảng 24.856 USD, thấp hơn khoảng 72% trong phép so sánh này. Ridge và Linear Regression cũng khá cạnh tranh. Kết quả cho thấy có tín hiệu dự báo hữu ích, đồng thời gợi ý khảo sát kỹ các mô hình tuyến tính có điều chuẩn.</a:t>
            </a:r>
          </a:p>
          <a:p xmlns:a="http://schemas.openxmlformats.org/drawingml/2006/main">
            <a:r>
              <a:t/>
            </a:r>
          </a:p>
          <a:p xmlns:a="http://schemas.openxmlformats.org/drawingml/2006/main">
            <a:r>
              <a:t>Cách đọc: Chỉ trục Validation RMSE trước, rồi so Dummy với nhóm dẫn đầu. Không nói 72% là độ chính xác; đó là mức giảm RMSE tương đối so với baseline.</a:t>
            </a:r>
          </a:p>
          <a:p xmlns:a="http://schemas.openxmlformats.org/drawingml/2006/main">
            <a:r>
              <a:t>Cần hiểu: Benchmark là các cấu hình cụ thể đã lưu. Random Forest có validation MAE thấp hơn ElasticNet trong bảng đầy đủ, nhưng tiêu chí ưu tiên đang dùng là RMSE. Không suy ra thuật toán tuyến tính luôn hơn mọi cấu hình cây.</a:t>
            </a:r>
          </a:p>
          <a:p xmlns:a="http://schemas.openxmlformats.org/drawingml/2006/main">
            <a:r>
              <a:t>Hỏi đáp: Tại sao không chọn mô hình có MAE thấp nhất? Vì tiêu chí chính đã thống nhất là validation RMSE; MAE là góc nhìn bổ sung. Nếu đổi tiêu chí cần thiết kế lại trên dữ liệu phát triển, không chọn theo test.</a:t>
            </a:r>
          </a:p>
          <a:p xmlns:a="http://schemas.openxmlformats.org/drawingml/2006/main">
            <a:r>
              <a:t>Chuyển ý: Từ nhóm ứng viên tiềm năng, nhóm tuning Ridge và ElasticNet để chốt cấu hình.</a:t>
            </a:r>
          </a:p>
          <a:p xmlns:a="http://schemas.openxmlformats.org/drawingml/2006/main">
            <a:r>
              <a:t>Nguồn: outputs/tables/validation_model_comparison.csv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Mỗi mô hình Ridge và ElasticNet được thử ba cấu hình bằng CV 3 fold trên train. Sau tuning, ElasticNet có validation RMSE khoảng 24.856 USD và CV RMSE trung bình 39.729 USD; Ridge lần lượt khoảng 25.362 và 41.704 USD. ElasticNet được chốt với alpha 0,001 và l1_ratio 0,2. Quy tắc ưu tiên Ridge chỉ áp dụng khi nằm trong dung sai 2% của validation tốt nhất và CV trung bình không tệ hơn; ở đây điều kiện CV không đạt.</a:t>
            </a:r>
          </a:p>
          <a:p xmlns:a="http://schemas.openxmlformats.org/drawingml/2006/main">
            <a:r>
              <a:t/>
            </a:r>
          </a:p>
          <a:p xmlns:a="http://schemas.openxmlformats.org/drawingml/2006/main">
            <a:r>
              <a:t>Cách đọc: Val RMSE là sai số trên tập validation cố định; CV mean/std là trung bình/độ lệch chuẩn qua ba fold train. Các cột có cùng đơn vị USD nhưng không phải cùng phép đo hay cùng mẫu.</a:t>
            </a:r>
          </a:p>
          <a:p xmlns:a="http://schemas.openxmlformats.org/drawingml/2006/main">
            <a:r>
              <a:t>Cần hiểu: Không gian Ridge có 12 mức alpha; ElasticNet có 3 alpha × 2 l1_ratio, nhưng chỉ thử 3 cấu hình mỗi mô hình. Cấu hình ElasticNet tốt nhất trùng cấu hình benchmark nên không khẳng định tuning làm RMSE giảm. CV std lớn cho thấy độ biến động, chưa chứng minh chắc chắn nguyên nhân.</a:t>
            </a:r>
          </a:p>
          <a:p xmlns:a="http://schemas.openxmlformats.org/drawingml/2006/main">
            <a:r>
              <a:t>Hỏi đáp: Vì sao CV RMSE cao hơn validation nhiều? Các fold và mẫu đánh giá khác nhau; có thể nhạy với mẫu giá cao hoặc cấu hình fit. Cần kiểm tra từng fold/repeated CV để xác định, không chốt một nguyên nhân chỉ từ bảng.</a:t>
            </a:r>
          </a:p>
          <a:p xmlns:a="http://schemas.openxmlformats.org/drawingml/2006/main">
            <a:r>
              <a:t>Chuyển ý: Tên và tham số đã chốt. Bây giờ nhóm mới xem kết quả trên test.</a:t>
            </a:r>
          </a:p>
          <a:p xmlns:a="http://schemas.openxmlformats.org/drawingml/2006/main">
            <a:r>
              <a:t>Nguồn: outputs/tables/tuning_results.csv; outputs/model_selection_policy.json; https://scikit-learn.org/1.8/modules/generated/sklearn.linear_model.ElasticNet.html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Trên 146 mẫu test, mô hình cuối đạt RMSE 22.228,60 USD, MAE 15.452,34 USD, R² 0,9076 và RMSLE 0,1177. MAE cho biết quy mô lệch tuyệt đối trung bình; RMSE lớn hơn cho thấy những ca sai số lớn đóng góp đáng kể. Cột validation là kết quả lúc fit trên train, còn cột test đến từ mô hình fit cuối trên train + validation.</a:t>
            </a:r>
          </a:p>
          <a:p xmlns:a="http://schemas.openxmlformats.org/drawingml/2006/main">
            <a:r>
              <a:t/>
            </a:r>
          </a:p>
          <a:p xmlns:a="http://schemas.openxmlformats.org/drawingml/2006/main">
            <a:r>
              <a:t>Cách đọc: Đọc tập dữ liệu và đơn vị trước con số. Có thể nói làm tròn RMSE khoảng 22,2 nghìn USD, MAE khoảng 15,5 nghìn USD. Không đọc R² thành accuracy.</a:t>
            </a:r>
          </a:p>
          <a:p xmlns:a="http://schemas.openxmlformats.org/drawingml/2006/main">
            <a:r>
              <a:t>Cần hiểu: Test RMSE thấp hơn validation không tự chứng minh mô hình cải thiện, vì khác mẫu đánh giá và lượng dữ liệu fit. Giá trị tổng hợp cũng không phải khoảng sai số bảo đảm cho từng căn nhà.</a:t>
            </a:r>
          </a:p>
          <a:p xmlns:a="http://schemas.openxmlformats.org/drawingml/2006/main">
            <a:r>
              <a:t>Hỏi đáp: Có cam kết mọi căn nhà sai dưới 22 nghìn USD không? Không. RMSE là chỉ số tổng hợp; có ca sai số lớn hơn, cần xem phần dư và phân khúc giá ở các trang sau.</a:t>
            </a:r>
          </a:p>
          <a:p xmlns:a="http://schemas.openxmlformats.org/drawingml/2006/main">
            <a:r>
              <a:t>Chuyển ý: Để biết những con số trung bình che giấu điều gì, nhóm phân tích từng kiểu sai số.</a:t>
            </a:r>
          </a:p>
          <a:p xmlns:a="http://schemas.openxmlformats.org/drawingml/2006/main">
            <a:r>
              <a:t>Nguồn: outputs/summary.json; outputs/tables/test_metrics.csv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Biểu đồ trái so giá thật và giá dự báo; điểm sát đường chéo thể hiện dự báo gần giá thật. Biểu đồ phải đặt phần dư theo giá dự báo để xem lỗi phân bố ra sao. Mô hình theo được xu hướng chung nhưng vẫn có điểm lệch lớn. Vì vậy không nên chỉ nhìn R² cao rồi kết luận mô hình tốt đồng đều cho mọi căn nhà.</a:t>
            </a:r>
          </a:p>
          <a:p xmlns:a="http://schemas.openxmlformats.org/drawingml/2006/main">
            <a:r>
              <a:t/>
            </a:r>
          </a:p>
          <a:p xmlns:a="http://schemas.openxmlformats.org/drawingml/2006/main">
            <a:r>
              <a:t>Cách đọc: Đọc nhãn trục và đường tham chiếu trước khi chỉ điểm. Trong hình hiện hành, phần dư là giá thật trừ giá dự báo: dương là dự báo thấp, âm là dự báo cao.</a:t>
            </a:r>
          </a:p>
          <a:p xmlns:a="http://schemas.openxmlformats.org/drawingml/2006/main">
            <a:r>
              <a:t>Cần hiểu: Diagnostic trên test diễn ra sau chốt; không dùng hình test để âm thầm đổi mô hình trong cùng báo cáo kết quả. Muốn sửa cần quay về quá trình phát triển và có kế hoạch đánh giá độc lập phù hợp.</a:t>
            </a:r>
          </a:p>
          <a:p xmlns:a="http://schemas.openxmlformats.org/drawingml/2006/main">
            <a:r>
              <a:t>Hỏi đáp: Một điểm lệch lớn có chắc là dữ liệu sai không? Không. Có thể là mẫu hiếm, thiếu thông tin hoặc giới hạn mô hình; cần kiểm tra bản ghi và nguyên nhân trước khi loại.</a:t>
            </a:r>
          </a:p>
          <a:p xmlns:a="http://schemas.openxmlformats.org/drawingml/2006/main">
            <a:r>
              <a:t>Chuyển ý: Một cách đọc cụ thể hơn là tách test theo các nhóm giá thật.</a:t>
            </a:r>
          </a:p>
          <a:p xmlns:a="http://schemas.openxmlformats.org/drawingml/2006/main">
            <a:r>
              <a:t>Nguồn: outputs/figures/08_actual_vs_predicted.png, 09_residual_vs_predicted.png; src/house_price/diagnostics.py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Các mẫu test được chia thành bốn nhóm theo giá thật. Nhóm Q4 giá cao có MAE khoảng 27.419 USD, lớn hơn các nhóm còn lại. Đây là lý do cần thận trọng với căn nhà đắt hoặc hiếm khi demo. Kết luận ở đây chỉ nói sai số tuyệt đối; chưa nói phần trăm sai số hay mức độ rủi ro của mọi thị trường.</a:t>
            </a:r>
          </a:p>
          <a:p xmlns:a="http://schemas.openxmlformats.org/drawingml/2006/main">
            <a:r>
              <a:t/>
            </a:r>
          </a:p>
          <a:p xmlns:a="http://schemas.openxmlformats.org/drawingml/2006/main">
            <a:r>
              <a:t>Cách đọc: Q1 là nhóm giá thấp; Q4 là nhóm giá cao theo tứ phân vị giá thật. Trục MAE theo USD. Các nhóm có số mẫu không hoàn toàn bằng nhau vì cách chia và các giá trị giá trùng.</a:t>
            </a:r>
          </a:p>
          <a:p xmlns:a="http://schemas.openxmlformats.org/drawingml/2006/main">
            <a:r>
              <a:t>Cần hiểu: Giá cao dễ có sai số USD lớn ngay cả khi sai số tương đối không lớn nhất. Bảng đầy đủ trong sổ tay có MAPE để phân biệt hai góc nhìn; không suy ra từ chiều dài cột MAE rằng Q4 luôn tệ nhất theo mọi metric.</a:t>
            </a:r>
          </a:p>
          <a:p xmlns:a="http://schemas.openxmlformats.org/drawingml/2006/main">
            <a:r>
              <a:t>Hỏi đáp: Ứng dụng có biết căn nhà thuộc Q4 trước khi bán không? Nhóm trong phân tích này được xác định bằng giá thật đã biết của test; không phải một nhãn đầu vào có sẵn cho căn nhà mới.</a:t>
            </a:r>
          </a:p>
          <a:p xmlns:a="http://schemas.openxmlformats.org/drawingml/2006/main">
            <a:r>
              <a:t>Chuyển ý: Sau sai số, nhóm kiểm tra mô hình đang dựa vào những tín hiệu nào.</a:t>
            </a:r>
          </a:p>
          <a:p xmlns:a="http://schemas.openxmlformats.org/drawingml/2006/main">
            <a:r>
              <a:t>Nguồn: outputs/tables/error_by_price_quartile.csv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Vũ.</a:t>
            </a:r>
          </a:p>
          <a:p xmlns:a="http://schemas.openxmlformats.org/drawingml/2006/main">
            <a:r>
              <a:t>Nhóm lần lượt hoán vị từng biến raw và xem RMSE tăng bao nhiêu. GrLivArea, OverallQual và Neighborhood là những biến có tác động nổi bật trong phép đo này. Nếu đảo một biến làm sai số tăng mạnh, mô hình đang phụ thuộc đáng kể vào thông tin đó. Kết quả được đo sau khi chốt trên 50 mẫu test, lặp 20 lần hoán vị.</a:t>
            </a:r>
          </a:p>
          <a:p xmlns:a="http://schemas.openxmlformats.org/drawingml/2006/main">
            <a:r>
              <a:t/>
            </a:r>
          </a:p>
          <a:p xmlns:a="http://schemas.openxmlformats.org/drawingml/2006/main">
            <a:r>
              <a:t>Cách đọc: Trục là mức tăng RMSE theo USD, không phải phần trăm đóng góp. Nêu ba biến nổi bật, không cần đọc cả danh sách. Các biến raw được hoán vị trước khi chạy pipeline nên phép đo có thể ảnh hưởng các đặc trưng tạo từ chúng.</a:t>
            </a:r>
          </a:p>
          <a:p xmlns:a="http://schemas.openxmlformats.org/drawingml/2006/main">
            <a:r>
              <a:t>Cần hiểu: Đây là độ quan trọng với mô hình và mẫu đo hiện tại, khác tương quan Pearson ở trang 7. Các biến tương quan có thể thay thế thông tin cho nhau; importance thấp không tự chứng minh biến vô dụng hay không có quan hệ nhân quả.</a:t>
            </a:r>
          </a:p>
          <a:p xmlns:a="http://schemas.openxmlformats.org/drawingml/2006/main">
            <a:r>
              <a:t>Hỏi đáp: Có thể dùng hình này để xóa biến rồi vẫn báo test như cũ không? Không. Đây là diagnostic sau chốt; thay đổi biến là lựa chọn mô hình mới cần đánh giá lại đúng giao thức.</a:t>
            </a:r>
          </a:p>
          <a:p xmlns:a="http://schemas.openxmlformats.org/drawingml/2006/main">
            <a:r>
              <a:t>Chuyển ý: Mô hình đã được đánh giá và lưu. Em xin chuyển Đức trình bày cách đưa nó vào ứng dụng.</a:t>
            </a:r>
          </a:p>
          <a:p xmlns:a="http://schemas.openxmlformats.org/drawingml/2006/main">
            <a:r>
              <a:t>Nguồn: outputs/tables/permutation_importance.csv; src/house_price/explainability.py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Đức.</a:t>
            </a:r>
          </a:p>
          <a:p xmlns:a="http://schemas.openxmlformats.org/drawingml/2006/main">
            <a:r>
              <a:t>Người dùng nhập dữ liệu trên Streamlit. Giao diện gọi backend.service để kiểm tra đầu vào và thực hiện dự báo. Backend nạp pipeline ElasticNet đã lưu, còn pipeline tự tạo đặc trưng, tiền xử lý và trả giá USD. Vì giao diện và backend dùng cùng artifact, không cần tạo một phiên bản tiền xử lý khác cho ứng dụng.</a:t>
            </a:r>
          </a:p>
          <a:p xmlns:a="http://schemas.openxmlformats.org/drawingml/2006/main">
            <a:r>
              <a:t/>
            </a:r>
          </a:p>
          <a:p xmlns:a="http://schemas.openxmlformats.org/drawingml/2006/main">
            <a:r>
              <a:t>Cách đọc: Phân biệt ba phần: giao diện nhận dữ liệu; backend kiểm tra và điều phối; artifact thực hiện phép dự báo đã học. Tệp schema mô tả 79 trường cần nhận.</a:t>
            </a:r>
          </a:p>
          <a:p xmlns:a="http://schemas.openxmlformats.org/drawingml/2006/main">
            <a:r>
              <a:t>Cần hiểu: Ứng dụng chỉ load/predict, không fit lại khi có yêu cầu. Backend loại SalePrice nếu có trong batch input, bảo toàn các cột hợp lệ ở output và thêm PredictedSalePrice. Artifact/schema/summary cần đi cùng đúng phiên bản.</a:t>
            </a:r>
          </a:p>
          <a:p xmlns:a="http://schemas.openxmlformats.org/drawingml/2006/main">
            <a:r>
              <a:t>Hỏi đáp: Tại sao không viết tất cả trực tiếp trong Streamlit? Tách dịch vụ giúp dùng cùng logic cho dự báo đơn, batch và kiểm thử; giảm sai khác giữa giao diện và mô hình đã đánh giá.</a:t>
            </a:r>
          </a:p>
          <a:p xmlns:a="http://schemas.openxmlformats.org/drawingml/2006/main">
            <a:r>
              <a:t>Chuyển ý: Ví dụ tiếp theo đi từ một bộ thông tin nhập cụ thể đến kết quả dự báo.</a:t>
            </a:r>
          </a:p>
          <a:p xmlns:a="http://schemas.openxmlformats.org/drawingml/2006/main">
            <a:r>
              <a:t>Nguồn: backend/service.py; app/; models/input_schema.json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Đức.</a:t>
            </a:r>
          </a:p>
          <a:p xmlns:a="http://schemas.openxmlformats.org/drawingml/2006/main">
            <a:r>
              <a:t>Ví dụ dùng Quick Input: chất lượng tổng thể 6, diện tích sinh hoạt 1.465 feet vuông, khu NAmes, gara hai xe và các giá trị khác như biểu mẫu. 15 biến được nhập trực tiếp; 64 trường còn lại dùng mặc định từ schema train. Với artifact hiện hành, backend trả khoảng 162.972,03 USD. Đây là dự báo của ví dụ demo, không phải giá thật hay kết quả thẩm định.</a:t>
            </a:r>
          </a:p>
          <a:p xmlns:a="http://schemas.openxmlformats.org/drawingml/2006/main">
            <a:r>
              <a:t/>
            </a:r>
          </a:p>
          <a:p xmlns:a="http://schemas.openxmlformats.org/drawingml/2006/main">
            <a:r>
              <a:t>Cách đọc: Chỉ các trường chính trên biểu mẫu, sau đó chỉ kết quả bên phải. Kết quả được chạy bằng backend.service.predict_one với cùng 15 giá trị trong ảnh và các mặc định schema; ảnh là biểu mẫu đã lưu, không phải ảnh chụp live cloud mới.</a:t>
            </a:r>
          </a:p>
          <a:p xmlns:a="http://schemas.openxmlformats.org/drawingml/2006/main">
            <a:r>
              <a:t>Cần hiểu: Dự báo thay đổi nếu đổi 64 giá trị mặc định hoặc model/schema. Không dùng giá thật của ví dụ để điều chỉnh mô hình. Batch nhận đủ cột CSV theo schema và cho tải kết quả; nó khác cách tự điền thiếu trường của Quick Input.</a:t>
            </a:r>
          </a:p>
          <a:p xmlns:a="http://schemas.openxmlformats.org/drawingml/2006/main">
            <a:r>
              <a:t>Hỏi đáp: 162.972,03 USD có đúng là giá bán thật không? Không; chỉ là đầu ra mô hình. Tính chính xác phải đánh giá trên nhiều mẫu có nhãn, như các chỉ số test đã trình bày.</a:t>
            </a:r>
          </a:p>
          <a:p xmlns:a="http://schemas.openxmlformats.org/drawingml/2006/main">
            <a:r>
              <a:t>Chuyển ý: Ngoài chạy được một ví dụ, nhóm kiểm tra tính đúng và phạm vi triển khai của hệ thống.</a:t>
            </a:r>
          </a:p>
          <a:p xmlns:a="http://schemas.openxmlformats.org/drawingml/2006/main">
            <a:r>
              <a:t>Nguồn: backend.service.predict_one; 15 giá trị trong biểu mẫu streamlit_single.png; 64 trường mặc định schema; artifact SHA-256 5101114637e8001c91f06a42737cd3cc8ee143cb1d6a3a27631a41b48f3efcf1; dự báo 162972.0277263497 USD; không retrain.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Đức.</a:t>
            </a:r>
          </a:p>
          <a:p xmlns:a="http://schemas.openxmlformats.org/drawingml/2006/main">
            <a:r>
              <a:t>Lần kiểm tra ngày 22/10/2026 có 69 kiểm thử đạt, không có kiểm thử lỗi hoặc bị bỏ qua; coverage phần core và backend khoảng 99,7%. Hai notebook có kết quả thực thi đã lưu là PASS. Những kiểm tra này hỗ trợ độ tin cậy kỹ thuật, nhưng không thay thế đánh giá mô hình và không tự chứng minh ứng dụng cloud đã chạy đúng. Trạng thái suy luận cloud chưa được xác minh lại.</a:t>
            </a:r>
          </a:p>
          <a:p xmlns:a="http://schemas.openxmlformats.org/drawingml/2006/main">
            <a:r>
              <a:t/>
            </a:r>
          </a:p>
          <a:p xmlns:a="http://schemas.openxmlformats.org/drawingml/2006/main">
            <a:r>
              <a:t>Cách đọc: Nói rõ coverage tính trên src/house_price và backend, không phải toàn bộ UI. Notebook PASS là trạng thái đã lưu; không tuyên bố đã chạy lại mọi notebook trong lần chỉnh slide.</a:t>
            </a:r>
          </a:p>
          <a:p xmlns:a="http://schemas.openxmlformats.org/drawingml/2006/main">
            <a:r>
              <a:t>Cần hiểu: Unit test kiểm tra hành vi mã; metric ML đo sai số dự báo; kiểm tra deployment đo môi trường phục vụ thực tế. Ba loại bằng chứng có phạm vi khác nhau. Khi trình bày trực tiếp nên chuẩn bị local demo và kết quả dự phòng.</a:t>
            </a:r>
          </a:p>
          <a:p xmlns:a="http://schemas.openxmlformats.org/drawingml/2006/main">
            <a:r>
              <a:t>Hỏi đáp: Coverage 99,7% có nghĩa phần mềm chính xác 99,7% không? Không; đó là tỷ lệ câu lệnh được chạy trong bộ kiểm thử của phạm vi đã nêu, không đo tính đúng của mọi trường hợp.</a:t>
            </a:r>
          </a:p>
          <a:p xmlns:a="http://schemas.openxmlformats.org/drawingml/2006/main">
            <a:r>
              <a:t>Chuyển ý: Từ thực nghiệm và ứng dụng, nhóm rút ra kết luận cùng những giới hạn cần giữ.</a:t>
            </a:r>
          </a:p>
          <a:p xmlns:a="http://schemas.openxmlformats.org/drawingml/2006/main">
            <a:r>
              <a:t>Nguồn: outputs/audit/test_summary.json, coverage.json; outputs/notebook_summary.json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Đức.</a:t>
            </a:r>
          </a:p>
          <a:p xmlns:a="http://schemas.openxmlformats.org/drawingml/2006/main">
            <a:r>
              <a:t>Nhóm đã xây dựng pipeline hồi quy, so sánh chín thuật toán với baseline và chọn ElasticNet theo validation/CV. Mô hình cuối đạt test RMSE khoảng 22,2 nghìn USD và R² 0,9076; pipeline được dùng trong ứng dụng dự báo. Giới hạn chính là một bộ dữ liệu, một split, tuning hẹp và sai số lớn hơn ở nhóm giá cao. Bước tiếp theo là repeated CV, dữ liệu ngoài Ames và tuning rộng hơn.</a:t>
            </a:r>
          </a:p>
          <a:p xmlns:a="http://schemas.openxmlformats.org/drawingml/2006/main">
            <a:r>
              <a:t/>
            </a:r>
          </a:p>
          <a:p xmlns:a="http://schemas.openxmlformats.org/drawingml/2006/main">
            <a:r>
              <a:t>Cách đọc: Chốt điều đã làm trước, nêu giới hạn sau. Hướng phát triển là kế hoạch, không phải tính năng hay thí nghiệm đã có. Không gọi ElasticNet là mô hình tốt nhất cho mọi bài toán giá nhà.</a:t>
            </a:r>
          </a:p>
          <a:p xmlns:a="http://schemas.openxmlformats.org/drawingml/2006/main">
            <a:r>
              <a:t>Cần hiểu: Chưa có ablation riêng từng nhóm đặc trưng, khoảng dự báo cho mỗi căn nhà hoặc external validation. CV biến động lớn và các quy tắc Has* là những điểm cần thực nghiệm tiếp. Các hạn chế này không làm sai các metric đã đo, nhưng giới hạn cách sử dụng và suy rộng kết luận.</a:t>
            </a:r>
          </a:p>
          <a:p xmlns:a="http://schemas.openxmlformats.org/drawingml/2006/main">
            <a:r>
              <a:t>Hỏi đáp: Nếu làm tiếp, ưu tiên gì? Kiểm tra độ ổn định bằng repeated CV và đánh giá ngoài dữ liệu hiện hành trước khi tăng độ phức tạp của hệ thống.</a:t>
            </a:r>
          </a:p>
          <a:p xmlns:a="http://schemas.openxmlformats.org/drawingml/2006/main">
            <a:r>
              <a:t>Chuyển ý: Nhóm xin cảm ơn và sẵn sàng trao đổi về từng phần của bài.</a:t>
            </a:r>
          </a:p>
          <a:p xmlns:a="http://schemas.openxmlformats.org/drawingml/2006/main">
            <a:r>
              <a:t>Nguồn: outputs/summary.json; outputs/tables/tuning_results.csv; src/house_price/features.py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Đức điều phối.</a:t>
            </a:r>
          </a:p>
          <a:p xmlns:a="http://schemas.openxmlformats.org/drawingml/2006/main">
            <a:r>
              <a:t>Nhóm xin cảm ơn thầy cô và các bạn. Nhóm sẵn sàng trao đổi về dữ liệu, cách xử lý, mô hình và ứng dụng. Nguồn dữ liệu là Kaggle House Prices – Ames Housing; cơ chế phương pháp được đối chiếu tài liệu scikit-learn. Với câu hỏi cần thêm thí nghiệm, nhóm sẽ phân biệt điều đã đo và giả thuyết cần kiểm chứng.</a:t>
            </a:r>
          </a:p>
          <a:p xmlns:a="http://schemas.openxmlformats.org/drawingml/2006/main">
            <a:r>
              <a:t/>
            </a:r>
          </a:p>
          <a:p xmlns:a="http://schemas.openxmlformats.org/drawingml/2006/main">
            <a:r>
              <a:t>Cách đọc: Đức điều phối: dữ liệu/EDA chuyển Dương, tiền xử lý/đặc trưng chuyển Tuấn, mô hình/đánh giá chuyển Vũ, ứng dụng/kiểm thử Đức trả lời. Không ngắt người hỏi để đọc lại toàn bộ kết luận.</a:t>
            </a:r>
          </a:p>
          <a:p xmlns:a="http://schemas.openxmlformats.org/drawingml/2006/main">
            <a:r>
              <a:t>Cần hiểu: Trả lời theo thứ tự phù hợp: cơ chế → cấu hình của nhóm → bằng chứng → giới hạn. Có thể nói chưa kiểm chứng rồi nêu phép kiểm chứng cần thiết, không đoán thành kết quả.</a:t>
            </a:r>
          </a:p>
          <a:p xmlns:a="http://schemas.openxmlformats.org/drawingml/2006/main">
            <a:r>
              <a:t>Hỏi đáp: Cần mở sẵn gì? Trang 15–17, bảng benchmark/tuning, schema, mã features.py/modeling.py/selection.py và ví dụ demo ở trang 22. Giảng viên đã có thông tin; chỉ mã lớp học phần còn thiếu.</a:t>
            </a:r>
          </a:p>
          <a:p xmlns:a="http://schemas.openxmlformats.org/drawingml/2006/main">
            <a:r>
              <a:t>Chuyển ý: Phần B của sổ tay dùng ôn cơ chế; Phần C dùng tra bảng và chỉ số khi hỏi đáp.</a:t>
            </a:r>
          </a:p>
          <a:p xmlns:a="http://schemas.openxmlformats.org/drawingml/2006/main">
            <a:r>
              <a:t>Nguồn: https://www.kaggle.com/competitions/house-prices-advanced-regression-techniques; https://jse.amstat.org/v19n3/decock.pdf; https://scikit-learn.org/1.8/modules/model_evaluation.html; https://scikit-learn.org/1.8/common_pitfalls.html; https://scikit-learn.org/1.8/modules/permutation_importance.html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bc5219cb1e4e8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0b2f20af47492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9663254751482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6739bfa1fd540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794472430c4a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0a405bfdbf347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04D39F-C98D-4185-A7BF-D1DED0E534D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3AAB6C7-E27D-4B20-84F8-3919B9BAE2C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AA8F99C-0730-4D3C-890F-8B1B845253D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07D6D-CFDC-4E91-AD67-C8A28B3C52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5DC6FA0-E633-48A6-BF92-CC8CDAEEB4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E96EB7-018C-4AEA-A567-105B9D8D5A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BB9032-0D08-436D-8637-3D1E1F6859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170792-7DCF-452D-BBA9-D98448CCD62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BAAFB9-008F-4B6B-A107-C284D57974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5A6868-FAAC-4D0A-89E6-3A2F82989B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b7a1552dc447a1" /><Relationship Type="http://schemas.openxmlformats.org/officeDocument/2006/relationships/slideLayout" Target="/ppt/slideLayouts/slideLayout1.xml" Id="Rabfa9a7945994f98" /><Relationship Type="http://schemas.openxmlformats.org/officeDocument/2006/relationships/slideLayout" Target="/ppt/slideLayouts/slideLayout2.xml" Id="R244cb3a67849474b" /><Relationship Type="http://schemas.openxmlformats.org/officeDocument/2006/relationships/slideLayout" Target="/ppt/slideLayouts/slideLayout3.xml" Id="Rbe58ae57664d4fd2" /><Relationship Type="http://schemas.openxmlformats.org/officeDocument/2006/relationships/slideLayout" Target="/ppt/slideLayouts/slideLayout4.xml" Id="Rb9a6dce57902440e" /><Relationship Type="http://schemas.openxmlformats.org/officeDocument/2006/relationships/slideLayout" Target="/ppt/slideLayouts/slideLayout5.xml" Id="Rea77d0ce53884ce2" /><Relationship Type="http://schemas.openxmlformats.org/officeDocument/2006/relationships/slideLayout" Target="/ppt/slideLayouts/slideLayout6.xml" Id="Rb82ad90c419341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fa9a7945994f98"/>
    <p:sldLayoutId xmlns:r="http://schemas.openxmlformats.org/officeDocument/2006/relationships" id="2147483650" r:id="R244cb3a67849474b"/>
    <p:sldLayoutId xmlns:r="http://schemas.openxmlformats.org/officeDocument/2006/relationships" id="2147483651" r:id="Rbe58ae57664d4fd2"/>
    <p:sldLayoutId xmlns:r="http://schemas.openxmlformats.org/officeDocument/2006/relationships" id="2147483652" r:id="Rb9a6dce57902440e"/>
    <p:sldLayoutId xmlns:r="http://schemas.openxmlformats.org/officeDocument/2006/relationships" id="2147483653" r:id="Rea77d0ce53884ce2"/>
    <p:sldLayoutId xmlns:r="http://schemas.openxmlformats.org/officeDocument/2006/relationships" id="2147483654" r:id="Rb82ad90c419341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ac179c15364e5d" /><Relationship Type="http://schemas.openxmlformats.org/officeDocument/2006/relationships/notesSlide" Target="/ppt/notesSlides/notesSlide1.xml" Id="R1d41251afd4e4e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7afad184c494ea7" /><Relationship Type="http://schemas.openxmlformats.org/officeDocument/2006/relationships/notesSlide" Target="/ppt/notesSlides/notesSlide2.xml" Id="R988b808ff6e044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79d06764cae4978" /><Relationship Type="http://schemas.openxmlformats.org/officeDocument/2006/relationships/notesSlide" Target="/ppt/notesSlides/notesSlide3.xml" Id="R71cb28469ae44d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97fd6cac79643a0" /><Relationship Type="http://schemas.openxmlformats.org/officeDocument/2006/relationships/notesSlide" Target="/ppt/notesSlides/notesSlide4.xml" Id="R4f6f4a4c33e24d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d3aa57cf3de48f4" /><Relationship Type="http://schemas.openxmlformats.org/officeDocument/2006/relationships/notesSlide" Target="/ppt/notesSlides/notesSlide5.xml" Id="R1bf18b9b4f1643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3c5fcbde604726" /><Relationship Type="http://schemas.openxmlformats.org/officeDocument/2006/relationships/chart" Target="/ppt/slides/charts/chart1.xml" Id="Re2c602f9299043c3" /><Relationship Type="http://schemas.openxmlformats.org/officeDocument/2006/relationships/chart" Target="/ppt/slides/charts/chart2.xml" Id="Rf97c3a059ea74bdb" /><Relationship Type="http://schemas.openxmlformats.org/officeDocument/2006/relationships/notesSlide" Target="/ppt/notesSlides/notesSlide6.xml" Id="R779c4ad474ac44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c4407370f1048ea" /><Relationship Type="http://schemas.openxmlformats.org/officeDocument/2006/relationships/chart" Target="/ppt/slides/charts/chart3.xml" Id="R195b025a511d47f7" /><Relationship Type="http://schemas.openxmlformats.org/officeDocument/2006/relationships/notesSlide" Target="/ppt/notesSlides/notesSlide7.xml" Id="R7c2e9feb26bc42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955cb50aafd4486" /><Relationship Type="http://schemas.openxmlformats.org/officeDocument/2006/relationships/notesSlide" Target="/ppt/notesSlides/notesSlide8.xml" Id="R5752ace91bf64f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2c5b8e8bf542d7" /><Relationship Type="http://schemas.openxmlformats.org/officeDocument/2006/relationships/notesSlide" Target="/ppt/notesSlides/notesSlide9.xml" Id="R4b3981ee49a64e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d3a69277619454c" /><Relationship Type="http://schemas.openxmlformats.org/officeDocument/2006/relationships/notesSlide" Target="/ppt/notesSlides/notesSlide10.xml" Id="Rc0b87efb677848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cc296a1a88d41c4" /><Relationship Type="http://schemas.openxmlformats.org/officeDocument/2006/relationships/notesSlide" Target="/ppt/notesSlides/notesSlide11.xml" Id="Rfff5a02a01f94f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24d0aafc708425e" /><Relationship Type="http://schemas.openxmlformats.org/officeDocument/2006/relationships/notesSlide" Target="/ppt/notesSlides/notesSlide12.xml" Id="Reea7beb21ba043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2a9befdf16c4208" /><Relationship Type="http://schemas.openxmlformats.org/officeDocument/2006/relationships/notesSlide" Target="/ppt/notesSlides/notesSlide13.xml" Id="R59965acd69754f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ade1cd2d7b44574" /><Relationship Type="http://schemas.openxmlformats.org/officeDocument/2006/relationships/notesSlide" Target="/ppt/notesSlides/notesSlide14.xml" Id="R34ce5b4acae741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9c041d9dda647ac" /><Relationship Type="http://schemas.openxmlformats.org/officeDocument/2006/relationships/chart" Target="/ppt/slides/charts/chart4.xml" Id="R2fe6156bd1bb4576" /><Relationship Type="http://schemas.openxmlformats.org/officeDocument/2006/relationships/notesSlide" Target="/ppt/notesSlides/notesSlide15.xml" Id="Rfb67f401d23444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a93f6c3e8304f4f" /><Relationship Type="http://schemas.openxmlformats.org/officeDocument/2006/relationships/notesSlide" Target="/ppt/notesSlides/notesSlide16.xml" Id="R627e1637145943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da69401cc1543a5" /><Relationship Type="http://schemas.openxmlformats.org/officeDocument/2006/relationships/notesSlide" Target="/ppt/notesSlides/notesSlide17.xml" Id="R0d2b0c2f7614441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cf7250b8a0a48ef" /><Relationship Type="http://schemas.openxmlformats.org/officeDocument/2006/relationships/image" Target="/ppt/media/image.png" Id="R7c09e6fa24bc4358" /><Relationship Type="http://schemas.openxmlformats.org/officeDocument/2006/relationships/image" Target="/ppt/media/image2.png" Id="R95a23ea0a7d84dad" /><Relationship Type="http://schemas.openxmlformats.org/officeDocument/2006/relationships/notesSlide" Target="/ppt/notesSlides/notesSlide18.xml" Id="R03a6c4f51ba147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21ed8db728d4c1b" /><Relationship Type="http://schemas.openxmlformats.org/officeDocument/2006/relationships/chart" Target="/ppt/slides/charts/chart5.xml" Id="R551fa719c7534393" /><Relationship Type="http://schemas.openxmlformats.org/officeDocument/2006/relationships/notesSlide" Target="/ppt/notesSlides/notesSlide19.xml" Id="Rec681503cb6849f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b55feeda1344f00" /><Relationship Type="http://schemas.openxmlformats.org/officeDocument/2006/relationships/chart" Target="/ppt/slides/charts/chart6.xml" Id="R5e97b2aa71ae4845" /><Relationship Type="http://schemas.openxmlformats.org/officeDocument/2006/relationships/notesSlide" Target="/ppt/notesSlides/notesSlide20.xml" Id="R62ddd0b0cc6f47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1f0fc19706f4f0c" /><Relationship Type="http://schemas.openxmlformats.org/officeDocument/2006/relationships/notesSlide" Target="/ppt/notesSlides/notesSlide21.xml" Id="Rdb0477e184c84d5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2c8967220e04553" /><Relationship Type="http://schemas.openxmlformats.org/officeDocument/2006/relationships/image" Target="/ppt/media/image3.png" Id="Rf775efea21984499" /><Relationship Type="http://schemas.openxmlformats.org/officeDocument/2006/relationships/notesSlide" Target="/ppt/notesSlides/notesSlide22.xml" Id="Rb706a8a6fb8d493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67bd303027e4659" /><Relationship Type="http://schemas.openxmlformats.org/officeDocument/2006/relationships/notesSlide" Target="/ppt/notesSlides/notesSlide23.xml" Id="R50cd92140e29468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d7cd59bb9334b6b" /><Relationship Type="http://schemas.openxmlformats.org/officeDocument/2006/relationships/notesSlide" Target="/ppt/notesSlides/notesSlide24.xml" Id="Re350c7219c014d0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21fb9a7f9ef4106" /><Relationship Type="http://schemas.openxmlformats.org/officeDocument/2006/relationships/notesSlide" Target="/ppt/notesSlides/notesSlide25.xml" Id="R96b5b6d8606843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42C40"/>
                </a:solidFill>
              </a:rPr>
              <a:t>Giá gốc (nghìn USD)</a:t>
            </a:r>
          </a:p>
        </c:rich>
      </c:tx>
      <c:overlay val="0"/>
      <c:txPr>
        <a:bodyPr xmlns:a="http://schemas.openxmlformats.org/drawingml/2006/main" anchorCtr="1"/>
        <a:lstStyle xmlns:a="http://schemas.openxmlformats.org/drawingml/2006/main"/>
        <a:p xmlns:a="http://schemas.openxmlformats.org/drawingml/2006/main">
          <a:pPr>
            <a:defRPr sz="1725">
              <a:solidFill>
                <a:srgbClr val="142C40"/>
              </a:solidFill>
            </a:defRPr>
          </a:pPr>
        </a:p>
      </c:txPr>
    </c:title>
    <c:plotArea>
      <c:barChart>
        <c:barDir val="col"/>
        <c:grouping val="clustered"/>
        <c:varyColors val="0"/>
        <c:ser>
          <c:idx val="0"/>
          <c:order val="0"/>
          <c:tx>
            <c:v>Số căn nhà</c:v>
          </c:tx>
          <c:spPr>
            <a:solidFill xmlns:a="http://schemas.openxmlformats.org/drawingml/2006/main">
              <a:srgbClr val="146C64"/>
            </a:solidFill>
          </c:spPr>
          <c:invertIfNegative val="0"/>
          <c:cat>
            <c:numRef>
              <c:f>'Chart Data'!$A$2:$A$9</c:f>
              <c:numCache>
                <c:formatCode>General</c:formatCode>
                <c:ptCount val="8"/>
                <c:pt idx="0">
                  <c:v>50</c:v>
                </c:pt>
                <c:pt idx="1">
                  <c:v>150</c:v>
                </c:pt>
                <c:pt idx="2">
                  <c:v>250</c:v>
                </c:pt>
                <c:pt idx="3">
                  <c:v>350</c:v>
                </c:pt>
                <c:pt idx="4">
                  <c:v>450</c:v>
                </c:pt>
                <c:pt idx="5">
                  <c:v>550</c:v>
                </c:pt>
                <c:pt idx="6">
                  <c:v>650</c:v>
                </c:pt>
                <c:pt idx="7">
                  <c:v>750</c:v>
                </c:pt>
              </c:numCache>
            </c:numRef>
          </c:cat>
          <c:val>
            <c:numRef>
              <c:f>'Chart Data'!$B$2:$B$9</c:f>
              <c:numCache>
                <c:formatCode>#,##0</c:formatCode>
                <c:ptCount val="8"/>
                <c:pt idx="0">
                  <c:v>88</c:v>
                </c:pt>
                <c:pt idx="1">
                  <c:v>733</c:v>
                </c:pt>
                <c:pt idx="2">
                  <c:v>253</c:v>
                </c:pt>
                <c:pt idx="3">
                  <c:v>72</c:v>
                </c:pt>
                <c:pt idx="4">
                  <c:v>16</c:v>
                </c:pt>
                <c:pt idx="5">
                  <c:v>4</c:v>
                </c:pt>
                <c:pt idx="6">
                  <c:v>0</c:v>
                </c:pt>
                <c:pt idx="7">
                  <c:v>2</c:v>
                </c:pt>
              </c:numCache>
            </c:numRef>
          </c:val>
        </c:ser>
        <c:dLbls>
          <c:showLegendKey val="0"/>
          <c:showVal val="0"/>
          <c:showCatName val="0"/>
          <c:showSerName val="0"/>
          <c:showPercent val="0"/>
          <c:showBubbleSize val="0"/>
          <c:showLeaderLines val="0"/>
        </c:dLbls>
        <c:gapWidth val="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t>Số căn nhà</a:t>
                </a:r>
              </a:p>
            </c:rich>
          </c:tx>
          <c:overlay val="0"/>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42C40"/>
                </a:solidFill>
              </a:rPr>
              <a:t>Sau log1p(SalePrice)</a:t>
            </a:r>
          </a:p>
        </c:rich>
      </c:tx>
      <c:overlay val="0"/>
      <c:txPr>
        <a:bodyPr xmlns:a="http://schemas.openxmlformats.org/drawingml/2006/main" anchorCtr="1"/>
        <a:lstStyle xmlns:a="http://schemas.openxmlformats.org/drawingml/2006/main"/>
        <a:p xmlns:a="http://schemas.openxmlformats.org/drawingml/2006/main">
          <a:pPr>
            <a:defRPr sz="1725">
              <a:solidFill>
                <a:srgbClr val="142C40"/>
              </a:solidFill>
            </a:defRPr>
          </a:pPr>
        </a:p>
      </c:txPr>
    </c:title>
    <c:plotArea>
      <c:barChart>
        <c:barDir val="col"/>
        <c:grouping val="clustered"/>
        <c:varyColors val="0"/>
        <c:ser>
          <c:idx val="0"/>
          <c:order val="0"/>
          <c:tx>
            <c:v>Số căn nhà</c:v>
          </c:tx>
          <c:spPr>
            <a:solidFill xmlns:a="http://schemas.openxmlformats.org/drawingml/2006/main">
              <a:srgbClr val="649CA1"/>
            </a:solidFill>
          </c:spPr>
          <c:invertIfNegative val="0"/>
          <c:cat>
            <c:numRef>
              <c:f>'Chart Data'!$A$2:$A$9</c:f>
              <c:numCache>
                <c:formatCode>General</c:formatCode>
                <c:ptCount val="8"/>
                <c:pt idx="0">
                  <c:v>10.6</c:v>
                </c:pt>
                <c:pt idx="1">
                  <c:v>11.0</c:v>
                </c:pt>
                <c:pt idx="2">
                  <c:v>11.4</c:v>
                </c:pt>
                <c:pt idx="3">
                  <c:v>11.8</c:v>
                </c:pt>
                <c:pt idx="4">
                  <c:v>12.2</c:v>
                </c:pt>
                <c:pt idx="5">
                  <c:v>12.6</c:v>
                </c:pt>
                <c:pt idx="6">
                  <c:v>13.0</c:v>
                </c:pt>
                <c:pt idx="7">
                  <c:v>13.4</c:v>
                </c:pt>
              </c:numCache>
            </c:numRef>
          </c:cat>
          <c:val>
            <c:numRef>
              <c:f>'Chart Data'!$B$2:$B$9</c:f>
              <c:numCache>
                <c:formatCode>#,##0</c:formatCode>
                <c:ptCount val="8"/>
                <c:pt idx="0">
                  <c:v>3</c:v>
                </c:pt>
                <c:pt idx="1">
                  <c:v>15</c:v>
                </c:pt>
                <c:pt idx="2">
                  <c:v>121</c:v>
                </c:pt>
                <c:pt idx="3">
                  <c:v>442</c:v>
                </c:pt>
                <c:pt idx="4">
                  <c:v>395</c:v>
                </c:pt>
                <c:pt idx="5">
                  <c:v>151</c:v>
                </c:pt>
                <c:pt idx="6">
                  <c:v>36</c:v>
                </c:pt>
                <c:pt idx="7">
                  <c:v>5</c:v>
                </c:pt>
              </c:numCache>
            </c:numRef>
          </c:val>
        </c:ser>
        <c:dLbls>
          <c:showLegendKey val="0"/>
          <c:showVal val="0"/>
          <c:showCatName val="0"/>
          <c:showSerName val="0"/>
          <c:showPercent val="0"/>
          <c:showBubbleSize val="0"/>
          <c:showLeaderLines val="0"/>
        </c:dLbls>
        <c:gapWidth val="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t>Số căn nhà</a:t>
                </a:r>
              </a:p>
            </c:rich>
          </c:tx>
          <c:overlay val="0"/>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a:solidFill>
                  <a:srgbClr val="142C40"/>
                </a:solidFill>
              </a:rPr>
              <a:t>Hệ số tương quan với SalePrice</a:t>
            </a:r>
          </a:p>
        </c:rich>
      </c:tx>
      <c:overlay val="0"/>
      <c:txPr>
        <a:bodyPr xmlns:a="http://schemas.openxmlformats.org/drawingml/2006/main" anchorCtr="1"/>
        <a:lstStyle xmlns:a="http://schemas.openxmlformats.org/drawingml/2006/main"/>
        <a:p xmlns:a="http://schemas.openxmlformats.org/drawingml/2006/main">
          <a:pPr>
            <a:defRPr sz="1575">
              <a:solidFill>
                <a:srgbClr val="142C40"/>
              </a:solidFill>
            </a:defRPr>
          </a:pPr>
        </a:p>
      </c:txPr>
    </c:title>
    <c:plotArea>
      <c:barChart>
        <c:barDir val="bar"/>
        <c:grouping val="clustered"/>
        <c:varyColors val="0"/>
        <c:ser>
          <c:idx val="0"/>
          <c:order val="0"/>
          <c:tx>
            <c:v>Hệ số tương quan với SalePrice</c:v>
          </c:tx>
          <c:spPr>
            <a:solidFill xmlns:a="http://schemas.openxmlformats.org/drawingml/2006/main">
              <a:srgbClr val="146C64"/>
            </a:solidFill>
          </c:spPr>
          <c:invertIfNegative val="0"/>
          <c:cat>
            <c:strRef>
              <c:f>'Chart Data'!$A$2:$A$7</c:f>
              <c:strCache>
                <c:ptCount val="6"/>
                <c:pt idx="0">
                  <c:v>OverallQual</c:v>
                </c:pt>
                <c:pt idx="1">
                  <c:v>GrLivArea</c:v>
                </c:pt>
                <c:pt idx="2">
                  <c:v>GarageCars</c:v>
                </c:pt>
                <c:pt idx="3">
                  <c:v>GarageArea</c:v>
                </c:pt>
                <c:pt idx="4">
                  <c:v>TotalBsmtSF</c:v>
                </c:pt>
                <c:pt idx="5">
                  <c:v>1stFlrSF</c:v>
                </c:pt>
              </c:strCache>
            </c:strRef>
          </c:cat>
          <c:val>
            <c:numRef>
              <c:f>'Chart Data'!$B$2:$B$7</c:f>
              <c:numCache>
                <c:formatCode>0.000</c:formatCode>
                <c:ptCount val="6"/>
                <c:pt idx="0">
                  <c:v>0.7903</c:v>
                </c:pt>
                <c:pt idx="1">
                  <c:v>0.7052</c:v>
                </c:pt>
                <c:pt idx="2">
                  <c:v>0.6377</c:v>
                </c:pt>
                <c:pt idx="3">
                  <c:v>0.6084</c:v>
                </c:pt>
                <c:pt idx="4">
                  <c:v>0.5994</c:v>
                </c:pt>
                <c:pt idx="5">
                  <c:v>0.598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142C4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72768"/>
      </c:catAx>
      <c:valAx>
        <c:axId val="48672768"/>
        <c:scaling>
          <c:orientation val="minMax"/>
        </c:scaling>
        <c:delete val="0"/>
        <c:axPos val="b"/>
        <c:numFmt formatCode="0.000"/>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a:solidFill>
                  <a:srgbClr val="142C40"/>
                </a:solidFill>
              </a:rPr>
              <a:t>Validation RMSE (USD)</a:t>
            </a:r>
          </a:p>
        </c:rich>
      </c:tx>
      <c:overlay val="0"/>
      <c:txPr>
        <a:bodyPr xmlns:a="http://schemas.openxmlformats.org/drawingml/2006/main" anchorCtr="1"/>
        <a:lstStyle xmlns:a="http://schemas.openxmlformats.org/drawingml/2006/main"/>
        <a:p xmlns:a="http://schemas.openxmlformats.org/drawingml/2006/main">
          <a:pPr>
            <a:defRPr sz="1575">
              <a:solidFill>
                <a:srgbClr val="142C40"/>
              </a:solidFill>
            </a:defRPr>
          </a:pPr>
        </a:p>
      </c:txPr>
    </c:title>
    <c:plotArea>
      <c:barChart>
        <c:barDir val="bar"/>
        <c:grouping val="clustered"/>
        <c:varyColors val="0"/>
        <c:ser>
          <c:idx val="0"/>
          <c:order val="0"/>
          <c:tx>
            <c:v>Validation RMSE (USD)</c:v>
          </c:tx>
          <c:spPr>
            <a:solidFill xmlns:a="http://schemas.openxmlformats.org/drawingml/2006/main">
              <a:srgbClr val="146C64"/>
            </a:solidFill>
          </c:spPr>
          <c:invertIfNegative val="0"/>
          <c:cat>
            <c:strRef>
              <c:f>'Chart Data'!$A$2:$A$11</c:f>
              <c:strCache>
                <c:ptCount val="10"/>
                <c:pt idx="0">
                  <c:v>ElasticNet</c:v>
                </c:pt>
                <c:pt idx="1">
                  <c:v>Ridge</c:v>
                </c:pt>
                <c:pt idx="2">
                  <c:v>LinearRegression</c:v>
                </c:pt>
                <c:pt idx="3">
                  <c:v>ExtraTrees</c:v>
                </c:pt>
                <c:pt idx="4">
                  <c:v>RandomForest</c:v>
                </c:pt>
                <c:pt idx="5">
                  <c:v>DecisionTree</c:v>
                </c:pt>
                <c:pt idx="6">
                  <c:v>KNeighbors</c:v>
                </c:pt>
                <c:pt idx="7">
                  <c:v>HistGB</c:v>
                </c:pt>
                <c:pt idx="8">
                  <c:v>GB</c:v>
                </c:pt>
                <c:pt idx="9">
                  <c:v>Dummy</c:v>
                </c:pt>
              </c:strCache>
            </c:strRef>
          </c:cat>
          <c:val>
            <c:numRef>
              <c:f>'Chart Data'!$B$2:$B$11</c:f>
              <c:numCache>
                <c:formatCode>#,##0</c:formatCode>
                <c:ptCount val="10"/>
                <c:pt idx="0">
                  <c:v>24855.66</c:v>
                </c:pt>
                <c:pt idx="1">
                  <c:v>25213.2</c:v>
                </c:pt>
                <c:pt idx="2">
                  <c:v>26276.88</c:v>
                </c:pt>
                <c:pt idx="3">
                  <c:v>26552.11</c:v>
                </c:pt>
                <c:pt idx="4">
                  <c:v>27861.07</c:v>
                </c:pt>
                <c:pt idx="5">
                  <c:v>31457.93</c:v>
                </c:pt>
                <c:pt idx="6">
                  <c:v>34184.2</c:v>
                </c:pt>
                <c:pt idx="7">
                  <c:v>36644.32</c:v>
                </c:pt>
                <c:pt idx="8">
                  <c:v>53014.24</c:v>
                </c:pt>
                <c:pt idx="9">
                  <c:v>88612.2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350">
                  <a:solidFill>
                    <a:srgbClr val="142C4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72768"/>
      </c:catAx>
      <c:valAx>
        <c:axId val="48672768"/>
        <c:scaling>
          <c:orientation val="minMax"/>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a:solidFill>
                  <a:srgbClr val="142C40"/>
                </a:solidFill>
              </a:rPr>
              <a:t>MAE theo nhóm giá (USD)</a:t>
            </a:r>
          </a:p>
        </c:rich>
      </c:tx>
      <c:overlay val="0"/>
      <c:txPr>
        <a:bodyPr xmlns:a="http://schemas.openxmlformats.org/drawingml/2006/main" anchorCtr="1"/>
        <a:lstStyle xmlns:a="http://schemas.openxmlformats.org/drawingml/2006/main"/>
        <a:p xmlns:a="http://schemas.openxmlformats.org/drawingml/2006/main">
          <a:pPr>
            <a:defRPr sz="1575">
              <a:solidFill>
                <a:srgbClr val="142C40"/>
              </a:solidFill>
            </a:defRPr>
          </a:pPr>
        </a:p>
      </c:txPr>
    </c:title>
    <c:plotArea>
      <c:barChart>
        <c:barDir val="bar"/>
        <c:grouping val="clustered"/>
        <c:varyColors val="0"/>
        <c:ser>
          <c:idx val="0"/>
          <c:order val="0"/>
          <c:tx>
            <c:v>MAE theo nhóm giá (USD)</c:v>
          </c:tx>
          <c:spPr>
            <a:solidFill xmlns:a="http://schemas.openxmlformats.org/drawingml/2006/main">
              <a:srgbClr val="146C64"/>
            </a:solidFill>
          </c:spPr>
          <c:invertIfNegative val="0"/>
          <c:cat>
            <c:strRef>
              <c:f>'Chart Data'!$A$2:$A$5</c:f>
              <c:strCache>
                <c:ptCount val="4"/>
                <c:pt idx="0">
                  <c:v>Q1 - thấp</c:v>
                </c:pt>
                <c:pt idx="1">
                  <c:v>Q2</c:v>
                </c:pt>
                <c:pt idx="2">
                  <c:v>Q3</c:v>
                </c:pt>
                <c:pt idx="3">
                  <c:v>Q4 - cao</c:v>
                </c:pt>
              </c:strCache>
            </c:strRef>
          </c:cat>
          <c:val>
            <c:numRef>
              <c:f>'Chart Data'!$B$2:$B$5</c:f>
              <c:numCache>
                <c:formatCode>#,##0</c:formatCode>
                <c:ptCount val="4"/>
                <c:pt idx="0">
                  <c:v>10360.39</c:v>
                </c:pt>
                <c:pt idx="1">
                  <c:v>9551.12</c:v>
                </c:pt>
                <c:pt idx="2">
                  <c:v>14265.9</c:v>
                </c:pt>
                <c:pt idx="3">
                  <c:v>27418.52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350">
                  <a:solidFill>
                    <a:srgbClr val="142C4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72768"/>
      </c:catAx>
      <c:valAx>
        <c:axId val="48672768"/>
        <c:scaling>
          <c:orientation val="minMax"/>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a:solidFill>
                  <a:srgbClr val="142C40"/>
                </a:solidFill>
              </a:rPr>
              <a:t>Mức tăng RMSE khi hoán vị (USD)</a:t>
            </a:r>
          </a:p>
        </c:rich>
      </c:tx>
      <c:overlay val="0"/>
      <c:txPr>
        <a:bodyPr xmlns:a="http://schemas.openxmlformats.org/drawingml/2006/main" anchorCtr="1"/>
        <a:lstStyle xmlns:a="http://schemas.openxmlformats.org/drawingml/2006/main"/>
        <a:p xmlns:a="http://schemas.openxmlformats.org/drawingml/2006/main">
          <a:pPr>
            <a:defRPr sz="1575">
              <a:solidFill>
                <a:srgbClr val="142C40"/>
              </a:solidFill>
            </a:defRPr>
          </a:pPr>
        </a:p>
      </c:txPr>
    </c:title>
    <c:plotArea>
      <c:barChart>
        <c:barDir val="bar"/>
        <c:grouping val="clustered"/>
        <c:varyColors val="0"/>
        <c:ser>
          <c:idx val="0"/>
          <c:order val="0"/>
          <c:tx>
            <c:v>Mức tăng RMSE khi hoán vị (USD)</c:v>
          </c:tx>
          <c:spPr>
            <a:solidFill xmlns:a="http://schemas.openxmlformats.org/drawingml/2006/main">
              <a:srgbClr val="146C64"/>
            </a:solidFill>
          </c:spPr>
          <c:invertIfNegative val="0"/>
          <c:cat>
            <c:strRef>
              <c:f>'Chart Data'!$A$2:$A$8</c:f>
              <c:strCache>
                <c:ptCount val="7"/>
                <c:pt idx="0">
                  <c:v>GrLivArea</c:v>
                </c:pt>
                <c:pt idx="1">
                  <c:v>OverallQual</c:v>
                </c:pt>
                <c:pt idx="2">
                  <c:v>Neighborhood</c:v>
                </c:pt>
                <c:pt idx="3">
                  <c:v>GarageCars</c:v>
                </c:pt>
                <c:pt idx="4">
                  <c:v>LotArea</c:v>
                </c:pt>
                <c:pt idx="5">
                  <c:v>YearBuilt</c:v>
                </c:pt>
                <c:pt idx="6">
                  <c:v>KitchenQual</c:v>
                </c:pt>
              </c:strCache>
            </c:strRef>
          </c:cat>
          <c:val>
            <c:numRef>
              <c:f>'Chart Data'!$B$2:$B$8</c:f>
              <c:numCache>
                <c:formatCode>#,##0</c:formatCode>
                <c:ptCount val="7"/>
                <c:pt idx="0">
                  <c:v>9910.12</c:v>
                </c:pt>
                <c:pt idx="1">
                  <c:v>8734.33</c:v>
                </c:pt>
                <c:pt idx="2">
                  <c:v>5256.71</c:v>
                </c:pt>
                <c:pt idx="3">
                  <c:v>3076.45</c:v>
                </c:pt>
                <c:pt idx="4">
                  <c:v>2269.53</c:v>
                </c:pt>
                <c:pt idx="5">
                  <c:v>1777.64</c:v>
                </c:pt>
                <c:pt idx="6">
                  <c:v>1730.04</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350">
                  <a:solidFill>
                    <a:srgbClr val="142C4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42C40"/>
                </a:solidFill>
              </a:defRPr>
            </a:pPr>
          </a:p>
        </c:txPr>
        <c:crossAx val="48672768"/>
      </c:catAx>
      <c:valAx>
        <c:axId val="48672768"/>
        <c:scaling>
          <c:orientation val="minMax"/>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42C40"/>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C4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532CFD-3AFB-499A-8190-2DB8BF5251BD}"/>
              </a:ext>
            </a:extLst>
          </p:cNvPr>
          <p:cNvSpPr>
            <a:spLocks xmlns:a="http://schemas.openxmlformats.org/drawingml/2006/main" noGrp="1"/>
          </p:cNvSpPr>
          <p:nvPr/>
        </p:nvSpPr>
        <p:spPr>
          <a:xfrm xmlns:a="http://schemas.openxmlformats.org/drawingml/2006/main">
            <a:off x="619125" y="619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C3DADD"/>
                </a:solidFill>
              </a:defRPr>
            </a:defPPr>
            <a:lvl1pPr>
              <a:buNone/>
              <a:defRPr sz="1725" b="0">
                <a:solidFill>
                  <a:srgbClr val="C3DADD"/>
                </a:solidFill>
              </a:defRPr>
            </a:lvl1pPr>
            <a:lvl2pPr>
              <a:buNone/>
              <a:defRPr sz="1725" b="0">
                <a:solidFill>
                  <a:srgbClr val="C3DADD"/>
                </a:solidFill>
              </a:defRPr>
            </a:lvl2pPr>
            <a:lvl3pPr>
              <a:buNone/>
              <a:defRPr sz="1725" b="0">
                <a:solidFill>
                  <a:srgbClr val="C3DADD"/>
                </a:solidFill>
              </a:defRPr>
            </a:lvl3pPr>
            <a:lvl4pPr>
              <a:buNone/>
              <a:defRPr sz="1725" b="0">
                <a:solidFill>
                  <a:srgbClr val="C3DADD"/>
                </a:solidFill>
              </a:defRPr>
            </a:lvl4pPr>
            <a:lvl5pPr>
              <a:buNone/>
              <a:defRPr sz="1725" b="0">
                <a:solidFill>
                  <a:srgbClr val="C3DADD"/>
                </a:solidFill>
              </a:defRPr>
            </a:lvl5pPr>
            <a:lvl6pPr>
              <a:buNone/>
              <a:defRPr sz="1725" b="0">
                <a:solidFill>
                  <a:srgbClr val="C3DADD"/>
                </a:solidFill>
              </a:defRPr>
            </a:lvl6pPr>
            <a:lvl7pPr>
              <a:buNone/>
              <a:defRPr sz="1725" b="0">
                <a:solidFill>
                  <a:srgbClr val="C3DADD"/>
                </a:solidFill>
              </a:defRPr>
            </a:lvl7pPr>
            <a:lvl8pPr>
              <a:buNone/>
              <a:defRPr sz="1725" b="0">
                <a:solidFill>
                  <a:srgbClr val="C3DADD"/>
                </a:solidFill>
              </a:defRPr>
            </a:lvl8pPr>
            <a:lvl9pPr>
              <a:buNone/>
              <a:defRPr sz="1725" b="0">
                <a:solidFill>
                  <a:srgbClr val="C3DADD"/>
                </a:solidFill>
              </a:defRPr>
            </a:lvl9pPr>
          </a:lstStyle>
          <a:p xmlns:a="http://schemas.openxmlformats.org/drawingml/2006/main">
            <a:pPr>
              <a:buNone/>
              <a:defRPr sz="1725" b="0">
                <a:solidFill>
                  <a:srgbClr val="C3DADD"/>
                </a:solidFill>
              </a:defRPr>
            </a:pPr>
            <a:r>
              <a:rPr sz="1725" b="0">
                <a:solidFill>
                  <a:srgbClr val="C3DADD"/>
                </a:solidFill>
              </a:rPr>
              <a:t>ĐẠI HỌC PHENIKAA · BÀI TẬP LỚN MÔN HỌC MÁY</a:t>
            </a:r>
          </a:p>
        </p:txBody>
      </p:sp>
      <p:sp>
        <p:nvSpPr>
          <p:cNvPr id="2" name="">
            <a:extLst xmlns:a="http://schemas.openxmlformats.org/drawingml/2006/main">
              <a:ext uri="{FF2B5EF4-FFF2-40B4-BE49-F238E27FC236}">
                <a16:creationId xmlns:a16="http://schemas.microsoft.com/office/drawing/2014/main" id="{BCCFD27D-1E49-452C-9704-06EA69904A72}"/>
              </a:ext>
            </a:extLst>
          </p:cNvPr>
          <p:cNvSpPr>
            <a:spLocks xmlns:a="http://schemas.openxmlformats.org/drawingml/2006/main" noGrp="1"/>
          </p:cNvSpPr>
          <p:nvPr/>
        </p:nvSpPr>
        <p:spPr>
          <a:xfrm xmlns:a="http://schemas.openxmlformats.org/drawingml/2006/main">
            <a:off x="619125" y="17145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defRPr>
            </a:defPPr>
            <a:lvl1pPr>
              <a:buNone/>
              <a:defRPr sz="3900" b="1">
                <a:solidFill>
                  <a:srgbClr val="FFFFFF"/>
                </a:solidFill>
              </a:defRPr>
            </a:lvl1pPr>
            <a:lvl2pPr>
              <a:buNone/>
              <a:defRPr sz="3900" b="1">
                <a:solidFill>
                  <a:srgbClr val="FFFFFF"/>
                </a:solidFill>
              </a:defRPr>
            </a:lvl2pPr>
            <a:lvl3pPr>
              <a:buNone/>
              <a:defRPr sz="3900" b="1">
                <a:solidFill>
                  <a:srgbClr val="FFFFFF"/>
                </a:solidFill>
              </a:defRPr>
            </a:lvl3pPr>
            <a:lvl4pPr>
              <a:buNone/>
              <a:defRPr sz="3900" b="1">
                <a:solidFill>
                  <a:srgbClr val="FFFFFF"/>
                </a:solidFill>
              </a:defRPr>
            </a:lvl4pPr>
            <a:lvl5pPr>
              <a:buNone/>
              <a:defRPr sz="3900" b="1">
                <a:solidFill>
                  <a:srgbClr val="FFFFFF"/>
                </a:solidFill>
              </a:defRPr>
            </a:lvl5pPr>
            <a:lvl6pPr>
              <a:buNone/>
              <a:defRPr sz="3900" b="1">
                <a:solidFill>
                  <a:srgbClr val="FFFFFF"/>
                </a:solidFill>
              </a:defRPr>
            </a:lvl6pPr>
            <a:lvl7pPr>
              <a:buNone/>
              <a:defRPr sz="3900" b="1">
                <a:solidFill>
                  <a:srgbClr val="FFFFFF"/>
                </a:solidFill>
              </a:defRPr>
            </a:lvl7pPr>
            <a:lvl8pPr>
              <a:buNone/>
              <a:defRPr sz="3900" b="1">
                <a:solidFill>
                  <a:srgbClr val="FFFFFF"/>
                </a:solidFill>
              </a:defRPr>
            </a:lvl8pPr>
            <a:lvl9pPr>
              <a:buNone/>
              <a:defRPr sz="3900" b="1">
                <a:solidFill>
                  <a:srgbClr val="FFFFFF"/>
                </a:solidFill>
              </a:defRPr>
            </a:lvl9pPr>
          </a:lstStyle>
          <a:p xmlns:a="http://schemas.openxmlformats.org/drawingml/2006/main">
            <a:pPr>
              <a:buNone/>
              <a:defRPr sz="3900" b="1">
                <a:solidFill>
                  <a:srgbClr val="FFFFFF"/>
                </a:solidFill>
              </a:defRPr>
            </a:pPr>
            <a:r>
              <a:rPr sz="3900" b="1">
                <a:solidFill>
                  <a:srgbClr val="FFFFFF"/>
                </a:solidFill>
              </a:rPr>
              <a:t>Dự báo giá nhà</a:t>
            </a:r>
          </a:p>
          <a:p xmlns:a="http://schemas.openxmlformats.org/drawingml/2006/main">
            <a:pPr>
              <a:buNone/>
              <a:defRPr sz="3900" b="1">
                <a:solidFill>
                  <a:srgbClr val="FFFFFF"/>
                </a:solidFill>
              </a:defRPr>
            </a:pPr>
            <a:r>
              <a:rPr sz="3900" b="1">
                <a:solidFill>
                  <a:srgbClr val="FFFFFF"/>
                </a:solidFill>
              </a:rPr>
              <a:t>House Prices – Ames Housing</a:t>
            </a:r>
          </a:p>
        </p:txBody>
      </p:sp>
      <p:sp>
        <p:nvSpPr>
          <p:cNvPr id="3" name="">
            <a:extLst xmlns:a="http://schemas.openxmlformats.org/drawingml/2006/main">
              <a:ext uri="{FF2B5EF4-FFF2-40B4-BE49-F238E27FC236}">
                <a16:creationId xmlns:a16="http://schemas.microsoft.com/office/drawing/2014/main" id="{19BF3915-3C3A-42EA-AD35-5EE612601442}"/>
              </a:ext>
            </a:extLst>
          </p:cNvPr>
          <p:cNvSpPr>
            <a:spLocks xmlns:a="http://schemas.openxmlformats.org/drawingml/2006/main" noGrp="1"/>
          </p:cNvSpPr>
          <p:nvPr/>
        </p:nvSpPr>
        <p:spPr>
          <a:xfrm xmlns:a="http://schemas.openxmlformats.org/drawingml/2006/main">
            <a:off x="647700" y="3952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D9E8ED"/>
                </a:solidFill>
              </a:defRPr>
            </a:defPPr>
            <a:lvl1pPr>
              <a:buNone/>
              <a:defRPr sz="2250" b="0">
                <a:solidFill>
                  <a:srgbClr val="D9E8ED"/>
                </a:solidFill>
              </a:defRPr>
            </a:lvl1pPr>
            <a:lvl2pPr>
              <a:buNone/>
              <a:defRPr sz="2250" b="0">
                <a:solidFill>
                  <a:srgbClr val="D9E8ED"/>
                </a:solidFill>
              </a:defRPr>
            </a:lvl2pPr>
            <a:lvl3pPr>
              <a:buNone/>
              <a:defRPr sz="2250" b="0">
                <a:solidFill>
                  <a:srgbClr val="D9E8ED"/>
                </a:solidFill>
              </a:defRPr>
            </a:lvl3pPr>
            <a:lvl4pPr>
              <a:buNone/>
              <a:defRPr sz="2250" b="0">
                <a:solidFill>
                  <a:srgbClr val="D9E8ED"/>
                </a:solidFill>
              </a:defRPr>
            </a:lvl4pPr>
            <a:lvl5pPr>
              <a:buNone/>
              <a:defRPr sz="2250" b="0">
                <a:solidFill>
                  <a:srgbClr val="D9E8ED"/>
                </a:solidFill>
              </a:defRPr>
            </a:lvl5pPr>
            <a:lvl6pPr>
              <a:buNone/>
              <a:defRPr sz="2250" b="0">
                <a:solidFill>
                  <a:srgbClr val="D9E8ED"/>
                </a:solidFill>
              </a:defRPr>
            </a:lvl6pPr>
            <a:lvl7pPr>
              <a:buNone/>
              <a:defRPr sz="2250" b="0">
                <a:solidFill>
                  <a:srgbClr val="D9E8ED"/>
                </a:solidFill>
              </a:defRPr>
            </a:lvl7pPr>
            <a:lvl8pPr>
              <a:buNone/>
              <a:defRPr sz="2250" b="0">
                <a:solidFill>
                  <a:srgbClr val="D9E8ED"/>
                </a:solidFill>
              </a:defRPr>
            </a:lvl8pPr>
            <a:lvl9pPr>
              <a:buNone/>
              <a:defRPr sz="2250" b="0">
                <a:solidFill>
                  <a:srgbClr val="D9E8ED"/>
                </a:solidFill>
              </a:defRPr>
            </a:lvl9pPr>
          </a:lstStyle>
          <a:p xmlns:a="http://schemas.openxmlformats.org/drawingml/2006/main">
            <a:pPr>
              <a:buNone/>
              <a:defRPr sz="2250" b="0">
                <a:solidFill>
                  <a:srgbClr val="D9E8ED"/>
                </a:solidFill>
              </a:defRPr>
            </a:pPr>
            <a:r>
              <a:rPr sz="2250" b="0">
                <a:solidFill>
                  <a:srgbClr val="D9E8ED"/>
                </a:solidFill>
              </a:rPr>
              <a:t>Nhóm 5 · So sánh các mô hình hồi quy</a:t>
            </a:r>
          </a:p>
          <a:p xmlns:a="http://schemas.openxmlformats.org/drawingml/2006/main">
            <a:pPr>
              <a:buNone/>
              <a:defRPr sz="2250" b="0">
                <a:solidFill>
                  <a:srgbClr val="D9E8ED"/>
                </a:solidFill>
              </a:defRPr>
            </a:pPr>
            <a:r>
              <a:rPr sz="2250" b="0">
                <a:solidFill>
                  <a:srgbClr val="D9E8ED"/>
                </a:solidFill>
              </a:rPr>
              <a:t>Pipeline từ dữ liệu bảng đến dự báo giá bán</a:t>
            </a:r>
          </a:p>
        </p:txBody>
      </p:sp>
      <p:sp>
        <p:nvSpPr>
          <p:cNvPr id="4" name="">
            <a:extLst xmlns:a="http://schemas.openxmlformats.org/drawingml/2006/main">
              <a:ext uri="{FF2B5EF4-FFF2-40B4-BE49-F238E27FC236}">
                <a16:creationId xmlns:a16="http://schemas.microsoft.com/office/drawing/2014/main" id="{EE3B345C-46CB-412A-BC62-2613838AE946}"/>
              </a:ext>
            </a:extLst>
          </p:cNvPr>
          <p:cNvSpPr>
            <a:spLocks xmlns:a="http://schemas.openxmlformats.org/drawingml/2006/main" noGrp="1"/>
          </p:cNvSpPr>
          <p:nvPr/>
        </p:nvSpPr>
        <p:spPr>
          <a:xfrm xmlns:a="http://schemas.openxmlformats.org/drawingml/2006/main">
            <a:off x="647700" y="55721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9E8ED"/>
                </a:solidFill>
              </a:defRPr>
            </a:defPPr>
            <a:lvl1pPr>
              <a:buNone/>
              <a:defRPr sz="1875" b="0">
                <a:solidFill>
                  <a:srgbClr val="D9E8ED"/>
                </a:solidFill>
              </a:defRPr>
            </a:lvl1pPr>
            <a:lvl2pPr>
              <a:buNone/>
              <a:defRPr sz="1875" b="0">
                <a:solidFill>
                  <a:srgbClr val="D9E8ED"/>
                </a:solidFill>
              </a:defRPr>
            </a:lvl2pPr>
            <a:lvl3pPr>
              <a:buNone/>
              <a:defRPr sz="1875" b="0">
                <a:solidFill>
                  <a:srgbClr val="D9E8ED"/>
                </a:solidFill>
              </a:defRPr>
            </a:lvl3pPr>
            <a:lvl4pPr>
              <a:buNone/>
              <a:defRPr sz="1875" b="0">
                <a:solidFill>
                  <a:srgbClr val="D9E8ED"/>
                </a:solidFill>
              </a:defRPr>
            </a:lvl4pPr>
            <a:lvl5pPr>
              <a:buNone/>
              <a:defRPr sz="1875" b="0">
                <a:solidFill>
                  <a:srgbClr val="D9E8ED"/>
                </a:solidFill>
              </a:defRPr>
            </a:lvl5pPr>
            <a:lvl6pPr>
              <a:buNone/>
              <a:defRPr sz="1875" b="0">
                <a:solidFill>
                  <a:srgbClr val="D9E8ED"/>
                </a:solidFill>
              </a:defRPr>
            </a:lvl6pPr>
            <a:lvl7pPr>
              <a:buNone/>
              <a:defRPr sz="1875" b="0">
                <a:solidFill>
                  <a:srgbClr val="D9E8ED"/>
                </a:solidFill>
              </a:defRPr>
            </a:lvl7pPr>
            <a:lvl8pPr>
              <a:buNone/>
              <a:defRPr sz="1875" b="0">
                <a:solidFill>
                  <a:srgbClr val="D9E8ED"/>
                </a:solidFill>
              </a:defRPr>
            </a:lvl8pPr>
            <a:lvl9pPr>
              <a:buNone/>
              <a:defRPr sz="1875" b="0">
                <a:solidFill>
                  <a:srgbClr val="D9E8ED"/>
                </a:solidFill>
              </a:defRPr>
            </a:lvl9pPr>
          </a:lstStyle>
          <a:p xmlns:a="http://schemas.openxmlformats.org/drawingml/2006/main">
            <a:pPr>
              <a:buNone/>
              <a:defRPr sz="1875" b="0">
                <a:solidFill>
                  <a:srgbClr val="D9E8ED"/>
                </a:solidFill>
              </a:defRPr>
            </a:pPr>
            <a:r>
              <a:rPr sz="1875" b="0">
                <a:solidFill>
                  <a:srgbClr val="D9E8ED"/>
                </a:solidFill>
              </a:rPr>
              <a:t>1.460 quan sát · 79 biến đầu vào · Train / Val / Test: 80 / 10 / 10</a:t>
            </a:r>
          </a:p>
        </p:txBody>
      </p:sp>
    </p:spTree>
    <p:extLst>
      <p:ext uri="{BB962C8B-B14F-4D97-AF65-F5344CB8AC3E}">
        <p14:creationId xmlns:p14="http://schemas.microsoft.com/office/powerpoint/2010/main" val="1684821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Thông tin nhóm thực hiện</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Nhóm 5 · Giảng viên TS. Nguyễn Ngọc Giang</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02</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8EACD5D7-0D39-45C3-8605-A5F428DF2560}"/>
              </a:ext>
            </a:extLst>
          </p:cNvPr>
          <p:cNvGraphicFramePr/>
          <p:nvPr/>
        </p:nvGraphicFramePr>
        <p:xfrm>
          <a:off xmlns:a="http://schemas.openxmlformats.org/drawingml/2006/main" x="619125" y="2143125"/>
          <a:ext xmlns:a="http://schemas.openxmlformats.org/drawingml/2006/main" cx="10953750" cy="3048000"/>
        </p:xfrm>
        <a:graphic xmlns:a="http://schemas.openxmlformats.org/drawingml/2006/main">
          <a:graphicData uri="http://schemas.openxmlformats.org/drawingml/2006/table">
            <a:tbl>
              <a:tblPr firstRow="0" bandRow="0"/>
              <a:tblGrid>
                <a:gridCol w="4476750"/>
                <a:gridCol w="2095500"/>
                <a:gridCol w="4381500"/>
              </a:tblGrid>
              <a:tr h="609600">
                <a:tc>
                  <a:txBody>
                    <a:bodyPr/>
                    <a:lstStyle/>
                    <a:p>
                      <a:pPr algn="l"/>
                      <a:r>
                        <a:rPr sz="1875" b="1">
                          <a:solidFill>
                            <a:srgbClr val="142C40"/>
                          </a:solidFill>
                          <a:latin typeface="Aptos"/>
                          <a:ea typeface="Aptos"/>
                          <a:cs typeface="Aptos"/>
                        </a:rPr>
                        <a:t>Họ và tên</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875" b="1">
                          <a:solidFill>
                            <a:srgbClr val="142C40"/>
                          </a:solidFill>
                          <a:latin typeface="Aptos"/>
                          <a:ea typeface="Aptos"/>
                          <a:cs typeface="Aptos"/>
                        </a:rPr>
                        <a:t>MSSV</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875" b="1">
                          <a:solidFill>
                            <a:srgbClr val="142C40"/>
                          </a:solidFill>
                          <a:latin typeface="Aptos"/>
                          <a:ea typeface="Aptos"/>
                          <a:cs typeface="Aptos"/>
                        </a:rPr>
                        <a:t>Phụ trách</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09600">
                <a:tc>
                  <a:txBody>
                    <a:bodyPr/>
                    <a:lstStyle/>
                    <a:p>
                      <a:pPr algn="l"/>
                      <a:r>
                        <a:rPr sz="1875" b="0">
                          <a:solidFill>
                            <a:srgbClr val="142C40"/>
                          </a:solidFill>
                          <a:latin typeface="Aptos"/>
                          <a:ea typeface="Aptos"/>
                          <a:cs typeface="Aptos"/>
                        </a:rPr>
                        <a:t>Nguyễn Tùng Dương</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24100358</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Dữ liệu và EDA</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9600">
                <a:tc>
                  <a:txBody>
                    <a:bodyPr/>
                    <a:lstStyle/>
                    <a:p>
                      <a:pPr algn="l"/>
                      <a:r>
                        <a:rPr sz="1875" b="0">
                          <a:solidFill>
                            <a:srgbClr val="142C40"/>
                          </a:solidFill>
                          <a:latin typeface="Aptos"/>
                          <a:ea typeface="Aptos"/>
                          <a:cs typeface="Aptos"/>
                        </a:rPr>
                        <a:t>Nguyễn Anh Tuấn</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24100324</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Tiền xử lý, đặc trưng</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9600">
                <a:tc>
                  <a:txBody>
                    <a:bodyPr/>
                    <a:lstStyle/>
                    <a:p>
                      <a:pPr algn="l"/>
                      <a:r>
                        <a:rPr sz="1875" b="0">
                          <a:solidFill>
                            <a:srgbClr val="142C40"/>
                          </a:solidFill>
                          <a:latin typeface="Aptos"/>
                          <a:ea typeface="Aptos"/>
                          <a:cs typeface="Aptos"/>
                        </a:rPr>
                        <a:t>Nguyễn Hưng Vũ</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24102769</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Mô hình, đánh giá</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9600">
                <a:tc>
                  <a:txBody>
                    <a:bodyPr/>
                    <a:lstStyle/>
                    <a:p>
                      <a:pPr algn="l"/>
                      <a:r>
                        <a:rPr sz="1875" b="0">
                          <a:solidFill>
                            <a:srgbClr val="142C40"/>
                          </a:solidFill>
                          <a:latin typeface="Aptos"/>
                          <a:ea typeface="Aptos"/>
                          <a:cs typeface="Aptos"/>
                        </a:rPr>
                        <a:t>Đào Trọng Đức</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24107712</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Ứng dụng, kiểm thử</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AA936DBE-7A94-4966-9E67-A90D1EE1BC9F}"/>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Hà Nội, tháng 10 năm 2026 · Mã lớp học phần chưa bổ sung.</a:t>
            </a:r>
          </a:p>
        </p:txBody>
      </p:sp>
    </p:spTree>
    <p:extLst>
      <p:ext uri="{BB962C8B-B14F-4D97-AF65-F5344CB8AC3E}">
        <p14:creationId xmlns:p14="http://schemas.microsoft.com/office/powerpoint/2010/main" val="17318072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Nội dung trình bày</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Bốn phần theo luồng từ dữ liệu đến sản phẩm</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03</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7D904B16-5EAE-442D-9C98-9646DE2B2005}"/>
              </a:ext>
            </a:extLst>
          </p:cNvPr>
          <p:cNvSpPr>
            <a:spLocks xmlns:a="http://schemas.openxmlformats.org/drawingml/2006/main" noGrp="1"/>
          </p:cNvSpPr>
          <p:nvPr/>
        </p:nvSpPr>
        <p:spPr>
          <a:xfrm xmlns:a="http://schemas.openxmlformats.org/drawingml/2006/main">
            <a:off x="619125" y="20955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Dương: bài toán, dữ liệu và EDA  |  Trang 1–7</a:t>
            </a:r>
          </a:p>
        </p:txBody>
      </p:sp>
      <p:sp>
        <p:nvSpPr>
          <p:cNvPr id="11" name="">
            <a:extLst xmlns:a="http://schemas.openxmlformats.org/drawingml/2006/main">
              <a:ext uri="{FF2B5EF4-FFF2-40B4-BE49-F238E27FC236}">
                <a16:creationId xmlns:a16="http://schemas.microsoft.com/office/drawing/2014/main" id="{2634A3D0-11B1-4CDF-A638-40CBFB583C8A}"/>
              </a:ext>
            </a:extLst>
          </p:cNvPr>
          <p:cNvSpPr>
            <a:spLocks xmlns:a="http://schemas.openxmlformats.org/drawingml/2006/main" noGrp="1"/>
          </p:cNvSpPr>
          <p:nvPr/>
        </p:nvSpPr>
        <p:spPr>
          <a:xfrm xmlns:a="http://schemas.openxmlformats.org/drawingml/2006/main">
            <a:off x="619125" y="29718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Tuấn: xử lý thiếu, đặc trưng và Pipeline  |  Trang 8–11</a:t>
            </a:r>
          </a:p>
        </p:txBody>
      </p:sp>
      <p:sp>
        <p:nvSpPr>
          <p:cNvPr id="12" name="">
            <a:extLst xmlns:a="http://schemas.openxmlformats.org/drawingml/2006/main">
              <a:ext uri="{FF2B5EF4-FFF2-40B4-BE49-F238E27FC236}">
                <a16:creationId xmlns:a16="http://schemas.microsoft.com/office/drawing/2014/main" id="{051E3FFB-8C03-426D-A6D0-C54D67C1EEB4}"/>
              </a:ext>
            </a:extLst>
          </p:cNvPr>
          <p:cNvSpPr>
            <a:spLocks xmlns:a="http://schemas.openxmlformats.org/drawingml/2006/main" noGrp="1"/>
          </p:cNvSpPr>
          <p:nvPr/>
        </p:nvSpPr>
        <p:spPr>
          <a:xfrm xmlns:a="http://schemas.openxmlformats.org/drawingml/2006/main">
            <a:off x="619125" y="38481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Vũ: mô hình, thực nghiệm và đánh giá  |  Trang 12–20</a:t>
            </a:r>
          </a:p>
        </p:txBody>
      </p:sp>
      <p:sp>
        <p:nvSpPr>
          <p:cNvPr id="13" name="">
            <a:extLst xmlns:a="http://schemas.openxmlformats.org/drawingml/2006/main">
              <a:ext uri="{FF2B5EF4-FFF2-40B4-BE49-F238E27FC236}">
                <a16:creationId xmlns:a16="http://schemas.microsoft.com/office/drawing/2014/main" id="{5DC2D73C-5B39-44A2-9649-246AE6E822BC}"/>
              </a:ext>
            </a:extLst>
          </p:cNvPr>
          <p:cNvSpPr>
            <a:spLocks xmlns:a="http://schemas.openxmlformats.org/drawingml/2006/main" noGrp="1"/>
          </p:cNvSpPr>
          <p:nvPr/>
        </p:nvSpPr>
        <p:spPr>
          <a:xfrm xmlns:a="http://schemas.openxmlformats.org/drawingml/2006/main">
            <a:off x="619125" y="47244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Đức: ứng dụng, kiểm thử và kết luận  |  Trang 21–25</a:t>
            </a:r>
          </a:p>
        </p:txBody>
      </p:sp>
    </p:spTree>
    <p:extLst>
      <p:ext uri="{BB962C8B-B14F-4D97-AF65-F5344CB8AC3E}">
        <p14:creationId xmlns:p14="http://schemas.microsoft.com/office/powerpoint/2010/main" val="17318072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Bài toán và mục tiêu</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Đầu vào, đầu ra và phạm vi sử dụng</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04</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6933EBC9-5ACC-44C1-BEA3-15CF59224144}"/>
              </a:ext>
            </a:extLst>
          </p:cNvPr>
          <p:cNvSpPr>
            <a:spLocks xmlns:a="http://schemas.openxmlformats.org/drawingml/2006/main" noGrp="1"/>
          </p:cNvSpPr>
          <p:nvPr/>
        </p:nvSpPr>
        <p:spPr>
          <a:xfrm xmlns:a="http://schemas.openxmlformats.org/drawingml/2006/main">
            <a:off x="619125" y="20955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Đầu vào X: 79 thuộc tính của một căn nhà.</a:t>
            </a:r>
          </a:p>
        </p:txBody>
      </p:sp>
      <p:sp>
        <p:nvSpPr>
          <p:cNvPr id="11" name="">
            <a:extLst xmlns:a="http://schemas.openxmlformats.org/drawingml/2006/main">
              <a:ext uri="{FF2B5EF4-FFF2-40B4-BE49-F238E27FC236}">
                <a16:creationId xmlns:a16="http://schemas.microsoft.com/office/drawing/2014/main" id="{577D5F07-0B81-414D-BA3F-B1B74E2688E8}"/>
              </a:ext>
            </a:extLst>
          </p:cNvPr>
          <p:cNvSpPr>
            <a:spLocks xmlns:a="http://schemas.openxmlformats.org/drawingml/2006/main" noGrp="1"/>
          </p:cNvSpPr>
          <p:nvPr/>
        </p:nvSpPr>
        <p:spPr>
          <a:xfrm xmlns:a="http://schemas.openxmlformats.org/drawingml/2006/main">
            <a:off x="619125" y="29718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Đầu ra y: SalePrice, giá bán ước lượng bằng USD.</a:t>
            </a:r>
          </a:p>
        </p:txBody>
      </p:sp>
      <p:sp>
        <p:nvSpPr>
          <p:cNvPr id="12" name="">
            <a:extLst xmlns:a="http://schemas.openxmlformats.org/drawingml/2006/main">
              <a:ext uri="{FF2B5EF4-FFF2-40B4-BE49-F238E27FC236}">
                <a16:creationId xmlns:a16="http://schemas.microsoft.com/office/drawing/2014/main" id="{F6958443-208C-4D81-A6EC-A334675FFEE2}"/>
              </a:ext>
            </a:extLst>
          </p:cNvPr>
          <p:cNvSpPr>
            <a:spLocks xmlns:a="http://schemas.openxmlformats.org/drawingml/2006/main" noGrp="1"/>
          </p:cNvSpPr>
          <p:nvPr/>
        </p:nvSpPr>
        <p:spPr>
          <a:xfrm xmlns:a="http://schemas.openxmlformats.org/drawingml/2006/main">
            <a:off x="619125" y="38481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Mục tiêu: vượt baseline và dùng cùng Pipeline trong ứng dụng.</a:t>
            </a:r>
          </a:p>
        </p:txBody>
      </p:sp>
      <p:sp>
        <p:nvSpPr>
          <p:cNvPr id="13" name="">
            <a:extLst xmlns:a="http://schemas.openxmlformats.org/drawingml/2006/main">
              <a:ext uri="{FF2B5EF4-FFF2-40B4-BE49-F238E27FC236}">
                <a16:creationId xmlns:a16="http://schemas.microsoft.com/office/drawing/2014/main" id="{B701D995-888F-4B0B-AEB3-32EA6230B580}"/>
              </a:ext>
            </a:extLst>
          </p:cNvPr>
          <p:cNvSpPr>
            <a:spLocks xmlns:a="http://schemas.openxmlformats.org/drawingml/2006/main" noGrp="1"/>
          </p:cNvSpPr>
          <p:nvPr/>
        </p:nvSpPr>
        <p:spPr>
          <a:xfrm xmlns:a="http://schemas.openxmlformats.org/drawingml/2006/main">
            <a:off x="619125" y="47244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Id và SalePrice không tham gia tập đặc trưng.</a:t>
            </a:r>
          </a:p>
        </p:txBody>
      </p:sp>
      <p:sp>
        <p:nvSpPr>
          <p:cNvPr id="14" name="">
            <a:extLst xmlns:a="http://schemas.openxmlformats.org/drawingml/2006/main">
              <a:ext uri="{FF2B5EF4-FFF2-40B4-BE49-F238E27FC236}">
                <a16:creationId xmlns:a16="http://schemas.microsoft.com/office/drawing/2014/main" id="{DD4F683D-8F21-48EE-9D7F-78C202BD997D}"/>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Phạm vi: dữ liệu lịch sử tại Ames; kết quả phục vụ học tập.</a:t>
            </a:r>
          </a:p>
        </p:txBody>
      </p:sp>
    </p:spTree>
    <p:extLst>
      <p:ext uri="{BB962C8B-B14F-4D97-AF65-F5344CB8AC3E}">
        <p14:creationId xmlns:p14="http://schemas.microsoft.com/office/powerpoint/2010/main" val="17318072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Dữ liệu và cách chia tập</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House Prices – Ames Housing · 1.460 quan sát có nhãn</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05</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DF7A8C75-AC77-4959-97E0-36D5AB57CBD5}"/>
              </a:ext>
            </a:extLst>
          </p:cNvPr>
          <p:cNvGraphicFramePr/>
          <p:nvPr/>
        </p:nvGraphicFramePr>
        <p:xfrm>
          <a:off xmlns:a="http://schemas.openxmlformats.org/drawingml/2006/main" x="619125" y="2095500"/>
          <a:ext xmlns:a="http://schemas.openxmlformats.org/drawingml/2006/main" cx="10953750" cy="2714625"/>
        </p:xfrm>
        <a:graphic xmlns:a="http://schemas.openxmlformats.org/drawingml/2006/main">
          <a:graphicData uri="http://schemas.openxmlformats.org/drawingml/2006/table">
            <a:tbl>
              <a:tblPr firstRow="0" bandRow="0"/>
              <a:tblGrid>
                <a:gridCol w="2381250"/>
                <a:gridCol w="1905000"/>
                <a:gridCol w="1619250"/>
                <a:gridCol w="5048250"/>
              </a:tblGrid>
              <a:tr h="678656">
                <a:tc>
                  <a:txBody>
                    <a:bodyPr/>
                    <a:lstStyle/>
                    <a:p>
                      <a:pPr algn="l"/>
                      <a:r>
                        <a:rPr sz="2025" b="1">
                          <a:solidFill>
                            <a:srgbClr val="142C40"/>
                          </a:solidFill>
                          <a:latin typeface="Aptos"/>
                          <a:ea typeface="Aptos"/>
                          <a:cs typeface="Aptos"/>
                        </a:rPr>
                        <a:t>Tập</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2025" b="1">
                          <a:solidFill>
                            <a:srgbClr val="142C40"/>
                          </a:solidFill>
                          <a:latin typeface="Aptos"/>
                          <a:ea typeface="Aptos"/>
                          <a:cs typeface="Aptos"/>
                        </a:rPr>
                        <a:t>Số mẫu</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2025" b="1">
                          <a:solidFill>
                            <a:srgbClr val="142C40"/>
                          </a:solidFill>
                          <a:latin typeface="Aptos"/>
                          <a:ea typeface="Aptos"/>
                          <a:cs typeface="Aptos"/>
                        </a:rPr>
                        <a:t>Tỷ lệ</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2025" b="1">
                          <a:solidFill>
                            <a:srgbClr val="142C40"/>
                          </a:solidFill>
                          <a:latin typeface="Aptos"/>
                          <a:ea typeface="Aptos"/>
                          <a:cs typeface="Aptos"/>
                        </a:rPr>
                        <a:t>Vai trò</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78656">
                <a:tc>
                  <a:txBody>
                    <a:bodyPr/>
                    <a:lstStyle/>
                    <a:p>
                      <a:pPr algn="l"/>
                      <a:r>
                        <a:rPr sz="2025" b="0">
                          <a:solidFill>
                            <a:srgbClr val="142C40"/>
                          </a:solidFill>
                          <a:latin typeface="Aptos"/>
                          <a:ea typeface="Aptos"/>
                          <a:cs typeface="Aptos"/>
                        </a:rPr>
                        <a:t>Train</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1.168</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80%</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Fit, CV và tuning</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78656">
                <a:tc>
                  <a:txBody>
                    <a:bodyPr/>
                    <a:lstStyle/>
                    <a:p>
                      <a:pPr algn="l"/>
                      <a:r>
                        <a:rPr sz="2025" b="0">
                          <a:solidFill>
                            <a:srgbClr val="142C40"/>
                          </a:solidFill>
                          <a:latin typeface="Aptos"/>
                          <a:ea typeface="Aptos"/>
                          <a:cs typeface="Aptos"/>
                        </a:rPr>
                        <a:t>Validation</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146</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10%</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So sánh và chốt</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78656">
                <a:tc>
                  <a:txBody>
                    <a:bodyPr/>
                    <a:lstStyle/>
                    <a:p>
                      <a:pPr algn="l"/>
                      <a:r>
                        <a:rPr sz="2025" b="0">
                          <a:solidFill>
                            <a:srgbClr val="142C40"/>
                          </a:solidFill>
                          <a:latin typeface="Aptos"/>
                          <a:ea typeface="Aptos"/>
                          <a:cs typeface="Aptos"/>
                        </a:rPr>
                        <a:t>Test</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146</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10%</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025" b="0">
                          <a:solidFill>
                            <a:srgbClr val="142C40"/>
                          </a:solidFill>
                          <a:latin typeface="Aptos"/>
                          <a:ea typeface="Aptos"/>
                          <a:cs typeface="Aptos"/>
                        </a:rPr>
                        <a:t>Đánh giá sau khi chốt</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F17491F8-EA81-4A7B-AEC8-046EB2C96DFB}"/>
              </a:ext>
            </a:extLst>
          </p:cNvPr>
          <p:cNvSpPr>
            <a:spLocks xmlns:a="http://schemas.openxmlformats.org/drawingml/2006/main" noGrp="1"/>
          </p:cNvSpPr>
          <p:nvPr/>
        </p:nvSpPr>
        <p:spPr>
          <a:xfrm xmlns:a="http://schemas.openxmlformats.org/drawingml/2006/main">
            <a:off x="619125" y="51435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175676"/>
                </a:solidFill>
                <a:latin typeface="Aptos"/>
                <a:ea typeface="Aptos"/>
                <a:cs typeface="Aptos"/>
              </a:defRPr>
            </a:defPPr>
            <a:lvl1pPr algn="l">
              <a:defRPr sz="2175" b="1">
                <a:solidFill>
                  <a:srgbClr val="175676"/>
                </a:solidFill>
                <a:latin typeface="Aptos"/>
                <a:ea typeface="Aptos"/>
                <a:cs typeface="Aptos"/>
              </a:defRPr>
            </a:lvl1pPr>
            <a:lvl2pPr algn="l">
              <a:defRPr sz="2175" b="1">
                <a:solidFill>
                  <a:srgbClr val="175676"/>
                </a:solidFill>
                <a:latin typeface="Aptos"/>
                <a:ea typeface="Aptos"/>
                <a:cs typeface="Aptos"/>
              </a:defRPr>
            </a:lvl2pPr>
            <a:lvl3pPr algn="l">
              <a:defRPr sz="2175" b="1">
                <a:solidFill>
                  <a:srgbClr val="175676"/>
                </a:solidFill>
                <a:latin typeface="Aptos"/>
                <a:ea typeface="Aptos"/>
                <a:cs typeface="Aptos"/>
              </a:defRPr>
            </a:lvl3pPr>
            <a:lvl4pPr algn="l">
              <a:defRPr sz="2175" b="1">
                <a:solidFill>
                  <a:srgbClr val="175676"/>
                </a:solidFill>
                <a:latin typeface="Aptos"/>
                <a:ea typeface="Aptos"/>
                <a:cs typeface="Aptos"/>
              </a:defRPr>
            </a:lvl4pPr>
            <a:lvl5pPr algn="l">
              <a:defRPr sz="2175" b="1">
                <a:solidFill>
                  <a:srgbClr val="175676"/>
                </a:solidFill>
                <a:latin typeface="Aptos"/>
                <a:ea typeface="Aptos"/>
                <a:cs typeface="Aptos"/>
              </a:defRPr>
            </a:lvl5pPr>
            <a:lvl6pPr algn="l">
              <a:defRPr sz="2175" b="1">
                <a:solidFill>
                  <a:srgbClr val="175676"/>
                </a:solidFill>
                <a:latin typeface="Aptos"/>
                <a:ea typeface="Aptos"/>
                <a:cs typeface="Aptos"/>
              </a:defRPr>
            </a:lvl6pPr>
            <a:lvl7pPr algn="l">
              <a:defRPr sz="2175" b="1">
                <a:solidFill>
                  <a:srgbClr val="175676"/>
                </a:solidFill>
                <a:latin typeface="Aptos"/>
                <a:ea typeface="Aptos"/>
                <a:cs typeface="Aptos"/>
              </a:defRPr>
            </a:lvl7pPr>
            <a:lvl8pPr algn="l">
              <a:defRPr sz="2175" b="1">
                <a:solidFill>
                  <a:srgbClr val="175676"/>
                </a:solidFill>
                <a:latin typeface="Aptos"/>
                <a:ea typeface="Aptos"/>
                <a:cs typeface="Aptos"/>
              </a:defRPr>
            </a:lvl8pPr>
            <a:lvl9pPr algn="l">
              <a:defRPr sz="2175" b="1">
                <a:solidFill>
                  <a:srgbClr val="175676"/>
                </a:solidFill>
                <a:latin typeface="Aptos"/>
                <a:ea typeface="Aptos"/>
                <a:cs typeface="Aptos"/>
              </a:defRPr>
            </a:lvl9pPr>
          </a:lstStyle>
          <a:p xmlns:a="http://schemas.openxmlformats.org/drawingml/2006/main">
            <a:pPr algn="l">
              <a:defRPr sz="2175" b="1">
                <a:solidFill>
                  <a:srgbClr val="175676"/>
                </a:solidFill>
                <a:latin typeface="Aptos"/>
                <a:ea typeface="Aptos"/>
                <a:cs typeface="Aptos"/>
              </a:defRPr>
            </a:pPr>
            <a:r>
              <a:rPr sz="2175" b="1">
                <a:solidFill>
                  <a:srgbClr val="175676"/>
                </a:solidFill>
                <a:latin typeface="Aptos"/>
                <a:ea typeface="Aptos"/>
                <a:cs typeface="Aptos"/>
              </a:rPr>
              <a:t>81 cột raw = Id + 79 biến đầu vào + SalePrice</a:t>
            </a:r>
          </a:p>
        </p:txBody>
      </p:sp>
      <p:sp>
        <p:nvSpPr>
          <p:cNvPr id="12" name="">
            <a:extLst xmlns:a="http://schemas.openxmlformats.org/drawingml/2006/main">
              <a:ext uri="{FF2B5EF4-FFF2-40B4-BE49-F238E27FC236}">
                <a16:creationId xmlns:a16="http://schemas.microsoft.com/office/drawing/2014/main" id="{85E9E87D-3C3D-49DF-9FDD-70E7F50D6F55}"/>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Giữ nguyên ba tệp được cung cấp; chưa tái tạo bước chia ban đầu.</a:t>
            </a:r>
          </a:p>
        </p:txBody>
      </p:sp>
    </p:spTree>
    <p:extLst>
      <p:ext uri="{BB962C8B-B14F-4D97-AF65-F5344CB8AC3E}">
        <p14:creationId xmlns:p14="http://schemas.microsoft.com/office/powerpoint/2010/main" val="17318072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Phân phối giá và biến đổi log</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EDA trên train · Quan sát dẫn đến lựa chọn log-target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06</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Chart">
            <a:extLst xmlns:a="http://schemas.openxmlformats.org/drawingml/2006/main">
              <a:ext uri="{FF2B5EF4-FFF2-40B4-BE49-F238E27FC236}">
                <a16:creationId xmlns:a16="http://schemas.microsoft.com/office/drawing/2014/main" id="{9DD4D8A4-F2C3-414D-80B1-B6EA87B8713A}"/>
              </a:ext>
            </a:extLst>
          </p:cNvPr>
          <p:cNvGraphicFramePr/>
          <p:nvPr/>
        </p:nvGraphicFramePr>
        <p:xfrm>
          <a:off xmlns:a="http://schemas.openxmlformats.org/drawingml/2006/main" x="619125" y="2000250"/>
          <a:ext xmlns:a="http://schemas.openxmlformats.org/drawingml/2006/main" cx="5334000" cy="3429000"/>
        </p:xfrm>
        <a:graphic xmlns:a="http://schemas.openxmlformats.org/drawingml/2006/main">
          <a:graphicData uri="http://schemas.openxmlformats.org/drawingml/2006/chart">
            <c:chart xmlns:r="http://schemas.openxmlformats.org/officeDocument/2006/relationships" xmlns:c="http://schemas.openxmlformats.org/drawingml/2006/chart" r:id="Re2c602f9299043c3"/>
          </a:graphicData>
        </a:graphic>
      </p:graphicFrame>
      <p:graphicFrame>
        <p:nvGraphicFramePr>
          <p:cNvPr id="11" name="Chart">
            <a:extLst xmlns:a="http://schemas.openxmlformats.org/drawingml/2006/main">
              <a:ext uri="{FF2B5EF4-FFF2-40B4-BE49-F238E27FC236}">
                <a16:creationId xmlns:a16="http://schemas.microsoft.com/office/drawing/2014/main" id="{B10A01B8-1CDC-4EF6-9FC3-C0CB36CB1518}"/>
              </a:ext>
            </a:extLst>
          </p:cNvPr>
          <p:cNvGraphicFramePr/>
          <p:nvPr/>
        </p:nvGraphicFramePr>
        <p:xfrm>
          <a:off xmlns:a="http://schemas.openxmlformats.org/drawingml/2006/main" x="6191250" y="2000250"/>
          <a:ext xmlns:a="http://schemas.openxmlformats.org/drawingml/2006/main" cx="5334000" cy="3429000"/>
        </p:xfrm>
        <a:graphic xmlns:a="http://schemas.openxmlformats.org/drawingml/2006/main">
          <a:graphicData uri="http://schemas.openxmlformats.org/drawingml/2006/chart">
            <c:chart xmlns:r="http://schemas.openxmlformats.org/officeDocument/2006/relationships" xmlns:c="http://schemas.openxmlformats.org/drawingml/2006/chart" r:id="Rf97c3a059ea74bdb"/>
          </a:graphicData>
        </a:graphic>
      </p:graphicFrame>
      <p:sp>
        <p:nvSpPr>
          <p:cNvPr id="12" name="">
            <a:extLst xmlns:a="http://schemas.openxmlformats.org/drawingml/2006/main">
              <a:ext uri="{FF2B5EF4-FFF2-40B4-BE49-F238E27FC236}">
                <a16:creationId xmlns:a16="http://schemas.microsoft.com/office/drawing/2014/main" id="{84521892-C926-414A-A4C9-3D26C286D62E}"/>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Skewness: 1,888 → 0,168 · Dự báo được đổi ngược về USD bằng expm1.</a:t>
            </a:r>
          </a:p>
        </p:txBody>
      </p:sp>
    </p:spTree>
    <p:extLst>
      <p:ext uri="{BB962C8B-B14F-4D97-AF65-F5344CB8AC3E}">
        <p14:creationId xmlns:p14="http://schemas.microsoft.com/office/powerpoint/2010/main" val="17318072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Những thuộc tính liên quan đến giá</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EDA trên train · Tương quan Pearson với SalePrice</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07</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Chart">
            <a:extLst xmlns:a="http://schemas.openxmlformats.org/drawingml/2006/main">
              <a:ext uri="{FF2B5EF4-FFF2-40B4-BE49-F238E27FC236}">
                <a16:creationId xmlns:a16="http://schemas.microsoft.com/office/drawing/2014/main" id="{ECA2FEFD-95D3-475E-A31F-73987BC774E2}"/>
              </a:ext>
            </a:extLst>
          </p:cNvPr>
          <p:cNvGraphicFramePr/>
          <p:nvPr/>
        </p:nvGraphicFramePr>
        <p:xfrm>
          <a:off xmlns:a="http://schemas.openxmlformats.org/drawingml/2006/main" x="619125" y="1952625"/>
          <a:ext xmlns:a="http://schemas.openxmlformats.org/drawingml/2006/main" cx="10858500" cy="3381375"/>
        </p:xfrm>
        <a:graphic xmlns:a="http://schemas.openxmlformats.org/drawingml/2006/main">
          <a:graphicData uri="http://schemas.openxmlformats.org/drawingml/2006/chart">
            <c:chart xmlns:r="http://schemas.openxmlformats.org/officeDocument/2006/relationships" xmlns:c="http://schemas.openxmlformats.org/drawingml/2006/chart" r:id="R195b025a511d47f7"/>
          </a:graphicData>
        </a:graphic>
      </p:graphicFrame>
      <p:sp>
        <p:nvSpPr>
          <p:cNvPr id="11" name="">
            <a:extLst xmlns:a="http://schemas.openxmlformats.org/drawingml/2006/main">
              <a:ext uri="{FF2B5EF4-FFF2-40B4-BE49-F238E27FC236}">
                <a16:creationId xmlns:a16="http://schemas.microsoft.com/office/drawing/2014/main" id="{CDC9660A-CC2F-4822-9291-8BFFBA484E10}"/>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Chất lượng và quy mô chứa tín hiệu dự báo; tương quan không chứng minh nhân quả.</a:t>
            </a:r>
          </a:p>
        </p:txBody>
      </p:sp>
    </p:spTree>
    <p:extLst>
      <p:ext uri="{BB962C8B-B14F-4D97-AF65-F5344CB8AC3E}">
        <p14:creationId xmlns:p14="http://schemas.microsoft.com/office/powerpoint/2010/main" val="17318072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Xử lý dữ liệu thiếu</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Phân biệt thiếu thông tin và không có tiện ích</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08</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94BA53E0-41DE-4410-A056-A26109E6CFBA}"/>
              </a:ext>
            </a:extLst>
          </p:cNvPr>
          <p:cNvSpPr>
            <a:spLocks xmlns:a="http://schemas.openxmlformats.org/drawingml/2006/main" noGrp="1"/>
          </p:cNvSpPr>
          <p:nvPr/>
        </p:nvSpPr>
        <p:spPr>
          <a:xfrm xmlns:a="http://schemas.openxmlformats.org/drawingml/2006/main">
            <a:off x="619125" y="20955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GarageType = NA có thể nghĩa là không có gara.</a:t>
            </a:r>
          </a:p>
        </p:txBody>
      </p:sp>
      <p:sp>
        <p:nvSpPr>
          <p:cNvPr id="11" name="">
            <a:extLst xmlns:a="http://schemas.openxmlformats.org/drawingml/2006/main">
              <a:ext uri="{FF2B5EF4-FFF2-40B4-BE49-F238E27FC236}">
                <a16:creationId xmlns:a16="http://schemas.microsoft.com/office/drawing/2014/main" id="{C42C462A-295F-4810-ACF1-DFE43769C615}"/>
              </a:ext>
            </a:extLst>
          </p:cNvPr>
          <p:cNvSpPr>
            <a:spLocks xmlns:a="http://schemas.openxmlformats.org/drawingml/2006/main" noGrp="1"/>
          </p:cNvSpPr>
          <p:nvPr/>
        </p:nvSpPr>
        <p:spPr>
          <a:xfrm xmlns:a="http://schemas.openxmlformats.org/drawingml/2006/main">
            <a:off x="619125" y="29718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Giữ token NA / None có ý nghĩa nghiệp vụ khi đọc CSV.</a:t>
            </a:r>
          </a:p>
        </p:txBody>
      </p:sp>
      <p:sp>
        <p:nvSpPr>
          <p:cNvPr id="12" name="">
            <a:extLst xmlns:a="http://schemas.openxmlformats.org/drawingml/2006/main">
              <a:ext uri="{FF2B5EF4-FFF2-40B4-BE49-F238E27FC236}">
                <a16:creationId xmlns:a16="http://schemas.microsoft.com/office/drawing/2014/main" id="{36D2E067-D751-4EBC-8D0D-5AB801EFA4F5}"/>
              </a:ext>
            </a:extLst>
          </p:cNvPr>
          <p:cNvSpPr>
            <a:spLocks xmlns:a="http://schemas.openxmlformats.org/drawingml/2006/main" noGrp="1"/>
          </p:cNvSpPr>
          <p:nvPr/>
        </p:nvSpPr>
        <p:spPr>
          <a:xfrm xmlns:a="http://schemas.openxmlformats.org/drawingml/2006/main">
            <a:off x="619125" y="38481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Thiếu thật ở biến số: median học từ tập fit.</a:t>
            </a:r>
          </a:p>
        </p:txBody>
      </p:sp>
      <p:sp>
        <p:nvSpPr>
          <p:cNvPr id="13" name="">
            <a:extLst xmlns:a="http://schemas.openxmlformats.org/drawingml/2006/main">
              <a:ext uri="{FF2B5EF4-FFF2-40B4-BE49-F238E27FC236}">
                <a16:creationId xmlns:a16="http://schemas.microsoft.com/office/drawing/2014/main" id="{C613234E-45E1-4E03-8155-011CEA095A3D}"/>
              </a:ext>
            </a:extLst>
          </p:cNvPr>
          <p:cNvSpPr>
            <a:spLocks xmlns:a="http://schemas.openxmlformats.org/drawingml/2006/main" noGrp="1"/>
          </p:cNvSpPr>
          <p:nvPr/>
        </p:nvSpPr>
        <p:spPr>
          <a:xfrm xmlns:a="http://schemas.openxmlformats.org/drawingml/2006/main">
            <a:off x="619125" y="47244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Thiếu thật ở biến phân loại: nhãn Missing.</a:t>
            </a:r>
          </a:p>
        </p:txBody>
      </p:sp>
    </p:spTree>
    <p:extLst>
      <p:ext uri="{BB962C8B-B14F-4D97-AF65-F5344CB8AC3E}">
        <p14:creationId xmlns:p14="http://schemas.microsoft.com/office/powerpoint/2010/main" val="17318072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Xây dựng đặc trưng</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Ví dụ công thức · 79 biến gốc và 15 đặc trưng mới</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09</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F9FD3F95-2401-45D8-847D-AACE60A57E45}"/>
              </a:ext>
            </a:extLst>
          </p:cNvPr>
          <p:cNvGraphicFramePr/>
          <p:nvPr/>
        </p:nvGraphicFramePr>
        <p:xfrm>
          <a:off xmlns:a="http://schemas.openxmlformats.org/drawingml/2006/main" x="619125" y="2095500"/>
          <a:ext xmlns:a="http://schemas.openxmlformats.org/drawingml/2006/main" cx="10953750" cy="3095625"/>
        </p:xfrm>
        <a:graphic xmlns:a="http://schemas.openxmlformats.org/drawingml/2006/main">
          <a:graphicData uri="http://schemas.openxmlformats.org/drawingml/2006/table">
            <a:tbl>
              <a:tblPr firstRow="0" bandRow="0"/>
              <a:tblGrid>
                <a:gridCol w="2857500"/>
                <a:gridCol w="8096250"/>
              </a:tblGrid>
              <a:tr h="619125">
                <a:tc>
                  <a:txBody>
                    <a:bodyPr/>
                    <a:lstStyle/>
                    <a:p>
                      <a:pPr algn="l"/>
                      <a:r>
                        <a:rPr sz="1875" b="1">
                          <a:solidFill>
                            <a:srgbClr val="142C40"/>
                          </a:solidFill>
                          <a:latin typeface="Aptos"/>
                          <a:ea typeface="Aptos"/>
                          <a:cs typeface="Aptos"/>
                        </a:rPr>
                        <a:t>Đặc trưng</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875" b="1">
                          <a:solidFill>
                            <a:srgbClr val="142C40"/>
                          </a:solidFill>
                          <a:latin typeface="Aptos"/>
                          <a:ea typeface="Aptos"/>
                          <a:cs typeface="Aptos"/>
                        </a:rPr>
                        <a:t>Công thức / ý nghĩa</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19125">
                <a:tc>
                  <a:txBody>
                    <a:bodyPr/>
                    <a:lstStyle/>
                    <a:p>
                      <a:pPr algn="l"/>
                      <a:r>
                        <a:rPr sz="1875" b="0">
                          <a:solidFill>
                            <a:srgbClr val="142C40"/>
                          </a:solidFill>
                          <a:latin typeface="Aptos"/>
                          <a:ea typeface="Aptos"/>
                          <a:cs typeface="Aptos"/>
                        </a:rPr>
                        <a:t>HouseAge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max(YrSold − YearBuilt, 0)</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19125">
                <a:tc>
                  <a:txBody>
                    <a:bodyPr/>
                    <a:lstStyle/>
                    <a:p>
                      <a:pPr algn="l"/>
                      <a:r>
                        <a:rPr sz="1875" b="0">
                          <a:solidFill>
                            <a:srgbClr val="142C40"/>
                          </a:solidFill>
                          <a:latin typeface="Aptos"/>
                          <a:ea typeface="Aptos"/>
                          <a:cs typeface="Aptos"/>
                        </a:rPr>
                        <a:t>TotalSF</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TotalBsmtSF + 1stFlrSF + 2ndFlrSF</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19125">
                <a:tc>
                  <a:txBody>
                    <a:bodyPr/>
                    <a:lstStyle/>
                    <a:p>
                      <a:pPr algn="l"/>
                      <a:r>
                        <a:rPr sz="1875" b="0">
                          <a:solidFill>
                            <a:srgbClr val="142C40"/>
                          </a:solidFill>
                          <a:latin typeface="Aptos"/>
                          <a:ea typeface="Aptos"/>
                          <a:cs typeface="Aptos"/>
                        </a:rPr>
                        <a:t>TotalBathrooms</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Phòng tắm đầy đủ + 0,5 × phòng tắm nửa; gồm tầng hầm</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19125">
                <a:tc>
                  <a:txBody>
                    <a:bodyPr/>
                    <a:lstStyle/>
                    <a:p>
                      <a:pPr algn="l"/>
                      <a:r>
                        <a:rPr sz="1875" b="0">
                          <a:solidFill>
                            <a:srgbClr val="142C40"/>
                          </a:solidFill>
                          <a:latin typeface="Aptos"/>
                          <a:ea typeface="Aptos"/>
                          <a:cs typeface="Aptos"/>
                        </a:rPr>
                        <a:t>Các nhóm khác</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Tuổi cải tạo/gara, hiên sân, cờ tiện ích, chu kỳ tháng</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3C2F0C4-9637-432C-9983-6C309F000B23}"/>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94 cột trước mã hóa · Chưa có ablation riêng từng nhóm đặc trưng.</a:t>
            </a:r>
          </a:p>
        </p:txBody>
      </p:sp>
    </p:spTree>
    <p:extLst>
      <p:ext uri="{BB962C8B-B14F-4D97-AF65-F5344CB8AC3E}">
        <p14:creationId xmlns:p14="http://schemas.microsoft.com/office/powerpoint/2010/main" val="17318072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Tiền xử lý theo từng loại biến</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ColumnTransformer ghép các nhánh xử lý</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10</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66E6AAF8-09F7-4D23-94B7-836EAF2B83FA}"/>
              </a:ext>
            </a:extLst>
          </p:cNvPr>
          <p:cNvGraphicFramePr/>
          <p:nvPr/>
        </p:nvGraphicFramePr>
        <p:xfrm>
          <a:off xmlns:a="http://schemas.openxmlformats.org/drawingml/2006/main" x="619125" y="2047875"/>
          <a:ext xmlns:a="http://schemas.openxmlformats.org/drawingml/2006/main" cx="10953750" cy="3238500"/>
        </p:xfrm>
        <a:graphic xmlns:a="http://schemas.openxmlformats.org/drawingml/2006/main">
          <a:graphicData uri="http://schemas.openxmlformats.org/drawingml/2006/table">
            <a:tbl>
              <a:tblPr firstRow="0" bandRow="0"/>
              <a:tblGrid>
                <a:gridCol w="2095500"/>
                <a:gridCol w="4619625"/>
                <a:gridCol w="4238625"/>
              </a:tblGrid>
              <a:tr h="647700">
                <a:tc>
                  <a:txBody>
                    <a:bodyPr/>
                    <a:lstStyle/>
                    <a:p>
                      <a:pPr algn="l"/>
                      <a:r>
                        <a:rPr sz="1875" b="1">
                          <a:solidFill>
                            <a:srgbClr val="142C40"/>
                          </a:solidFill>
                          <a:latin typeface="Aptos"/>
                          <a:ea typeface="Aptos"/>
                          <a:cs typeface="Aptos"/>
                        </a:rPr>
                        <a:t>Dữ liệu</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875" b="1">
                          <a:solidFill>
                            <a:srgbClr val="142C40"/>
                          </a:solidFill>
                          <a:latin typeface="Aptos"/>
                          <a:ea typeface="Aptos"/>
                          <a:cs typeface="Aptos"/>
                        </a:rPr>
                        <a:t>Phép xử lý</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875" b="1">
                          <a:solidFill>
                            <a:srgbClr val="142C40"/>
                          </a:solidFill>
                          <a:latin typeface="Aptos"/>
                          <a:ea typeface="Aptos"/>
                          <a:cs typeface="Aptos"/>
                        </a:rPr>
                        <a:t>Mục đích</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47700">
                <a:tc>
                  <a:txBody>
                    <a:bodyPr/>
                    <a:lstStyle/>
                    <a:p>
                      <a:pPr algn="l"/>
                      <a:r>
                        <a:rPr sz="1875" b="0">
                          <a:solidFill>
                            <a:srgbClr val="142C40"/>
                          </a:solidFill>
                          <a:latin typeface="Aptos"/>
                          <a:ea typeface="Aptos"/>
                          <a:cs typeface="Aptos"/>
                        </a:rPr>
                        <a:t>Biến số</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Median → StandardScaler</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Điền thiếu, chuẩn hóa thang đo</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875" b="0">
                          <a:solidFill>
                            <a:srgbClr val="142C40"/>
                          </a:solidFill>
                          <a:latin typeface="Aptos"/>
                          <a:ea typeface="Aptos"/>
                          <a:cs typeface="Aptos"/>
                        </a:rPr>
                        <a:t>Biến phân loại</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Missing → One-hot</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Biểu diễn nhãn bằng cột số</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875" b="0">
                          <a:solidFill>
                            <a:srgbClr val="142C40"/>
                          </a:solidFill>
                          <a:latin typeface="Aptos"/>
                          <a:ea typeface="Aptos"/>
                          <a:cs typeface="Aptos"/>
                        </a:rPr>
                        <a:t>NA / None nghiệp vụ</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Giữ nguyên ý nghĩa</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Không có tiện ích ≠ thiếu thật</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875" b="0">
                          <a:solidFill>
                            <a:srgbClr val="142C40"/>
                          </a:solidFill>
                          <a:latin typeface="Aptos"/>
                          <a:ea typeface="Aptos"/>
                          <a:cs typeface="Aptos"/>
                        </a:rPr>
                        <a:t>Giá bán</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log1p khi fit; expm1 khi predict</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875" b="0">
                          <a:solidFill>
                            <a:srgbClr val="142C40"/>
                          </a:solidFill>
                          <a:latin typeface="Aptos"/>
                          <a:ea typeface="Aptos"/>
                          <a:cs typeface="Aptos"/>
                        </a:rPr>
                        <a:t>Đầu ra cuối cùng theo USD</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1227BB14-C0DE-45E0-9750-ABA192142325}"/>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Imputer, scaler và encoder chỉ fit trên train hoặc train-fold.</a:t>
            </a:r>
          </a:p>
        </p:txBody>
      </p:sp>
    </p:spTree>
    <p:extLst>
      <p:ext uri="{BB962C8B-B14F-4D97-AF65-F5344CB8AC3E}">
        <p14:creationId xmlns:p14="http://schemas.microsoft.com/office/powerpoint/2010/main" val="17318072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Pipeline từ dữ liệu raw đến giá USD</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AmesFeatureEngineer và tiền xử lý nằm trong cùng artifact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11</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D3C0EDDD-BC3B-472B-A983-23409D1345BE}"/>
              </a:ext>
            </a:extLst>
          </p:cNvPr>
          <p:cNvSpPr>
            <a:spLocks xmlns:a="http://schemas.openxmlformats.org/drawingml/2006/main" noGrp="1"/>
          </p:cNvSpPr>
          <p:nvPr/>
        </p:nvSpPr>
        <p:spPr>
          <a:xfrm xmlns:a="http://schemas.openxmlformats.org/drawingml/2006/main">
            <a:off x="619125" y="22383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5676"/>
                </a:solidFill>
                <a:latin typeface="Aptos"/>
                <a:ea typeface="Aptos"/>
                <a:cs typeface="Aptos"/>
              </a:defRPr>
            </a:defPPr>
            <a:lvl1pPr algn="l">
              <a:defRPr sz="2325" b="1">
                <a:solidFill>
                  <a:srgbClr val="175676"/>
                </a:solidFill>
                <a:latin typeface="Aptos"/>
                <a:ea typeface="Aptos"/>
                <a:cs typeface="Aptos"/>
              </a:defRPr>
            </a:lvl1pPr>
            <a:lvl2pPr algn="l">
              <a:defRPr sz="2325" b="1">
                <a:solidFill>
                  <a:srgbClr val="175676"/>
                </a:solidFill>
                <a:latin typeface="Aptos"/>
                <a:ea typeface="Aptos"/>
                <a:cs typeface="Aptos"/>
              </a:defRPr>
            </a:lvl2pPr>
            <a:lvl3pPr algn="l">
              <a:defRPr sz="2325" b="1">
                <a:solidFill>
                  <a:srgbClr val="175676"/>
                </a:solidFill>
                <a:latin typeface="Aptos"/>
                <a:ea typeface="Aptos"/>
                <a:cs typeface="Aptos"/>
              </a:defRPr>
            </a:lvl3pPr>
            <a:lvl4pPr algn="l">
              <a:defRPr sz="2325" b="1">
                <a:solidFill>
                  <a:srgbClr val="175676"/>
                </a:solidFill>
                <a:latin typeface="Aptos"/>
                <a:ea typeface="Aptos"/>
                <a:cs typeface="Aptos"/>
              </a:defRPr>
            </a:lvl4pPr>
            <a:lvl5pPr algn="l">
              <a:defRPr sz="2325" b="1">
                <a:solidFill>
                  <a:srgbClr val="175676"/>
                </a:solidFill>
                <a:latin typeface="Aptos"/>
                <a:ea typeface="Aptos"/>
                <a:cs typeface="Aptos"/>
              </a:defRPr>
            </a:lvl5pPr>
            <a:lvl6pPr algn="l">
              <a:defRPr sz="2325" b="1">
                <a:solidFill>
                  <a:srgbClr val="175676"/>
                </a:solidFill>
                <a:latin typeface="Aptos"/>
                <a:ea typeface="Aptos"/>
                <a:cs typeface="Aptos"/>
              </a:defRPr>
            </a:lvl6pPr>
            <a:lvl7pPr algn="l">
              <a:defRPr sz="2325" b="1">
                <a:solidFill>
                  <a:srgbClr val="175676"/>
                </a:solidFill>
                <a:latin typeface="Aptos"/>
                <a:ea typeface="Aptos"/>
                <a:cs typeface="Aptos"/>
              </a:defRPr>
            </a:lvl7pPr>
            <a:lvl8pPr algn="l">
              <a:defRPr sz="2325" b="1">
                <a:solidFill>
                  <a:srgbClr val="175676"/>
                </a:solidFill>
                <a:latin typeface="Aptos"/>
                <a:ea typeface="Aptos"/>
                <a:cs typeface="Aptos"/>
              </a:defRPr>
            </a:lvl8pPr>
            <a:lvl9pPr algn="l">
              <a:defRPr sz="2325" b="1">
                <a:solidFill>
                  <a:srgbClr val="175676"/>
                </a:solidFill>
                <a:latin typeface="Aptos"/>
                <a:ea typeface="Aptos"/>
                <a:cs typeface="Aptos"/>
              </a:defRPr>
            </a:lvl9pPr>
          </a:lstStyle>
          <a:p xmlns:a="http://schemas.openxmlformats.org/drawingml/2006/main">
            <a:pPr algn="l">
              <a:defRPr sz="2325" b="1">
                <a:solidFill>
                  <a:srgbClr val="175676"/>
                </a:solidFill>
                <a:latin typeface="Aptos"/>
                <a:ea typeface="Aptos"/>
                <a:cs typeface="Aptos"/>
              </a:defRPr>
            </a:pPr>
            <a:r>
              <a:rPr sz="2325" b="1">
                <a:solidFill>
                  <a:srgbClr val="175676"/>
                </a:solidFill>
                <a:latin typeface="Aptos"/>
                <a:ea typeface="Aptos"/>
                <a:cs typeface="Aptos"/>
              </a:rPr>
              <a:t>Raw input → Feature engineering → ColumnTransformer</a:t>
            </a:r>
          </a:p>
        </p:txBody>
      </p:sp>
      <p:sp>
        <p:nvSpPr>
          <p:cNvPr id="11" name="">
            <a:extLst xmlns:a="http://schemas.openxmlformats.org/drawingml/2006/main">
              <a:ext uri="{FF2B5EF4-FFF2-40B4-BE49-F238E27FC236}">
                <a16:creationId xmlns:a16="http://schemas.microsoft.com/office/drawing/2014/main" id="{176C157E-C18D-4E95-8958-130A60F1E40C}"/>
              </a:ext>
            </a:extLst>
          </p:cNvPr>
          <p:cNvSpPr>
            <a:spLocks xmlns:a="http://schemas.openxmlformats.org/drawingml/2006/main" noGrp="1"/>
          </p:cNvSpPr>
          <p:nvPr/>
        </p:nvSpPr>
        <p:spPr>
          <a:xfrm xmlns:a="http://schemas.openxmlformats.org/drawingml/2006/main">
            <a:off x="619125" y="30003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5676"/>
                </a:solidFill>
                <a:latin typeface="Aptos"/>
                <a:ea typeface="Aptos"/>
                <a:cs typeface="Aptos"/>
              </a:defRPr>
            </a:defPPr>
            <a:lvl1pPr algn="l">
              <a:defRPr sz="2325" b="1">
                <a:solidFill>
                  <a:srgbClr val="175676"/>
                </a:solidFill>
                <a:latin typeface="Aptos"/>
                <a:ea typeface="Aptos"/>
                <a:cs typeface="Aptos"/>
              </a:defRPr>
            </a:lvl1pPr>
            <a:lvl2pPr algn="l">
              <a:defRPr sz="2325" b="1">
                <a:solidFill>
                  <a:srgbClr val="175676"/>
                </a:solidFill>
                <a:latin typeface="Aptos"/>
                <a:ea typeface="Aptos"/>
                <a:cs typeface="Aptos"/>
              </a:defRPr>
            </a:lvl2pPr>
            <a:lvl3pPr algn="l">
              <a:defRPr sz="2325" b="1">
                <a:solidFill>
                  <a:srgbClr val="175676"/>
                </a:solidFill>
                <a:latin typeface="Aptos"/>
                <a:ea typeface="Aptos"/>
                <a:cs typeface="Aptos"/>
              </a:defRPr>
            </a:lvl3pPr>
            <a:lvl4pPr algn="l">
              <a:defRPr sz="2325" b="1">
                <a:solidFill>
                  <a:srgbClr val="175676"/>
                </a:solidFill>
                <a:latin typeface="Aptos"/>
                <a:ea typeface="Aptos"/>
                <a:cs typeface="Aptos"/>
              </a:defRPr>
            </a:lvl4pPr>
            <a:lvl5pPr algn="l">
              <a:defRPr sz="2325" b="1">
                <a:solidFill>
                  <a:srgbClr val="175676"/>
                </a:solidFill>
                <a:latin typeface="Aptos"/>
                <a:ea typeface="Aptos"/>
                <a:cs typeface="Aptos"/>
              </a:defRPr>
            </a:lvl5pPr>
            <a:lvl6pPr algn="l">
              <a:defRPr sz="2325" b="1">
                <a:solidFill>
                  <a:srgbClr val="175676"/>
                </a:solidFill>
                <a:latin typeface="Aptos"/>
                <a:ea typeface="Aptos"/>
                <a:cs typeface="Aptos"/>
              </a:defRPr>
            </a:lvl6pPr>
            <a:lvl7pPr algn="l">
              <a:defRPr sz="2325" b="1">
                <a:solidFill>
                  <a:srgbClr val="175676"/>
                </a:solidFill>
                <a:latin typeface="Aptos"/>
                <a:ea typeface="Aptos"/>
                <a:cs typeface="Aptos"/>
              </a:defRPr>
            </a:lvl7pPr>
            <a:lvl8pPr algn="l">
              <a:defRPr sz="2325" b="1">
                <a:solidFill>
                  <a:srgbClr val="175676"/>
                </a:solidFill>
                <a:latin typeface="Aptos"/>
                <a:ea typeface="Aptos"/>
                <a:cs typeface="Aptos"/>
              </a:defRPr>
            </a:lvl8pPr>
            <a:lvl9pPr algn="l">
              <a:defRPr sz="2325" b="1">
                <a:solidFill>
                  <a:srgbClr val="175676"/>
                </a:solidFill>
                <a:latin typeface="Aptos"/>
                <a:ea typeface="Aptos"/>
                <a:cs typeface="Aptos"/>
              </a:defRPr>
            </a:lvl9pPr>
          </a:lstStyle>
          <a:p xmlns:a="http://schemas.openxmlformats.org/drawingml/2006/main">
            <a:pPr algn="l">
              <a:defRPr sz="2325" b="1">
                <a:solidFill>
                  <a:srgbClr val="175676"/>
                </a:solidFill>
                <a:latin typeface="Aptos"/>
                <a:ea typeface="Aptos"/>
                <a:cs typeface="Aptos"/>
              </a:defRPr>
            </a:pPr>
            <a:r>
              <a:rPr sz="2325" b="1">
                <a:solidFill>
                  <a:srgbClr val="175676"/>
                </a:solidFill>
                <a:latin typeface="Aptos"/>
                <a:ea typeface="Aptos"/>
                <a:cs typeface="Aptos"/>
              </a:rPr>
              <a:t>→ ElasticNet trên log1p(SalePrice) → expm1 → USD</a:t>
            </a:r>
          </a:p>
        </p:txBody>
      </p:sp>
      <p:sp>
        <p:nvSpPr>
          <p:cNvPr id="12" name="">
            <a:extLst xmlns:a="http://schemas.openxmlformats.org/drawingml/2006/main">
              <a:ext uri="{FF2B5EF4-FFF2-40B4-BE49-F238E27FC236}">
                <a16:creationId xmlns:a16="http://schemas.microsoft.com/office/drawing/2014/main" id="{1687D172-ED4B-4736-B646-202F681FA9A8}"/>
              </a:ext>
            </a:extLst>
          </p:cNvPr>
          <p:cNvSpPr>
            <a:spLocks xmlns:a="http://schemas.openxmlformats.org/drawingml/2006/main" noGrp="1"/>
          </p:cNvSpPr>
          <p:nvPr/>
        </p:nvSpPr>
        <p:spPr>
          <a:xfrm xmlns:a="http://schemas.openxmlformats.org/drawingml/2006/main">
            <a:off x="619125" y="40957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Khi học: fit các bước trên dữ liệu được phép.</a:t>
            </a:r>
          </a:p>
        </p:txBody>
      </p:sp>
      <p:sp>
        <p:nvSpPr>
          <p:cNvPr id="13" name="">
            <a:extLst xmlns:a="http://schemas.openxmlformats.org/drawingml/2006/main">
              <a:ext uri="{FF2B5EF4-FFF2-40B4-BE49-F238E27FC236}">
                <a16:creationId xmlns:a16="http://schemas.microsoft.com/office/drawing/2014/main" id="{FA172E6F-00B9-429C-8C56-DFC353C72869}"/>
              </a:ext>
            </a:extLst>
          </p:cNvPr>
          <p:cNvSpPr>
            <a:spLocks xmlns:a="http://schemas.openxmlformats.org/drawingml/2006/main" noGrp="1"/>
          </p:cNvSpPr>
          <p:nvPr/>
        </p:nvSpPr>
        <p:spPr>
          <a:xfrm xmlns:a="http://schemas.openxmlformats.org/drawingml/2006/main">
            <a:off x="619125" y="48577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Khi dự báo: dùng các bước đã học; không fit lại.</a:t>
            </a:r>
          </a:p>
        </p:txBody>
      </p:sp>
    </p:spTree>
    <p:extLst>
      <p:ext uri="{BB962C8B-B14F-4D97-AF65-F5344CB8AC3E}">
        <p14:creationId xmlns:p14="http://schemas.microsoft.com/office/powerpoint/2010/main" val="17318072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Các mô hình hồi quy được khảo sát</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Chín thuật toán và một baseline trung vị</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12</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82A4B6B2-3E21-4B0D-8508-B46BE54267B7}"/>
              </a:ext>
            </a:extLst>
          </p:cNvPr>
          <p:cNvGraphicFramePr/>
          <p:nvPr/>
        </p:nvGraphicFramePr>
        <p:xfrm>
          <a:off xmlns:a="http://schemas.openxmlformats.org/drawingml/2006/main" x="619125" y="2047875"/>
          <a:ext xmlns:a="http://schemas.openxmlformats.org/drawingml/2006/main" cx="10953750" cy="3190875"/>
        </p:xfrm>
        <a:graphic xmlns:a="http://schemas.openxmlformats.org/drawingml/2006/main">
          <a:graphicData uri="http://schemas.openxmlformats.org/drawingml/2006/table">
            <a:tbl>
              <a:tblPr firstRow="0" bandRow="0"/>
              <a:tblGrid>
                <a:gridCol w="2095500"/>
                <a:gridCol w="5334000"/>
                <a:gridCol w="3524250"/>
              </a:tblGrid>
              <a:tr h="638175">
                <a:tc>
                  <a:txBody>
                    <a:bodyPr/>
                    <a:lstStyle/>
                    <a:p>
                      <a:pPr algn="l"/>
                      <a:r>
                        <a:rPr sz="1725" b="1">
                          <a:solidFill>
                            <a:srgbClr val="142C40"/>
                          </a:solidFill>
                          <a:latin typeface="Aptos"/>
                          <a:ea typeface="Aptos"/>
                          <a:cs typeface="Aptos"/>
                        </a:rPr>
                        <a:t>Họ mô hình</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725" b="1">
                          <a:solidFill>
                            <a:srgbClr val="142C40"/>
                          </a:solidFill>
                          <a:latin typeface="Aptos"/>
                          <a:ea typeface="Aptos"/>
                          <a:cs typeface="Aptos"/>
                        </a:rPr>
                        <a:t>Thuật toán</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725" b="1">
                          <a:solidFill>
                            <a:srgbClr val="142C40"/>
                          </a:solidFill>
                          <a:latin typeface="Aptos"/>
                          <a:ea typeface="Aptos"/>
                          <a:cs typeface="Aptos"/>
                        </a:rPr>
                        <a:t>Cơ chế chính</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38175">
                <a:tc>
                  <a:txBody>
                    <a:bodyPr/>
                    <a:lstStyle/>
                    <a:p>
                      <a:pPr algn="l"/>
                      <a:r>
                        <a:rPr sz="1725" b="0">
                          <a:solidFill>
                            <a:srgbClr val="142C40"/>
                          </a:solidFill>
                          <a:latin typeface="Aptos"/>
                          <a:ea typeface="Aptos"/>
                          <a:cs typeface="Aptos"/>
                        </a:rPr>
                        <a:t>Tuyến tính</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Linear Regression, Ridge, ElasticNet</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Học hệ số; có/không điều chuẩn</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38175">
                <a:tc>
                  <a:txBody>
                    <a:bodyPr/>
                    <a:lstStyle/>
                    <a:p>
                      <a:pPr algn="l"/>
                      <a:r>
                        <a:rPr sz="1725" b="0">
                          <a:solidFill>
                            <a:srgbClr val="142C40"/>
                          </a:solidFill>
                          <a:latin typeface="Aptos"/>
                          <a:ea typeface="Aptos"/>
                          <a:cs typeface="Aptos"/>
                        </a:rPr>
                        <a:t>Láng giềng</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KNN</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Dựa trên các mẫu gần nhau</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38175">
                <a:tc>
                  <a:txBody>
                    <a:bodyPr/>
                    <a:lstStyle/>
                    <a:p>
                      <a:pPr algn="l"/>
                      <a:r>
                        <a:rPr sz="1725" b="0">
                          <a:solidFill>
                            <a:srgbClr val="142C40"/>
                          </a:solidFill>
                          <a:latin typeface="Aptos"/>
                          <a:ea typeface="Aptos"/>
                          <a:cs typeface="Aptos"/>
                        </a:rPr>
                        <a:t>Cây / tổ hợp</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Decision Tree, Random Forest, Extra Trees</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Luật chia và kết hợp nhiều cây</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38175">
                <a:tc>
                  <a:txBody>
                    <a:bodyPr/>
                    <a:lstStyle/>
                    <a:p>
                      <a:pPr algn="l"/>
                      <a:r>
                        <a:rPr sz="1725" b="0">
                          <a:solidFill>
                            <a:srgbClr val="142C40"/>
                          </a:solidFill>
                          <a:latin typeface="Aptos"/>
                          <a:ea typeface="Aptos"/>
                          <a:cs typeface="Aptos"/>
                        </a:rPr>
                        <a:t>Boosting</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Gradient Boosting, HistGradientBoosting</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725" b="0">
                          <a:solidFill>
                            <a:srgbClr val="142C40"/>
                          </a:solidFill>
                          <a:latin typeface="Aptos"/>
                          <a:ea typeface="Aptos"/>
                          <a:cs typeface="Aptos"/>
                        </a:rPr>
                        <a:t>Cải thiện dự báo qua nhiều bước</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C3F513C-6BBB-46BC-9675-3E4D9A7B4AEF}"/>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Dummy median: luôn dự báo trung vị giá train; là mốc so sánh riêng.</a:t>
            </a:r>
          </a:p>
        </p:txBody>
      </p:sp>
    </p:spTree>
    <p:extLst>
      <p:ext uri="{BB962C8B-B14F-4D97-AF65-F5344CB8AC3E}">
        <p14:creationId xmlns:p14="http://schemas.microsoft.com/office/powerpoint/2010/main" val="17318072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Cách đọc các chỉ số đánh giá</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Thống nhất thước đo trước khi so sánh mô hình</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13</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DB9F78FE-F58B-40C4-8066-824DA6E1F02C}"/>
              </a:ext>
            </a:extLst>
          </p:cNvPr>
          <p:cNvGraphicFramePr/>
          <p:nvPr/>
        </p:nvGraphicFramePr>
        <p:xfrm>
          <a:off xmlns:a="http://schemas.openxmlformats.org/drawingml/2006/main" x="619125" y="2047875"/>
          <a:ext xmlns:a="http://schemas.openxmlformats.org/drawingml/2006/main" cx="10953750" cy="3238500"/>
        </p:xfrm>
        <a:graphic xmlns:a="http://schemas.openxmlformats.org/drawingml/2006/main">
          <a:graphicData uri="http://schemas.openxmlformats.org/drawingml/2006/table">
            <a:tbl>
              <a:tblPr firstRow="0" bandRow="0"/>
              <a:tblGrid>
                <a:gridCol w="2190750"/>
                <a:gridCol w="6477000"/>
                <a:gridCol w="2286000"/>
              </a:tblGrid>
              <a:tr h="647700">
                <a:tc>
                  <a:txBody>
                    <a:bodyPr/>
                    <a:lstStyle/>
                    <a:p>
                      <a:pPr algn="l"/>
                      <a:r>
                        <a:rPr sz="1950" b="1">
                          <a:solidFill>
                            <a:srgbClr val="142C40"/>
                          </a:solidFill>
                          <a:latin typeface="Aptos"/>
                          <a:ea typeface="Aptos"/>
                          <a:cs typeface="Aptos"/>
                        </a:rPr>
                        <a:t>Chỉ số</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Cách hiểu</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Hướng tốt hơn</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47700">
                <a:tc>
                  <a:txBody>
                    <a:bodyPr/>
                    <a:lstStyle/>
                    <a:p>
                      <a:pPr algn="l"/>
                      <a:r>
                        <a:rPr sz="1950" b="0">
                          <a:solidFill>
                            <a:srgbClr val="142C40"/>
                          </a:solidFill>
                          <a:latin typeface="Aptos"/>
                          <a:ea typeface="Aptos"/>
                          <a:cs typeface="Aptos"/>
                        </a:rPr>
                        <a:t>RMSE (USD)</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Nhạy với các sai số lớn</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Thấp hơn</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950" b="0">
                          <a:solidFill>
                            <a:srgbClr val="142C40"/>
                          </a:solidFill>
                          <a:latin typeface="Aptos"/>
                          <a:ea typeface="Aptos"/>
                          <a:cs typeface="Aptos"/>
                        </a:rPr>
                        <a:t>MAE (USD)</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Độ lệch tuyệt đối trung bình</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Thấp hơn</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950" b="0">
                          <a:solidFill>
                            <a:srgbClr val="142C40"/>
                          </a:solidFill>
                          <a:latin typeface="Aptos"/>
                          <a:ea typeface="Aptos"/>
                          <a:cs typeface="Aptos"/>
                        </a:rPr>
                        <a:t>R²</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So mức lỗi với mốc dự báo trung bình</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Cao hơn</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7700">
                <a:tc>
                  <a:txBody>
                    <a:bodyPr/>
                    <a:lstStyle/>
                    <a:p>
                      <a:pPr algn="l"/>
                      <a:r>
                        <a:rPr sz="1950" b="0">
                          <a:solidFill>
                            <a:srgbClr val="142C40"/>
                          </a:solidFill>
                          <a:latin typeface="Aptos"/>
                          <a:ea typeface="Aptos"/>
                          <a:cs typeface="Aptos"/>
                        </a:rPr>
                        <a:t>RMSLE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Độ lệch trên thang log</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Thấp hơn</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9D04A814-B098-4621-A789-4740CC9E109B}"/>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Ưu tiên validation RMSE khi chọn mô hình · R² không phải accuracy.</a:t>
            </a:r>
          </a:p>
        </p:txBody>
      </p:sp>
    </p:spTree>
    <p:extLst>
      <p:ext uri="{BB962C8B-B14F-4D97-AF65-F5344CB8AC3E}">
        <p14:creationId xmlns:p14="http://schemas.microsoft.com/office/powerpoint/2010/main" val="173180728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Giao thức thực nghiệm và chốt mô hình</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CV trên train → lựa chọn → fit cuối → test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14</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136A7757-D14E-4FE6-8A8E-A5DC7CDF62DF}"/>
              </a:ext>
            </a:extLst>
          </p:cNvPr>
          <p:cNvSpPr>
            <a:spLocks xmlns:a="http://schemas.openxmlformats.org/drawingml/2006/main" noGrp="1"/>
          </p:cNvSpPr>
          <p:nvPr/>
        </p:nvSpPr>
        <p:spPr>
          <a:xfrm xmlns:a="http://schemas.openxmlformats.org/drawingml/2006/main">
            <a:off x="619125" y="20955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Benchmark: fit trên train, so sánh trên validation.</a:t>
            </a:r>
          </a:p>
        </p:txBody>
      </p:sp>
      <p:sp>
        <p:nvSpPr>
          <p:cNvPr id="11" name="">
            <a:extLst xmlns:a="http://schemas.openxmlformats.org/drawingml/2006/main">
              <a:ext uri="{FF2B5EF4-FFF2-40B4-BE49-F238E27FC236}">
                <a16:creationId xmlns:a16="http://schemas.microsoft.com/office/drawing/2014/main" id="{CDBF9127-ED4C-4B84-9A74-582463B2EA8E}"/>
              </a:ext>
            </a:extLst>
          </p:cNvPr>
          <p:cNvSpPr>
            <a:spLocks xmlns:a="http://schemas.openxmlformats.org/drawingml/2006/main" noGrp="1"/>
          </p:cNvSpPr>
          <p:nvPr/>
        </p:nvSpPr>
        <p:spPr>
          <a:xfrm xmlns:a="http://schemas.openxmlformats.org/drawingml/2006/main">
            <a:off x="619125" y="29718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Tuning: CV 3 fold trong train; random_state = 42.</a:t>
            </a:r>
          </a:p>
        </p:txBody>
      </p:sp>
      <p:sp>
        <p:nvSpPr>
          <p:cNvPr id="12" name="">
            <a:extLst xmlns:a="http://schemas.openxmlformats.org/drawingml/2006/main">
              <a:ext uri="{FF2B5EF4-FFF2-40B4-BE49-F238E27FC236}">
                <a16:creationId xmlns:a16="http://schemas.microsoft.com/office/drawing/2014/main" id="{119FA6E5-5206-42DB-A051-993AEF3769DE}"/>
              </a:ext>
            </a:extLst>
          </p:cNvPr>
          <p:cNvSpPr>
            <a:spLocks xmlns:a="http://schemas.openxmlformats.org/drawingml/2006/main" noGrp="1"/>
          </p:cNvSpPr>
          <p:nvPr/>
        </p:nvSpPr>
        <p:spPr>
          <a:xfrm xmlns:a="http://schemas.openxmlformats.org/drawingml/2006/main">
            <a:off x="619125" y="38481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Chốt tên và tham số bằng validation / CV.</a:t>
            </a:r>
          </a:p>
        </p:txBody>
      </p:sp>
      <p:sp>
        <p:nvSpPr>
          <p:cNvPr id="13" name="">
            <a:extLst xmlns:a="http://schemas.openxmlformats.org/drawingml/2006/main">
              <a:ext uri="{FF2B5EF4-FFF2-40B4-BE49-F238E27FC236}">
                <a16:creationId xmlns:a16="http://schemas.microsoft.com/office/drawing/2014/main" id="{A3696676-9691-4992-A7E9-6E3168EC8B55}"/>
              </a:ext>
            </a:extLst>
          </p:cNvPr>
          <p:cNvSpPr>
            <a:spLocks xmlns:a="http://schemas.openxmlformats.org/drawingml/2006/main" noGrp="1"/>
          </p:cNvSpPr>
          <p:nvPr/>
        </p:nvSpPr>
        <p:spPr>
          <a:xfrm xmlns:a="http://schemas.openxmlformats.org/drawingml/2006/main">
            <a:off x="619125" y="47244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Fit cuối trên 1.314 mẫu → đánh giá 146 mẫu test.</a:t>
            </a:r>
          </a:p>
        </p:txBody>
      </p:sp>
      <p:sp>
        <p:nvSpPr>
          <p:cNvPr id="14" name="">
            <a:extLst xmlns:a="http://schemas.openxmlformats.org/drawingml/2006/main">
              <a:ext uri="{FF2B5EF4-FFF2-40B4-BE49-F238E27FC236}">
                <a16:creationId xmlns:a16="http://schemas.microsoft.com/office/drawing/2014/main" id="{4837CDB3-CA40-4B89-9C09-789F1AECD5DF}"/>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Test không dùng để chọn mô hình, siêu tham số hoặc đặc trưng.</a:t>
            </a:r>
          </a:p>
        </p:txBody>
      </p:sp>
    </p:spTree>
    <p:extLst>
      <p:ext uri="{BB962C8B-B14F-4D97-AF65-F5344CB8AC3E}">
        <p14:creationId xmlns:p14="http://schemas.microsoft.com/office/powerpoint/2010/main" val="17318072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So sánh mô hình trên validation</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Validation RMSE theo USD · Thấp hơn tốt hơn</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15</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Chart">
            <a:extLst xmlns:a="http://schemas.openxmlformats.org/drawingml/2006/main">
              <a:ext uri="{FF2B5EF4-FFF2-40B4-BE49-F238E27FC236}">
                <a16:creationId xmlns:a16="http://schemas.microsoft.com/office/drawing/2014/main" id="{B1EDF478-697B-43FF-9150-E6F31EAB0F57}"/>
              </a:ext>
            </a:extLst>
          </p:cNvPr>
          <p:cNvGraphicFramePr/>
          <p:nvPr/>
        </p:nvGraphicFramePr>
        <p:xfrm>
          <a:off xmlns:a="http://schemas.openxmlformats.org/drawingml/2006/main" x="619125" y="1952625"/>
          <a:ext xmlns:a="http://schemas.openxmlformats.org/drawingml/2006/main" cx="10858500" cy="3524250"/>
        </p:xfrm>
        <a:graphic xmlns:a="http://schemas.openxmlformats.org/drawingml/2006/main">
          <a:graphicData uri="http://schemas.openxmlformats.org/drawingml/2006/chart">
            <c:chart xmlns:r="http://schemas.openxmlformats.org/officeDocument/2006/relationships" xmlns:c="http://schemas.openxmlformats.org/drawingml/2006/chart" r:id="R2fe6156bd1bb4576"/>
          </a:graphicData>
        </a:graphic>
      </p:graphicFrame>
      <p:sp>
        <p:nvSpPr>
          <p:cNvPr id="11" name="">
            <a:extLst xmlns:a="http://schemas.openxmlformats.org/drawingml/2006/main">
              <a:ext uri="{FF2B5EF4-FFF2-40B4-BE49-F238E27FC236}">
                <a16:creationId xmlns:a16="http://schemas.microsoft.com/office/drawing/2014/main" id="{7C8A939D-0545-4FD2-9FB4-19AA8F7207B3}"/>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ElasticNet: 24.856 USD · Dummy: 88.612 USD · So sánh các cấu hình đã chạy.</a:t>
            </a:r>
          </a:p>
        </p:txBody>
      </p:sp>
    </p:spTree>
    <p:extLst>
      <p:ext uri="{BB962C8B-B14F-4D97-AF65-F5344CB8AC3E}">
        <p14:creationId xmlns:p14="http://schemas.microsoft.com/office/powerpoint/2010/main" val="17318072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Tuning và lựa chọn ElasticNet</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Ridge và ElasticNet · 3 cấu hình mỗi mô hình, CV 3 fold</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16</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56B12165-C198-4478-B9B3-980526014572}"/>
              </a:ext>
            </a:extLst>
          </p:cNvPr>
          <p:cNvGraphicFramePr/>
          <p:nvPr/>
        </p:nvGraphicFramePr>
        <p:xfrm>
          <a:off xmlns:a="http://schemas.openxmlformats.org/drawingml/2006/main" x="619125" y="2095500"/>
          <a:ext xmlns:a="http://schemas.openxmlformats.org/drawingml/2006/main" cx="10953750" cy="2047875"/>
        </p:xfrm>
        <a:graphic xmlns:a="http://schemas.openxmlformats.org/drawingml/2006/main">
          <a:graphicData uri="http://schemas.openxmlformats.org/drawingml/2006/table">
            <a:tbl>
              <a:tblPr firstRow="0" bandRow="0"/>
              <a:tblGrid>
                <a:gridCol w="3048000"/>
                <a:gridCol w="2571750"/>
                <a:gridCol w="2667000"/>
                <a:gridCol w="2667000"/>
              </a:tblGrid>
              <a:tr h="682625">
                <a:tc>
                  <a:txBody>
                    <a:bodyPr/>
                    <a:lstStyle/>
                    <a:p>
                      <a:pPr algn="l"/>
                      <a:r>
                        <a:rPr sz="1950" b="1">
                          <a:solidFill>
                            <a:srgbClr val="142C40"/>
                          </a:solidFill>
                          <a:latin typeface="Aptos"/>
                          <a:ea typeface="Aptos"/>
                          <a:cs typeface="Aptos"/>
                        </a:rPr>
                        <a:t>Mô hình</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Val RMSE</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CV RMSE mean</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CV RMSE std</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82625">
                <a:tc>
                  <a:txBody>
                    <a:bodyPr/>
                    <a:lstStyle/>
                    <a:p>
                      <a:pPr algn="l"/>
                      <a:r>
                        <a:rPr sz="1950" b="0">
                          <a:solidFill>
                            <a:srgbClr val="142C40"/>
                          </a:solidFill>
                          <a:latin typeface="Aptos"/>
                          <a:ea typeface="Aptos"/>
                          <a:cs typeface="Aptos"/>
                        </a:rPr>
                        <a:t>ElasticNet</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24,856</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39,729</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15,890</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82625">
                <a:tc>
                  <a:txBody>
                    <a:bodyPr/>
                    <a:lstStyle/>
                    <a:p>
                      <a:pPr algn="l"/>
                      <a:r>
                        <a:rPr sz="1950" b="0">
                          <a:solidFill>
                            <a:srgbClr val="142C40"/>
                          </a:solidFill>
                          <a:latin typeface="Aptos"/>
                          <a:ea typeface="Aptos"/>
                          <a:cs typeface="Aptos"/>
                        </a:rPr>
                        <a:t>Ridge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25,362</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41,704</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19,211</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01B0CB21-80DD-4003-A0F5-193BA6B909B1}"/>
              </a:ext>
            </a:extLst>
          </p:cNvPr>
          <p:cNvSpPr>
            <a:spLocks xmlns:a="http://schemas.openxmlformats.org/drawingml/2006/main" noGrp="1"/>
          </p:cNvSpPr>
          <p:nvPr/>
        </p:nvSpPr>
        <p:spPr>
          <a:xfrm xmlns:a="http://schemas.openxmlformats.org/drawingml/2006/main">
            <a:off x="619125" y="447675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5676"/>
                </a:solidFill>
                <a:latin typeface="Aptos"/>
                <a:ea typeface="Aptos"/>
                <a:cs typeface="Aptos"/>
              </a:defRPr>
            </a:defPPr>
            <a:lvl1pPr algn="l">
              <a:defRPr sz="2325" b="1">
                <a:solidFill>
                  <a:srgbClr val="175676"/>
                </a:solidFill>
                <a:latin typeface="Aptos"/>
                <a:ea typeface="Aptos"/>
                <a:cs typeface="Aptos"/>
              </a:defRPr>
            </a:lvl1pPr>
            <a:lvl2pPr algn="l">
              <a:defRPr sz="2325" b="1">
                <a:solidFill>
                  <a:srgbClr val="175676"/>
                </a:solidFill>
                <a:latin typeface="Aptos"/>
                <a:ea typeface="Aptos"/>
                <a:cs typeface="Aptos"/>
              </a:defRPr>
            </a:lvl2pPr>
            <a:lvl3pPr algn="l">
              <a:defRPr sz="2325" b="1">
                <a:solidFill>
                  <a:srgbClr val="175676"/>
                </a:solidFill>
                <a:latin typeface="Aptos"/>
                <a:ea typeface="Aptos"/>
                <a:cs typeface="Aptos"/>
              </a:defRPr>
            </a:lvl3pPr>
            <a:lvl4pPr algn="l">
              <a:defRPr sz="2325" b="1">
                <a:solidFill>
                  <a:srgbClr val="175676"/>
                </a:solidFill>
                <a:latin typeface="Aptos"/>
                <a:ea typeface="Aptos"/>
                <a:cs typeface="Aptos"/>
              </a:defRPr>
            </a:lvl4pPr>
            <a:lvl5pPr algn="l">
              <a:defRPr sz="2325" b="1">
                <a:solidFill>
                  <a:srgbClr val="175676"/>
                </a:solidFill>
                <a:latin typeface="Aptos"/>
                <a:ea typeface="Aptos"/>
                <a:cs typeface="Aptos"/>
              </a:defRPr>
            </a:lvl5pPr>
            <a:lvl6pPr algn="l">
              <a:defRPr sz="2325" b="1">
                <a:solidFill>
                  <a:srgbClr val="175676"/>
                </a:solidFill>
                <a:latin typeface="Aptos"/>
                <a:ea typeface="Aptos"/>
                <a:cs typeface="Aptos"/>
              </a:defRPr>
            </a:lvl6pPr>
            <a:lvl7pPr algn="l">
              <a:defRPr sz="2325" b="1">
                <a:solidFill>
                  <a:srgbClr val="175676"/>
                </a:solidFill>
                <a:latin typeface="Aptos"/>
                <a:ea typeface="Aptos"/>
                <a:cs typeface="Aptos"/>
              </a:defRPr>
            </a:lvl7pPr>
            <a:lvl8pPr algn="l">
              <a:defRPr sz="2325" b="1">
                <a:solidFill>
                  <a:srgbClr val="175676"/>
                </a:solidFill>
                <a:latin typeface="Aptos"/>
                <a:ea typeface="Aptos"/>
                <a:cs typeface="Aptos"/>
              </a:defRPr>
            </a:lvl8pPr>
            <a:lvl9pPr algn="l">
              <a:defRPr sz="2325" b="1">
                <a:solidFill>
                  <a:srgbClr val="175676"/>
                </a:solidFill>
                <a:latin typeface="Aptos"/>
                <a:ea typeface="Aptos"/>
                <a:cs typeface="Aptos"/>
              </a:defRPr>
            </a:lvl9pPr>
          </a:lstStyle>
          <a:p xmlns:a="http://schemas.openxmlformats.org/drawingml/2006/main">
            <a:pPr algn="l">
              <a:defRPr sz="2325" b="1">
                <a:solidFill>
                  <a:srgbClr val="175676"/>
                </a:solidFill>
                <a:latin typeface="Aptos"/>
                <a:ea typeface="Aptos"/>
                <a:cs typeface="Aptos"/>
              </a:defRPr>
            </a:pPr>
            <a:r>
              <a:rPr sz="2325" b="1">
                <a:solidFill>
                  <a:srgbClr val="175676"/>
                </a:solidFill>
                <a:latin typeface="Aptos"/>
                <a:ea typeface="Aptos"/>
                <a:cs typeface="Aptos"/>
              </a:rPr>
              <a:t>Chọn ElasticNet: alpha = 0,001; l1_ratio = 0,2</a:t>
            </a:r>
          </a:p>
        </p:txBody>
      </p:sp>
      <p:sp>
        <p:nvSpPr>
          <p:cNvPr id="12" name="">
            <a:extLst xmlns:a="http://schemas.openxmlformats.org/drawingml/2006/main">
              <a:ext uri="{FF2B5EF4-FFF2-40B4-BE49-F238E27FC236}">
                <a16:creationId xmlns:a16="http://schemas.microsoft.com/office/drawing/2014/main" id="{3456F0C5-6581-419D-AB3E-2F8242E7BE24}"/>
              </a:ext>
            </a:extLst>
          </p:cNvPr>
          <p:cNvSpPr>
            <a:spLocks xmlns:a="http://schemas.openxmlformats.org/drawingml/2006/main" noGrp="1"/>
          </p:cNvSpPr>
          <p:nvPr/>
        </p:nvSpPr>
        <p:spPr>
          <a:xfrm xmlns:a="http://schemas.openxmlformats.org/drawingml/2006/main">
            <a:off x="619125" y="5095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0">
                <a:solidFill>
                  <a:srgbClr val="142C40"/>
                </a:solidFill>
                <a:latin typeface="Aptos"/>
                <a:ea typeface="Aptos"/>
                <a:cs typeface="Aptos"/>
              </a:defRPr>
            </a:defPPr>
            <a:lvl1pPr algn="l">
              <a:defRPr sz="1875" b="0">
                <a:solidFill>
                  <a:srgbClr val="142C40"/>
                </a:solidFill>
                <a:latin typeface="Aptos"/>
                <a:ea typeface="Aptos"/>
                <a:cs typeface="Aptos"/>
              </a:defRPr>
            </a:lvl1pPr>
            <a:lvl2pPr algn="l">
              <a:defRPr sz="1875" b="0">
                <a:solidFill>
                  <a:srgbClr val="142C40"/>
                </a:solidFill>
                <a:latin typeface="Aptos"/>
                <a:ea typeface="Aptos"/>
                <a:cs typeface="Aptos"/>
              </a:defRPr>
            </a:lvl2pPr>
            <a:lvl3pPr algn="l">
              <a:defRPr sz="1875" b="0">
                <a:solidFill>
                  <a:srgbClr val="142C40"/>
                </a:solidFill>
                <a:latin typeface="Aptos"/>
                <a:ea typeface="Aptos"/>
                <a:cs typeface="Aptos"/>
              </a:defRPr>
            </a:lvl3pPr>
            <a:lvl4pPr algn="l">
              <a:defRPr sz="1875" b="0">
                <a:solidFill>
                  <a:srgbClr val="142C40"/>
                </a:solidFill>
                <a:latin typeface="Aptos"/>
                <a:ea typeface="Aptos"/>
                <a:cs typeface="Aptos"/>
              </a:defRPr>
            </a:lvl4pPr>
            <a:lvl5pPr algn="l">
              <a:defRPr sz="1875" b="0">
                <a:solidFill>
                  <a:srgbClr val="142C40"/>
                </a:solidFill>
                <a:latin typeface="Aptos"/>
                <a:ea typeface="Aptos"/>
                <a:cs typeface="Aptos"/>
              </a:defRPr>
            </a:lvl5pPr>
            <a:lvl6pPr algn="l">
              <a:defRPr sz="1875" b="0">
                <a:solidFill>
                  <a:srgbClr val="142C40"/>
                </a:solidFill>
                <a:latin typeface="Aptos"/>
                <a:ea typeface="Aptos"/>
                <a:cs typeface="Aptos"/>
              </a:defRPr>
            </a:lvl6pPr>
            <a:lvl7pPr algn="l">
              <a:defRPr sz="1875" b="0">
                <a:solidFill>
                  <a:srgbClr val="142C40"/>
                </a:solidFill>
                <a:latin typeface="Aptos"/>
                <a:ea typeface="Aptos"/>
                <a:cs typeface="Aptos"/>
              </a:defRPr>
            </a:lvl7pPr>
            <a:lvl8pPr algn="l">
              <a:defRPr sz="1875" b="0">
                <a:solidFill>
                  <a:srgbClr val="142C40"/>
                </a:solidFill>
                <a:latin typeface="Aptos"/>
                <a:ea typeface="Aptos"/>
                <a:cs typeface="Aptos"/>
              </a:defRPr>
            </a:lvl8pPr>
            <a:lvl9pPr algn="l">
              <a:defRPr sz="1875" b="0">
                <a:solidFill>
                  <a:srgbClr val="142C40"/>
                </a:solidFill>
                <a:latin typeface="Aptos"/>
                <a:ea typeface="Aptos"/>
                <a:cs typeface="Aptos"/>
              </a:defRPr>
            </a:lvl9pPr>
          </a:lstStyle>
          <a:p xmlns:a="http://schemas.openxmlformats.org/drawingml/2006/main">
            <a:pPr algn="l">
              <a:defRPr sz="1875" b="0">
                <a:solidFill>
                  <a:srgbClr val="142C40"/>
                </a:solidFill>
                <a:latin typeface="Aptos"/>
                <a:ea typeface="Aptos"/>
                <a:cs typeface="Aptos"/>
              </a:defRPr>
            </a:pPr>
            <a:r>
              <a:rPr sz="1875" b="0">
                <a:solidFill>
                  <a:srgbClr val="142C40"/>
                </a:solidFill>
                <a:latin typeface="Aptos"/>
                <a:ea typeface="Aptos"/>
                <a:cs typeface="Aptos"/>
              </a:rPr>
              <a:t>Val RMSE thấp hơn; CV mean cũng thấp hơn trong lần chạy này.</a:t>
            </a:r>
          </a:p>
        </p:txBody>
      </p:sp>
      <p:sp>
        <p:nvSpPr>
          <p:cNvPr id="13" name="">
            <a:extLst xmlns:a="http://schemas.openxmlformats.org/drawingml/2006/main">
              <a:ext uri="{FF2B5EF4-FFF2-40B4-BE49-F238E27FC236}">
                <a16:creationId xmlns:a16="http://schemas.microsoft.com/office/drawing/2014/main" id="{D20C95BD-C6F6-4B0D-B9E5-4B9D866928CE}"/>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Ngân sách tuning nhỏ; CV biến động lớn; chưa tuning các mô hình cây.</a:t>
            </a:r>
          </a:p>
        </p:txBody>
      </p:sp>
    </p:spTree>
    <p:extLst>
      <p:ext uri="{BB962C8B-B14F-4D97-AF65-F5344CB8AC3E}">
        <p14:creationId xmlns:p14="http://schemas.microsoft.com/office/powerpoint/2010/main" val="17318072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Kết quả trên tập test</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ElasticNet đã chốt · 146 mẫu test giữ độc lập</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17</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DF69E39C-B748-4C99-AC4B-E91A67ACC7DF}"/>
              </a:ext>
            </a:extLst>
          </p:cNvPr>
          <p:cNvGraphicFramePr/>
          <p:nvPr/>
        </p:nvGraphicFramePr>
        <p:xfrm>
          <a:off xmlns:a="http://schemas.openxmlformats.org/drawingml/2006/main" x="619125" y="2047875"/>
          <a:ext xmlns:a="http://schemas.openxmlformats.org/drawingml/2006/main" cx="10953750" cy="3000375"/>
        </p:xfrm>
        <a:graphic xmlns:a="http://schemas.openxmlformats.org/drawingml/2006/main">
          <a:graphicData uri="http://schemas.openxmlformats.org/drawingml/2006/table">
            <a:tbl>
              <a:tblPr firstRow="0" bandRow="0"/>
              <a:tblGrid>
                <a:gridCol w="3333750"/>
                <a:gridCol w="3810000"/>
                <a:gridCol w="3810000"/>
              </a:tblGrid>
              <a:tr h="600075">
                <a:tc>
                  <a:txBody>
                    <a:bodyPr/>
                    <a:lstStyle/>
                    <a:p>
                      <a:pPr algn="l"/>
                      <a:r>
                        <a:rPr sz="2100" b="1">
                          <a:solidFill>
                            <a:srgbClr val="142C40"/>
                          </a:solidFill>
                          <a:latin typeface="Aptos"/>
                          <a:ea typeface="Aptos"/>
                          <a:cs typeface="Aptos"/>
                        </a:rPr>
                        <a:t>Chỉ số</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2100" b="1">
                          <a:solidFill>
                            <a:srgbClr val="142C40"/>
                          </a:solidFill>
                          <a:latin typeface="Aptos"/>
                          <a:ea typeface="Aptos"/>
                          <a:cs typeface="Aptos"/>
                        </a:rPr>
                        <a:t>Validation</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2100" b="1">
                          <a:solidFill>
                            <a:srgbClr val="142C40"/>
                          </a:solidFill>
                          <a:latin typeface="Aptos"/>
                          <a:ea typeface="Aptos"/>
                          <a:cs typeface="Aptos"/>
                        </a:rPr>
                        <a:t>Test</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00075">
                <a:tc>
                  <a:txBody>
                    <a:bodyPr/>
                    <a:lstStyle/>
                    <a:p>
                      <a:pPr algn="l"/>
                      <a:r>
                        <a:rPr sz="2100" b="0">
                          <a:solidFill>
                            <a:srgbClr val="142C40"/>
                          </a:solidFill>
                          <a:latin typeface="Aptos"/>
                          <a:ea typeface="Aptos"/>
                          <a:cs typeface="Aptos"/>
                        </a:rPr>
                        <a:t>RMSE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24,855.66</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22,228.60</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0075">
                <a:tc>
                  <a:txBody>
                    <a:bodyPr/>
                    <a:lstStyle/>
                    <a:p>
                      <a:pPr algn="l"/>
                      <a:r>
                        <a:rPr sz="2100" b="0">
                          <a:solidFill>
                            <a:srgbClr val="142C40"/>
                          </a:solidFill>
                          <a:latin typeface="Aptos"/>
                          <a:ea typeface="Aptos"/>
                          <a:cs typeface="Aptos"/>
                        </a:rPr>
                        <a:t>MAE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15,376.31</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15,452.34</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0075">
                <a:tc>
                  <a:txBody>
                    <a:bodyPr/>
                    <a:lstStyle/>
                    <a:p>
                      <a:pPr algn="l"/>
                      <a:r>
                        <a:rPr sz="2100" b="0">
                          <a:solidFill>
                            <a:srgbClr val="142C40"/>
                          </a:solidFill>
                          <a:latin typeface="Aptos"/>
                          <a:ea typeface="Aptos"/>
                          <a:cs typeface="Aptos"/>
                        </a:rPr>
                        <a:t>R²</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0.9172</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0.9076</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00075">
                <a:tc>
                  <a:txBody>
                    <a:bodyPr/>
                    <a:lstStyle/>
                    <a:p>
                      <a:pPr algn="l"/>
                      <a:r>
                        <a:rPr sz="2100" b="0">
                          <a:solidFill>
                            <a:srgbClr val="142C40"/>
                          </a:solidFill>
                          <a:latin typeface="Aptos"/>
                          <a:ea typeface="Aptos"/>
                          <a:cs typeface="Aptos"/>
                        </a:rPr>
                        <a:t>RMSLE</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0.1202</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2100" b="0">
                          <a:solidFill>
                            <a:srgbClr val="142C40"/>
                          </a:solidFill>
                          <a:latin typeface="Aptos"/>
                          <a:ea typeface="Aptos"/>
                          <a:cs typeface="Aptos"/>
                        </a:rPr>
                        <a:t>0.1177</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9F0C272-CB80-4BE5-B71B-179D03E26950}"/>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RMSE/MAE theo USD · Validation: fit train; Test: fit train + validation.</a:t>
            </a:r>
          </a:p>
        </p:txBody>
      </p:sp>
    </p:spTree>
    <p:extLst>
      <p:ext uri="{BB962C8B-B14F-4D97-AF65-F5344CB8AC3E}">
        <p14:creationId xmlns:p14="http://schemas.microsoft.com/office/powerpoint/2010/main" val="17318072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Phân tích dự báo và phần dư</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Giá thật so với giá dự báo · Phần dư sau chốt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18</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pic>
        <p:nvPicPr>
          <p:cNvPr id="10" name="">
            <a:extLst xmlns:a="http://schemas.openxmlformats.org/drawingml/2006/main">
              <a:ext uri="{FF2B5EF4-FFF2-40B4-BE49-F238E27FC236}">
                <a16:creationId xmlns:a16="http://schemas.microsoft.com/office/drawing/2014/main" id="{3F1DDE5D-779E-48A5-96BF-CB166A9FBF8B}"/>
              </a:ext>
            </a:extLst>
          </p:cNvPr>
          <p:cNvPicPr>
            <a:picLocks xmlns:a="http://schemas.openxmlformats.org/drawingml/2006/main" noChangeAspect="1"/>
          </p:cNvPicPr>
          <p:nvPr/>
        </p:nvPicPr>
        <p:blipFill>
          <a:blip xmlns:r="http://schemas.openxmlformats.org/officeDocument/2006/relationships" xmlns:a="http://schemas.openxmlformats.org/drawingml/2006/main" r:embed="R7c09e6fa24bc4358"/>
          <a:stretch xmlns:a="http://schemas.openxmlformats.org/drawingml/2006/main"/>
        </p:blipFill>
        <p:spPr>
          <a:xfrm xmlns:a="http://schemas.openxmlformats.org/drawingml/2006/main">
            <a:off x="1226389" y="1952625"/>
            <a:ext cx="4119473" cy="3476625"/>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4F7191AF-36F8-4D00-945A-72E15F344CF1}"/>
              </a:ext>
            </a:extLst>
          </p:cNvPr>
          <p:cNvPicPr>
            <a:picLocks xmlns:a="http://schemas.openxmlformats.org/drawingml/2006/main" noChangeAspect="1"/>
          </p:cNvPicPr>
          <p:nvPr/>
        </p:nvPicPr>
        <p:blipFill>
          <a:blip xmlns:r="http://schemas.openxmlformats.org/officeDocument/2006/relationships" xmlns:a="http://schemas.openxmlformats.org/drawingml/2006/main" r:embed="R95a23ea0a7d84dad"/>
          <a:stretch xmlns:a="http://schemas.openxmlformats.org/drawingml/2006/main"/>
        </p:blipFill>
        <p:spPr>
          <a:xfrm xmlns:a="http://schemas.openxmlformats.org/drawingml/2006/main">
            <a:off x="6623277" y="1952625"/>
            <a:ext cx="4469946" cy="34766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47B03190-62B4-47DD-B8C1-D5B294D59C08}"/>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Theo được xu hướng chung, nhưng còn những trường hợp lệch lớn.</a:t>
            </a:r>
          </a:p>
        </p:txBody>
      </p:sp>
    </p:spTree>
    <p:extLst>
      <p:ext uri="{BB962C8B-B14F-4D97-AF65-F5344CB8AC3E}">
        <p14:creationId xmlns:p14="http://schemas.microsoft.com/office/powerpoint/2010/main" val="173180728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Sai số theo nhóm giá nhà</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Tứ phân vị theo giá thật trên test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19</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Chart">
            <a:extLst xmlns:a="http://schemas.openxmlformats.org/drawingml/2006/main">
              <a:ext uri="{FF2B5EF4-FFF2-40B4-BE49-F238E27FC236}">
                <a16:creationId xmlns:a16="http://schemas.microsoft.com/office/drawing/2014/main" id="{6E09E5E9-4B44-4B27-8B88-7FC2AB061E8A}"/>
              </a:ext>
            </a:extLst>
          </p:cNvPr>
          <p:cNvGraphicFramePr/>
          <p:nvPr/>
        </p:nvGraphicFramePr>
        <p:xfrm>
          <a:off xmlns:a="http://schemas.openxmlformats.org/drawingml/2006/main" x="619125" y="1952625"/>
          <a:ext xmlns:a="http://schemas.openxmlformats.org/drawingml/2006/main" cx="10858500" cy="3429000"/>
        </p:xfrm>
        <a:graphic xmlns:a="http://schemas.openxmlformats.org/drawingml/2006/main">
          <a:graphicData uri="http://schemas.openxmlformats.org/drawingml/2006/chart">
            <c:chart xmlns:r="http://schemas.openxmlformats.org/officeDocument/2006/relationships" xmlns:c="http://schemas.openxmlformats.org/drawingml/2006/chart" r:id="R551fa719c7534393"/>
          </a:graphicData>
        </a:graphic>
      </p:graphicFrame>
      <p:sp>
        <p:nvSpPr>
          <p:cNvPr id="11" name="">
            <a:extLst xmlns:a="http://schemas.openxmlformats.org/drawingml/2006/main">
              <a:ext uri="{FF2B5EF4-FFF2-40B4-BE49-F238E27FC236}">
                <a16:creationId xmlns:a16="http://schemas.microsoft.com/office/drawing/2014/main" id="{49899F3B-2A20-432D-909B-A034EF5E38D3}"/>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Q4 giá cao có MAE khoảng 27.419 USD; đây là sai số tuyệt đối.</a:t>
            </a:r>
          </a:p>
        </p:txBody>
      </p:sp>
    </p:spTree>
    <p:extLst>
      <p:ext uri="{BB962C8B-B14F-4D97-AF65-F5344CB8AC3E}">
        <p14:creationId xmlns:p14="http://schemas.microsoft.com/office/powerpoint/2010/main" val="17318072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Mức độ quan trọng của thuộc tính</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Permutation importance · Diagnostic sau khi chốt</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20</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Chart">
            <a:extLst xmlns:a="http://schemas.openxmlformats.org/drawingml/2006/main">
              <a:ext uri="{FF2B5EF4-FFF2-40B4-BE49-F238E27FC236}">
                <a16:creationId xmlns:a16="http://schemas.microsoft.com/office/drawing/2014/main" id="{486252DD-B6CF-4668-BF8D-D45C79EDBF36}"/>
              </a:ext>
            </a:extLst>
          </p:cNvPr>
          <p:cNvGraphicFramePr/>
          <p:nvPr/>
        </p:nvGraphicFramePr>
        <p:xfrm>
          <a:off xmlns:a="http://schemas.openxmlformats.org/drawingml/2006/main" x="619125" y="1952625"/>
          <a:ext xmlns:a="http://schemas.openxmlformats.org/drawingml/2006/main" cx="10858500" cy="3524250"/>
        </p:xfrm>
        <a:graphic xmlns:a="http://schemas.openxmlformats.org/drawingml/2006/main">
          <a:graphicData uri="http://schemas.openxmlformats.org/drawingml/2006/chart">
            <c:chart xmlns:r="http://schemas.openxmlformats.org/officeDocument/2006/relationships" xmlns:c="http://schemas.openxmlformats.org/drawingml/2006/chart" r:id="R5e97b2aa71ae4845"/>
          </a:graphicData>
        </a:graphic>
      </p:graphicFrame>
      <p:sp>
        <p:nvSpPr>
          <p:cNvPr id="11" name="">
            <a:extLst xmlns:a="http://schemas.openxmlformats.org/drawingml/2006/main">
              <a:ext uri="{FF2B5EF4-FFF2-40B4-BE49-F238E27FC236}">
                <a16:creationId xmlns:a16="http://schemas.microsoft.com/office/drawing/2014/main" id="{BB9E9ADA-723B-4045-8761-A20C9D3E1766}"/>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50 mẫu test, 20 lần hoán vị · Độ quan trọng của mô hình, không phải nhân quả.</a:t>
            </a:r>
          </a:p>
        </p:txBody>
      </p:sp>
    </p:spTree>
    <p:extLst>
      <p:ext uri="{BB962C8B-B14F-4D97-AF65-F5344CB8AC3E}">
        <p14:creationId xmlns:p14="http://schemas.microsoft.com/office/powerpoint/2010/main" val="17318072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Kiến trúc ứng dụng dự báo</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Cùng một Pipeline cho thực nghiệm và phục vụ dự báo</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21</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102187F2-E347-49E3-BFB8-E96A01976D43}"/>
              </a:ext>
            </a:extLst>
          </p:cNvPr>
          <p:cNvGraphicFramePr/>
          <p:nvPr/>
        </p:nvGraphicFramePr>
        <p:xfrm>
          <a:off xmlns:a="http://schemas.openxmlformats.org/drawingml/2006/main" x="619125" y="2095500"/>
          <a:ext xmlns:a="http://schemas.openxmlformats.org/drawingml/2006/main" cx="10953750" cy="2762250"/>
        </p:xfrm>
        <a:graphic xmlns:a="http://schemas.openxmlformats.org/drawingml/2006/main">
          <a:graphicData uri="http://schemas.openxmlformats.org/drawingml/2006/table">
            <a:tbl>
              <a:tblPr firstRow="0" bandRow="0"/>
              <a:tblGrid>
                <a:gridCol w="2095500"/>
                <a:gridCol w="3714750"/>
                <a:gridCol w="5143500"/>
              </a:tblGrid>
              <a:tr h="690563">
                <a:tc>
                  <a:txBody>
                    <a:bodyPr/>
                    <a:lstStyle/>
                    <a:p>
                      <a:pPr algn="l"/>
                      <a:r>
                        <a:rPr sz="1950" b="1">
                          <a:solidFill>
                            <a:srgbClr val="142C40"/>
                          </a:solidFill>
                          <a:latin typeface="Aptos"/>
                          <a:ea typeface="Aptos"/>
                          <a:cs typeface="Aptos"/>
                        </a:rPr>
                        <a:t>Lớp</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Thành phần</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Nhiệm vụ</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90563">
                <a:tc>
                  <a:txBody>
                    <a:bodyPr/>
                    <a:lstStyle/>
                    <a:p>
                      <a:pPr algn="l"/>
                      <a:r>
                        <a:rPr sz="1950" b="0">
                          <a:solidFill>
                            <a:srgbClr val="142C40"/>
                          </a:solidFill>
                          <a:latin typeface="Aptos"/>
                          <a:ea typeface="Aptos"/>
                          <a:cs typeface="Aptos"/>
                        </a:rPr>
                        <a:t>Giao diện</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Streamlit: app/</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Nhập đơn / batch; hiển thị giá</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90563">
                <a:tc>
                  <a:txBody>
                    <a:bodyPr/>
                    <a:lstStyle/>
                    <a:p>
                      <a:pPr algn="l"/>
                      <a:r>
                        <a:rPr sz="1950" b="0">
                          <a:solidFill>
                            <a:srgbClr val="142C40"/>
                          </a:solidFill>
                          <a:latin typeface="Aptos"/>
                          <a:ea typeface="Aptos"/>
                          <a:cs typeface="Aptos"/>
                        </a:rPr>
                        <a:t>Dịch vụ</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backend.service</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Kiểm tra dữ liệu; gọi dự báo</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90563">
                <a:tc>
                  <a:txBody>
                    <a:bodyPr/>
                    <a:lstStyle/>
                    <a:p>
                      <a:pPr algn="l"/>
                      <a:r>
                        <a:rPr sz="1950" b="0">
                          <a:solidFill>
                            <a:srgbClr val="142C40"/>
                          </a:solidFill>
                          <a:latin typeface="Aptos"/>
                          <a:ea typeface="Aptos"/>
                          <a:cs typeface="Aptos"/>
                        </a:rPr>
                        <a:t>Mô hình</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Artifact + schema 79 biến</a:t>
                      </a:r>
                    </a:p>
                  </a:txBody>
                  <a:tcPr marL="91440" marR="91440" marT="45720" marB="45720" anchor="ctr">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Tạo đặc trưng, xử lý và predict</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6D5DC090-34A4-431B-B3BC-4A99DE440123}"/>
              </a:ext>
            </a:extLst>
          </p:cNvPr>
          <p:cNvSpPr>
            <a:spLocks xmlns:a="http://schemas.openxmlformats.org/drawingml/2006/main" noGrp="1"/>
          </p:cNvSpPr>
          <p:nvPr/>
        </p:nvSpPr>
        <p:spPr>
          <a:xfrm xmlns:a="http://schemas.openxmlformats.org/drawingml/2006/main">
            <a:off x="619125" y="51435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175676"/>
                </a:solidFill>
                <a:latin typeface="Aptos"/>
                <a:ea typeface="Aptos"/>
                <a:cs typeface="Aptos"/>
              </a:defRPr>
            </a:defPPr>
            <a:lvl1pPr algn="l">
              <a:defRPr sz="2100" b="1">
                <a:solidFill>
                  <a:srgbClr val="175676"/>
                </a:solidFill>
                <a:latin typeface="Aptos"/>
                <a:ea typeface="Aptos"/>
                <a:cs typeface="Aptos"/>
              </a:defRPr>
            </a:lvl1pPr>
            <a:lvl2pPr algn="l">
              <a:defRPr sz="2100" b="1">
                <a:solidFill>
                  <a:srgbClr val="175676"/>
                </a:solidFill>
                <a:latin typeface="Aptos"/>
                <a:ea typeface="Aptos"/>
                <a:cs typeface="Aptos"/>
              </a:defRPr>
            </a:lvl2pPr>
            <a:lvl3pPr algn="l">
              <a:defRPr sz="2100" b="1">
                <a:solidFill>
                  <a:srgbClr val="175676"/>
                </a:solidFill>
                <a:latin typeface="Aptos"/>
                <a:ea typeface="Aptos"/>
                <a:cs typeface="Aptos"/>
              </a:defRPr>
            </a:lvl3pPr>
            <a:lvl4pPr algn="l">
              <a:defRPr sz="2100" b="1">
                <a:solidFill>
                  <a:srgbClr val="175676"/>
                </a:solidFill>
                <a:latin typeface="Aptos"/>
                <a:ea typeface="Aptos"/>
                <a:cs typeface="Aptos"/>
              </a:defRPr>
            </a:lvl4pPr>
            <a:lvl5pPr algn="l">
              <a:defRPr sz="2100" b="1">
                <a:solidFill>
                  <a:srgbClr val="175676"/>
                </a:solidFill>
                <a:latin typeface="Aptos"/>
                <a:ea typeface="Aptos"/>
                <a:cs typeface="Aptos"/>
              </a:defRPr>
            </a:lvl5pPr>
            <a:lvl6pPr algn="l">
              <a:defRPr sz="2100" b="1">
                <a:solidFill>
                  <a:srgbClr val="175676"/>
                </a:solidFill>
                <a:latin typeface="Aptos"/>
                <a:ea typeface="Aptos"/>
                <a:cs typeface="Aptos"/>
              </a:defRPr>
            </a:lvl6pPr>
            <a:lvl7pPr algn="l">
              <a:defRPr sz="2100" b="1">
                <a:solidFill>
                  <a:srgbClr val="175676"/>
                </a:solidFill>
                <a:latin typeface="Aptos"/>
                <a:ea typeface="Aptos"/>
                <a:cs typeface="Aptos"/>
              </a:defRPr>
            </a:lvl7pPr>
            <a:lvl8pPr algn="l">
              <a:defRPr sz="2100" b="1">
                <a:solidFill>
                  <a:srgbClr val="175676"/>
                </a:solidFill>
                <a:latin typeface="Aptos"/>
                <a:ea typeface="Aptos"/>
                <a:cs typeface="Aptos"/>
              </a:defRPr>
            </a:lvl8pPr>
            <a:lvl9pPr algn="l">
              <a:defRPr sz="2100" b="1">
                <a:solidFill>
                  <a:srgbClr val="175676"/>
                </a:solidFill>
                <a:latin typeface="Aptos"/>
                <a:ea typeface="Aptos"/>
                <a:cs typeface="Aptos"/>
              </a:defRPr>
            </a:lvl9pPr>
          </a:lstStyle>
          <a:p xmlns:a="http://schemas.openxmlformats.org/drawingml/2006/main">
            <a:pPr algn="l">
              <a:defRPr sz="2100" b="1">
                <a:solidFill>
                  <a:srgbClr val="175676"/>
                </a:solidFill>
                <a:latin typeface="Aptos"/>
                <a:ea typeface="Aptos"/>
                <a:cs typeface="Aptos"/>
              </a:defRPr>
            </a:pPr>
            <a:r>
              <a:rPr sz="2100" b="1">
                <a:solidFill>
                  <a:srgbClr val="175676"/>
                </a:solidFill>
                <a:latin typeface="Aptos"/>
                <a:ea typeface="Aptos"/>
                <a:cs typeface="Aptos"/>
              </a:rPr>
              <a:t>Người dùng → Streamlit → Backend → Pipeline → Giá USD</a:t>
            </a:r>
          </a:p>
        </p:txBody>
      </p:sp>
      <p:sp>
        <p:nvSpPr>
          <p:cNvPr id="12" name="">
            <a:extLst xmlns:a="http://schemas.openxmlformats.org/drawingml/2006/main">
              <a:ext uri="{FF2B5EF4-FFF2-40B4-BE49-F238E27FC236}">
                <a16:creationId xmlns:a16="http://schemas.microsoft.com/office/drawing/2014/main" id="{D61C8516-9EDB-4166-ACF5-9C150C583DA0}"/>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Ứng dụng chỉ load/predict; không huấn luyện lại theo mỗi yêu cầu.</a:t>
            </a:r>
          </a:p>
        </p:txBody>
      </p:sp>
    </p:spTree>
    <p:extLst>
      <p:ext uri="{BB962C8B-B14F-4D97-AF65-F5344CB8AC3E}">
        <p14:creationId xmlns:p14="http://schemas.microsoft.com/office/powerpoint/2010/main" val="17318072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Ví dụ dự báo một căn nhà</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Quick Input → backend → kết quả dự báo</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22</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pic>
        <p:nvPicPr>
          <p:cNvPr id="10" name="">
            <a:extLst xmlns:a="http://schemas.openxmlformats.org/drawingml/2006/main">
              <a:ext uri="{FF2B5EF4-FFF2-40B4-BE49-F238E27FC236}">
                <a16:creationId xmlns:a16="http://schemas.microsoft.com/office/drawing/2014/main" id="{1CA131B1-1AE0-4AAA-AC20-8F8EFB6A3FC2}"/>
              </a:ext>
            </a:extLst>
          </p:cNvPr>
          <p:cNvPicPr>
            <a:picLocks xmlns:a="http://schemas.openxmlformats.org/drawingml/2006/main" noChangeAspect="1"/>
          </p:cNvPicPr>
          <p:nvPr/>
        </p:nvPicPr>
        <p:blipFill>
          <a:blip xmlns:r="http://schemas.openxmlformats.org/officeDocument/2006/relationships" xmlns:a="http://schemas.openxmlformats.org/drawingml/2006/main" r:embed="Rf775efea21984499"/>
          <a:stretch xmlns:a="http://schemas.openxmlformats.org/drawingml/2006/main"/>
        </p:blipFill>
        <p:spPr>
          <a:xfrm xmlns:a="http://schemas.openxmlformats.org/drawingml/2006/main">
            <a:off x="1510665" y="1952625"/>
            <a:ext cx="5074920" cy="35242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F0302D9-1828-406B-BC27-ECB3E1250A98}"/>
              </a:ext>
            </a:extLst>
          </p:cNvPr>
          <p:cNvSpPr>
            <a:spLocks xmlns:a="http://schemas.openxmlformats.org/drawingml/2006/main" noGrp="1"/>
          </p:cNvSpPr>
          <p:nvPr/>
        </p:nvSpPr>
        <p:spPr>
          <a:xfrm xmlns:a="http://schemas.openxmlformats.org/drawingml/2006/main">
            <a:off x="7762875" y="209550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42C40"/>
                </a:solidFill>
                <a:latin typeface="Aptos"/>
                <a:ea typeface="Aptos"/>
                <a:cs typeface="Aptos"/>
              </a:defRPr>
            </a:defPPr>
            <a:lvl1pPr algn="l">
              <a:defRPr sz="2025" b="1">
                <a:solidFill>
                  <a:srgbClr val="142C40"/>
                </a:solidFill>
                <a:latin typeface="Aptos"/>
                <a:ea typeface="Aptos"/>
                <a:cs typeface="Aptos"/>
              </a:defRPr>
            </a:lvl1pPr>
            <a:lvl2pPr algn="l">
              <a:defRPr sz="2025" b="1">
                <a:solidFill>
                  <a:srgbClr val="142C40"/>
                </a:solidFill>
                <a:latin typeface="Aptos"/>
                <a:ea typeface="Aptos"/>
                <a:cs typeface="Aptos"/>
              </a:defRPr>
            </a:lvl2pPr>
            <a:lvl3pPr algn="l">
              <a:defRPr sz="2025" b="1">
                <a:solidFill>
                  <a:srgbClr val="142C40"/>
                </a:solidFill>
                <a:latin typeface="Aptos"/>
                <a:ea typeface="Aptos"/>
                <a:cs typeface="Aptos"/>
              </a:defRPr>
            </a:lvl3pPr>
            <a:lvl4pPr algn="l">
              <a:defRPr sz="2025" b="1">
                <a:solidFill>
                  <a:srgbClr val="142C40"/>
                </a:solidFill>
                <a:latin typeface="Aptos"/>
                <a:ea typeface="Aptos"/>
                <a:cs typeface="Aptos"/>
              </a:defRPr>
            </a:lvl4pPr>
            <a:lvl5pPr algn="l">
              <a:defRPr sz="2025" b="1">
                <a:solidFill>
                  <a:srgbClr val="142C40"/>
                </a:solidFill>
                <a:latin typeface="Aptos"/>
                <a:ea typeface="Aptos"/>
                <a:cs typeface="Aptos"/>
              </a:defRPr>
            </a:lvl5pPr>
            <a:lvl6pPr algn="l">
              <a:defRPr sz="2025" b="1">
                <a:solidFill>
                  <a:srgbClr val="142C40"/>
                </a:solidFill>
                <a:latin typeface="Aptos"/>
                <a:ea typeface="Aptos"/>
                <a:cs typeface="Aptos"/>
              </a:defRPr>
            </a:lvl6pPr>
            <a:lvl7pPr algn="l">
              <a:defRPr sz="2025" b="1">
                <a:solidFill>
                  <a:srgbClr val="142C40"/>
                </a:solidFill>
                <a:latin typeface="Aptos"/>
                <a:ea typeface="Aptos"/>
                <a:cs typeface="Aptos"/>
              </a:defRPr>
            </a:lvl7pPr>
            <a:lvl8pPr algn="l">
              <a:defRPr sz="2025" b="1">
                <a:solidFill>
                  <a:srgbClr val="142C40"/>
                </a:solidFill>
                <a:latin typeface="Aptos"/>
                <a:ea typeface="Aptos"/>
                <a:cs typeface="Aptos"/>
              </a:defRPr>
            </a:lvl8pPr>
            <a:lvl9pPr algn="l">
              <a:defRPr sz="2025" b="1">
                <a:solidFill>
                  <a:srgbClr val="142C40"/>
                </a:solidFill>
                <a:latin typeface="Aptos"/>
                <a:ea typeface="Aptos"/>
                <a:cs typeface="Aptos"/>
              </a:defRPr>
            </a:lvl9pPr>
          </a:lstStyle>
          <a:p xmlns:a="http://schemas.openxmlformats.org/drawingml/2006/main">
            <a:pPr algn="l">
              <a:defRPr sz="2025" b="1">
                <a:solidFill>
                  <a:srgbClr val="142C40"/>
                </a:solidFill>
                <a:latin typeface="Aptos"/>
                <a:ea typeface="Aptos"/>
                <a:cs typeface="Aptos"/>
              </a:defRPr>
            </a:pPr>
            <a:r>
              <a:rPr sz="2025" b="1">
                <a:solidFill>
                  <a:srgbClr val="142C40"/>
                </a:solidFill>
                <a:latin typeface="Aptos"/>
                <a:ea typeface="Aptos"/>
                <a:cs typeface="Aptos"/>
              </a:rPr>
              <a:t>Ví dụ trong biểu mẫu</a:t>
            </a:r>
          </a:p>
        </p:txBody>
      </p:sp>
      <p:sp>
        <p:nvSpPr>
          <p:cNvPr id="12" name="">
            <a:extLst xmlns:a="http://schemas.openxmlformats.org/drawingml/2006/main">
              <a:ext uri="{FF2B5EF4-FFF2-40B4-BE49-F238E27FC236}">
                <a16:creationId xmlns:a16="http://schemas.microsoft.com/office/drawing/2014/main" id="{28BB2BD3-840D-4BE7-973F-AFC8A61F4D0E}"/>
              </a:ext>
            </a:extLst>
          </p:cNvPr>
          <p:cNvSpPr>
            <a:spLocks xmlns:a="http://schemas.openxmlformats.org/drawingml/2006/main" noGrp="1"/>
          </p:cNvSpPr>
          <p:nvPr/>
        </p:nvSpPr>
        <p:spPr>
          <a:xfrm xmlns:a="http://schemas.openxmlformats.org/drawingml/2006/main">
            <a:off x="7762875" y="2714625"/>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142C40"/>
                </a:solidFill>
                <a:latin typeface="Aptos"/>
                <a:ea typeface="Aptos"/>
                <a:cs typeface="Aptos"/>
              </a:defRPr>
            </a:defPPr>
            <a:lvl1pPr algn="l">
              <a:defRPr sz="2025" b="0">
                <a:solidFill>
                  <a:srgbClr val="142C40"/>
                </a:solidFill>
                <a:latin typeface="Aptos"/>
                <a:ea typeface="Aptos"/>
                <a:cs typeface="Aptos"/>
              </a:defRPr>
            </a:lvl1pPr>
            <a:lvl2pPr algn="l">
              <a:defRPr sz="2025" b="0">
                <a:solidFill>
                  <a:srgbClr val="142C40"/>
                </a:solidFill>
                <a:latin typeface="Aptos"/>
                <a:ea typeface="Aptos"/>
                <a:cs typeface="Aptos"/>
              </a:defRPr>
            </a:lvl2pPr>
            <a:lvl3pPr algn="l">
              <a:defRPr sz="2025" b="0">
                <a:solidFill>
                  <a:srgbClr val="142C40"/>
                </a:solidFill>
                <a:latin typeface="Aptos"/>
                <a:ea typeface="Aptos"/>
                <a:cs typeface="Aptos"/>
              </a:defRPr>
            </a:lvl3pPr>
            <a:lvl4pPr algn="l">
              <a:defRPr sz="2025" b="0">
                <a:solidFill>
                  <a:srgbClr val="142C40"/>
                </a:solidFill>
                <a:latin typeface="Aptos"/>
                <a:ea typeface="Aptos"/>
                <a:cs typeface="Aptos"/>
              </a:defRPr>
            </a:lvl4pPr>
            <a:lvl5pPr algn="l">
              <a:defRPr sz="2025" b="0">
                <a:solidFill>
                  <a:srgbClr val="142C40"/>
                </a:solidFill>
                <a:latin typeface="Aptos"/>
                <a:ea typeface="Aptos"/>
                <a:cs typeface="Aptos"/>
              </a:defRPr>
            </a:lvl5pPr>
            <a:lvl6pPr algn="l">
              <a:defRPr sz="2025" b="0">
                <a:solidFill>
                  <a:srgbClr val="142C40"/>
                </a:solidFill>
                <a:latin typeface="Aptos"/>
                <a:ea typeface="Aptos"/>
                <a:cs typeface="Aptos"/>
              </a:defRPr>
            </a:lvl6pPr>
            <a:lvl7pPr algn="l">
              <a:defRPr sz="2025" b="0">
                <a:solidFill>
                  <a:srgbClr val="142C40"/>
                </a:solidFill>
                <a:latin typeface="Aptos"/>
                <a:ea typeface="Aptos"/>
                <a:cs typeface="Aptos"/>
              </a:defRPr>
            </a:lvl7pPr>
            <a:lvl8pPr algn="l">
              <a:defRPr sz="2025" b="0">
                <a:solidFill>
                  <a:srgbClr val="142C40"/>
                </a:solidFill>
                <a:latin typeface="Aptos"/>
                <a:ea typeface="Aptos"/>
                <a:cs typeface="Aptos"/>
              </a:defRPr>
            </a:lvl8pPr>
            <a:lvl9pPr algn="l">
              <a:defRPr sz="2025" b="0">
                <a:solidFill>
                  <a:srgbClr val="142C40"/>
                </a:solidFill>
                <a:latin typeface="Aptos"/>
                <a:ea typeface="Aptos"/>
                <a:cs typeface="Aptos"/>
              </a:defRPr>
            </a:lvl9pPr>
          </a:lstStyle>
          <a:p xmlns:a="http://schemas.openxmlformats.org/drawingml/2006/main">
            <a:pPr algn="l">
              <a:defRPr sz="2025" b="0">
                <a:solidFill>
                  <a:srgbClr val="142C40"/>
                </a:solidFill>
                <a:latin typeface="Aptos"/>
                <a:ea typeface="Aptos"/>
                <a:cs typeface="Aptos"/>
              </a:defRPr>
            </a:pPr>
            <a:r>
              <a:rPr sz="2025" b="0">
                <a:solidFill>
                  <a:srgbClr val="142C40"/>
                </a:solidFill>
                <a:latin typeface="Aptos"/>
                <a:ea typeface="Aptos"/>
                <a:cs typeface="Aptos"/>
              </a:rPr>
              <a:t>OverallQual: 6</a:t>
            </a:r>
          </a:p>
          <a:p xmlns:a="http://schemas.openxmlformats.org/drawingml/2006/main">
            <a:pPr algn="l">
              <a:defRPr sz="2025" b="0">
                <a:solidFill>
                  <a:srgbClr val="142C40"/>
                </a:solidFill>
                <a:latin typeface="Aptos"/>
                <a:ea typeface="Aptos"/>
                <a:cs typeface="Aptos"/>
              </a:defRPr>
            </a:pPr>
            <a:r>
              <a:rPr sz="2025" b="0">
                <a:solidFill>
                  <a:srgbClr val="142C40"/>
                </a:solidFill>
                <a:latin typeface="Aptos"/>
                <a:ea typeface="Aptos"/>
                <a:cs typeface="Aptos"/>
              </a:rPr>
              <a:t>GrLivArea: 1.465 ft²</a:t>
            </a:r>
          </a:p>
          <a:p xmlns:a="http://schemas.openxmlformats.org/drawingml/2006/main">
            <a:pPr algn="l">
              <a:defRPr sz="2025" b="0">
                <a:solidFill>
                  <a:srgbClr val="142C40"/>
                </a:solidFill>
                <a:latin typeface="Aptos"/>
                <a:ea typeface="Aptos"/>
                <a:cs typeface="Aptos"/>
              </a:defRPr>
            </a:pPr>
            <a:r>
              <a:rPr sz="2025" b="0">
                <a:solidFill>
                  <a:srgbClr val="142C40"/>
                </a:solidFill>
                <a:latin typeface="Aptos"/>
                <a:ea typeface="Aptos"/>
                <a:cs typeface="Aptos"/>
              </a:rPr>
              <a:t>Neighborhood: NAmes</a:t>
            </a:r>
          </a:p>
          <a:p xmlns:a="http://schemas.openxmlformats.org/drawingml/2006/main">
            <a:pPr algn="l">
              <a:defRPr sz="2025" b="0">
                <a:solidFill>
                  <a:srgbClr val="142C40"/>
                </a:solidFill>
                <a:latin typeface="Aptos"/>
                <a:ea typeface="Aptos"/>
                <a:cs typeface="Aptos"/>
              </a:defRPr>
            </a:pPr>
            <a:r>
              <a:rPr sz="2025" b="0">
                <a:solidFill>
                  <a:srgbClr val="142C40"/>
                </a:solidFill>
                <a:latin typeface="Aptos"/>
                <a:ea typeface="Aptos"/>
                <a:cs typeface="Aptos"/>
              </a:rPr>
              <a:t>GarageCars: 2</a:t>
            </a:r>
          </a:p>
        </p:txBody>
      </p:sp>
      <p:sp>
        <p:nvSpPr>
          <p:cNvPr id="13" name="">
            <a:extLst xmlns:a="http://schemas.openxmlformats.org/drawingml/2006/main">
              <a:ext uri="{FF2B5EF4-FFF2-40B4-BE49-F238E27FC236}">
                <a16:creationId xmlns:a16="http://schemas.microsoft.com/office/drawing/2014/main" id="{E9D12909-E380-4C2A-B4D3-327E13207DB0}"/>
              </a:ext>
            </a:extLst>
          </p:cNvPr>
          <p:cNvSpPr>
            <a:spLocks xmlns:a="http://schemas.openxmlformats.org/drawingml/2006/main" noGrp="1"/>
          </p:cNvSpPr>
          <p:nvPr/>
        </p:nvSpPr>
        <p:spPr>
          <a:xfrm xmlns:a="http://schemas.openxmlformats.org/drawingml/2006/main">
            <a:off x="7762875" y="4343400"/>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0">
                <a:solidFill>
                  <a:srgbClr val="50616D"/>
                </a:solidFill>
                <a:latin typeface="Aptos"/>
                <a:ea typeface="Aptos"/>
                <a:cs typeface="Aptos"/>
              </a:defRPr>
            </a:defPPr>
            <a:lvl1pPr algn="l">
              <a:defRPr sz="1875" b="0">
                <a:solidFill>
                  <a:srgbClr val="50616D"/>
                </a:solidFill>
                <a:latin typeface="Aptos"/>
                <a:ea typeface="Aptos"/>
                <a:cs typeface="Aptos"/>
              </a:defRPr>
            </a:lvl1pPr>
            <a:lvl2pPr algn="l">
              <a:defRPr sz="1875" b="0">
                <a:solidFill>
                  <a:srgbClr val="50616D"/>
                </a:solidFill>
                <a:latin typeface="Aptos"/>
                <a:ea typeface="Aptos"/>
                <a:cs typeface="Aptos"/>
              </a:defRPr>
            </a:lvl2pPr>
            <a:lvl3pPr algn="l">
              <a:defRPr sz="1875" b="0">
                <a:solidFill>
                  <a:srgbClr val="50616D"/>
                </a:solidFill>
                <a:latin typeface="Aptos"/>
                <a:ea typeface="Aptos"/>
                <a:cs typeface="Aptos"/>
              </a:defRPr>
            </a:lvl3pPr>
            <a:lvl4pPr algn="l">
              <a:defRPr sz="1875" b="0">
                <a:solidFill>
                  <a:srgbClr val="50616D"/>
                </a:solidFill>
                <a:latin typeface="Aptos"/>
                <a:ea typeface="Aptos"/>
                <a:cs typeface="Aptos"/>
              </a:defRPr>
            </a:lvl4pPr>
            <a:lvl5pPr algn="l">
              <a:defRPr sz="1875" b="0">
                <a:solidFill>
                  <a:srgbClr val="50616D"/>
                </a:solidFill>
                <a:latin typeface="Aptos"/>
                <a:ea typeface="Aptos"/>
                <a:cs typeface="Aptos"/>
              </a:defRPr>
            </a:lvl5pPr>
            <a:lvl6pPr algn="l">
              <a:defRPr sz="1875" b="0">
                <a:solidFill>
                  <a:srgbClr val="50616D"/>
                </a:solidFill>
                <a:latin typeface="Aptos"/>
                <a:ea typeface="Aptos"/>
                <a:cs typeface="Aptos"/>
              </a:defRPr>
            </a:lvl6pPr>
            <a:lvl7pPr algn="l">
              <a:defRPr sz="1875" b="0">
                <a:solidFill>
                  <a:srgbClr val="50616D"/>
                </a:solidFill>
                <a:latin typeface="Aptos"/>
                <a:ea typeface="Aptos"/>
                <a:cs typeface="Aptos"/>
              </a:defRPr>
            </a:lvl7pPr>
            <a:lvl8pPr algn="l">
              <a:defRPr sz="1875" b="0">
                <a:solidFill>
                  <a:srgbClr val="50616D"/>
                </a:solidFill>
                <a:latin typeface="Aptos"/>
                <a:ea typeface="Aptos"/>
                <a:cs typeface="Aptos"/>
              </a:defRPr>
            </a:lvl8pPr>
            <a:lvl9pPr algn="l">
              <a:defRPr sz="1875" b="0">
                <a:solidFill>
                  <a:srgbClr val="50616D"/>
                </a:solidFill>
                <a:latin typeface="Aptos"/>
                <a:ea typeface="Aptos"/>
                <a:cs typeface="Aptos"/>
              </a:defRPr>
            </a:lvl9pPr>
          </a:lstStyle>
          <a:p xmlns:a="http://schemas.openxmlformats.org/drawingml/2006/main">
            <a:pPr algn="l">
              <a:defRPr sz="1875" b="0">
                <a:solidFill>
                  <a:srgbClr val="50616D"/>
                </a:solidFill>
                <a:latin typeface="Aptos"/>
                <a:ea typeface="Aptos"/>
                <a:cs typeface="Aptos"/>
              </a:defRPr>
            </a:pPr>
            <a:r>
              <a:rPr sz="1875" b="0">
                <a:solidFill>
                  <a:srgbClr val="50616D"/>
                </a:solidFill>
                <a:latin typeface="Aptos"/>
                <a:ea typeface="Aptos"/>
                <a:cs typeface="Aptos"/>
              </a:rPr>
              <a:t>Giá ước lượng</a:t>
            </a:r>
          </a:p>
        </p:txBody>
      </p:sp>
      <p:sp>
        <p:nvSpPr>
          <p:cNvPr id="14" name="">
            <a:extLst xmlns:a="http://schemas.openxmlformats.org/drawingml/2006/main">
              <a:ext uri="{FF2B5EF4-FFF2-40B4-BE49-F238E27FC236}">
                <a16:creationId xmlns:a16="http://schemas.microsoft.com/office/drawing/2014/main" id="{B0162556-7BFB-494E-99D8-3699CB55C74E}"/>
              </a:ext>
            </a:extLst>
          </p:cNvPr>
          <p:cNvSpPr>
            <a:spLocks xmlns:a="http://schemas.openxmlformats.org/drawingml/2006/main" noGrp="1"/>
          </p:cNvSpPr>
          <p:nvPr/>
        </p:nvSpPr>
        <p:spPr>
          <a:xfrm xmlns:a="http://schemas.openxmlformats.org/drawingml/2006/main">
            <a:off x="7762875" y="4762500"/>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625" b="1">
                <a:solidFill>
                  <a:srgbClr val="175676"/>
                </a:solidFill>
                <a:latin typeface="Aptos"/>
                <a:ea typeface="Aptos"/>
                <a:cs typeface="Aptos"/>
              </a:defRPr>
            </a:defPPr>
            <a:lvl1pPr algn="l">
              <a:defRPr sz="2625" b="1">
                <a:solidFill>
                  <a:srgbClr val="175676"/>
                </a:solidFill>
                <a:latin typeface="Aptos"/>
                <a:ea typeface="Aptos"/>
                <a:cs typeface="Aptos"/>
              </a:defRPr>
            </a:lvl1pPr>
            <a:lvl2pPr algn="l">
              <a:defRPr sz="2625" b="1">
                <a:solidFill>
                  <a:srgbClr val="175676"/>
                </a:solidFill>
                <a:latin typeface="Aptos"/>
                <a:ea typeface="Aptos"/>
                <a:cs typeface="Aptos"/>
              </a:defRPr>
            </a:lvl2pPr>
            <a:lvl3pPr algn="l">
              <a:defRPr sz="2625" b="1">
                <a:solidFill>
                  <a:srgbClr val="175676"/>
                </a:solidFill>
                <a:latin typeface="Aptos"/>
                <a:ea typeface="Aptos"/>
                <a:cs typeface="Aptos"/>
              </a:defRPr>
            </a:lvl3pPr>
            <a:lvl4pPr algn="l">
              <a:defRPr sz="2625" b="1">
                <a:solidFill>
                  <a:srgbClr val="175676"/>
                </a:solidFill>
                <a:latin typeface="Aptos"/>
                <a:ea typeface="Aptos"/>
                <a:cs typeface="Aptos"/>
              </a:defRPr>
            </a:lvl4pPr>
            <a:lvl5pPr algn="l">
              <a:defRPr sz="2625" b="1">
                <a:solidFill>
                  <a:srgbClr val="175676"/>
                </a:solidFill>
                <a:latin typeface="Aptos"/>
                <a:ea typeface="Aptos"/>
                <a:cs typeface="Aptos"/>
              </a:defRPr>
            </a:lvl5pPr>
            <a:lvl6pPr algn="l">
              <a:defRPr sz="2625" b="1">
                <a:solidFill>
                  <a:srgbClr val="175676"/>
                </a:solidFill>
                <a:latin typeface="Aptos"/>
                <a:ea typeface="Aptos"/>
                <a:cs typeface="Aptos"/>
              </a:defRPr>
            </a:lvl6pPr>
            <a:lvl7pPr algn="l">
              <a:defRPr sz="2625" b="1">
                <a:solidFill>
                  <a:srgbClr val="175676"/>
                </a:solidFill>
                <a:latin typeface="Aptos"/>
                <a:ea typeface="Aptos"/>
                <a:cs typeface="Aptos"/>
              </a:defRPr>
            </a:lvl7pPr>
            <a:lvl8pPr algn="l">
              <a:defRPr sz="2625" b="1">
                <a:solidFill>
                  <a:srgbClr val="175676"/>
                </a:solidFill>
                <a:latin typeface="Aptos"/>
                <a:ea typeface="Aptos"/>
                <a:cs typeface="Aptos"/>
              </a:defRPr>
            </a:lvl8pPr>
            <a:lvl9pPr algn="l">
              <a:defRPr sz="2625" b="1">
                <a:solidFill>
                  <a:srgbClr val="175676"/>
                </a:solidFill>
                <a:latin typeface="Aptos"/>
                <a:ea typeface="Aptos"/>
                <a:cs typeface="Aptos"/>
              </a:defRPr>
            </a:lvl9pPr>
          </a:lstStyle>
          <a:p xmlns:a="http://schemas.openxmlformats.org/drawingml/2006/main">
            <a:pPr algn="l">
              <a:defRPr sz="2625" b="1">
                <a:solidFill>
                  <a:srgbClr val="175676"/>
                </a:solidFill>
                <a:latin typeface="Aptos"/>
                <a:ea typeface="Aptos"/>
                <a:cs typeface="Aptos"/>
              </a:defRPr>
            </a:pPr>
            <a:r>
              <a:rPr sz="2625" b="1">
                <a:solidFill>
                  <a:srgbClr val="175676"/>
                </a:solidFill>
                <a:latin typeface="Aptos"/>
                <a:ea typeface="Aptos"/>
                <a:cs typeface="Aptos"/>
              </a:rPr>
              <a:t>162,972.03 USD</a:t>
            </a:r>
          </a:p>
        </p:txBody>
      </p:sp>
      <p:sp>
        <p:nvSpPr>
          <p:cNvPr id="15" name="">
            <a:extLst xmlns:a="http://schemas.openxmlformats.org/drawingml/2006/main">
              <a:ext uri="{FF2B5EF4-FFF2-40B4-BE49-F238E27FC236}">
                <a16:creationId xmlns:a16="http://schemas.microsoft.com/office/drawing/2014/main" id="{B6D1D568-8694-4B4B-80BF-634B4DDFAB9E}"/>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15 biến nhập trực tiếp, 64 biến dùng mặc định train · Kết quả chạy bằng backend hiện hành.</a:t>
            </a:r>
          </a:p>
        </p:txBody>
      </p:sp>
    </p:spTree>
    <p:extLst>
      <p:ext uri="{BB962C8B-B14F-4D97-AF65-F5344CB8AC3E}">
        <p14:creationId xmlns:p14="http://schemas.microsoft.com/office/powerpoint/2010/main" val="17318072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Kiểm thử và trạng thái triển khai</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Kiểm thử mã, trạng thái notebook và môi trường phục vụ</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23</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graphicFrame>
        <p:nvGraphicFramePr>
          <p:cNvPr id="10" name="">
            <a:extLst xmlns:a="http://schemas.openxmlformats.org/drawingml/2006/main">
              <a:ext uri="{FF2B5EF4-FFF2-40B4-BE49-F238E27FC236}">
                <a16:creationId xmlns:a16="http://schemas.microsoft.com/office/drawing/2014/main" id="{8947409A-FB3D-4A21-841D-24A4BB2A7686}"/>
              </a:ext>
            </a:extLst>
          </p:cNvPr>
          <p:cNvGraphicFramePr/>
          <p:nvPr/>
        </p:nvGraphicFramePr>
        <p:xfrm>
          <a:off xmlns:a="http://schemas.openxmlformats.org/drawingml/2006/main" x="619125" y="2095500"/>
          <a:ext xmlns:a="http://schemas.openxmlformats.org/drawingml/2006/main" cx="10953750" cy="2571750"/>
        </p:xfrm>
        <a:graphic xmlns:a="http://schemas.openxmlformats.org/drawingml/2006/main">
          <a:graphicData uri="http://schemas.openxmlformats.org/drawingml/2006/table">
            <a:tbl>
              <a:tblPr firstRow="0" bandRow="0"/>
              <a:tblGrid>
                <a:gridCol w="6667500"/>
                <a:gridCol w="4286250"/>
              </a:tblGrid>
              <a:tr h="642938">
                <a:tc>
                  <a:txBody>
                    <a:bodyPr/>
                    <a:lstStyle/>
                    <a:p>
                      <a:pPr algn="l"/>
                      <a:r>
                        <a:rPr sz="1950" b="1">
                          <a:solidFill>
                            <a:srgbClr val="142C40"/>
                          </a:solidFill>
                          <a:latin typeface="Aptos"/>
                          <a:ea typeface="Aptos"/>
                          <a:cs typeface="Aptos"/>
                        </a:rPr>
                        <a:t>Nội dung</a:t>
                      </a:r>
                    </a:p>
                  </a:txBody>
                  <a:tcPr marL="91440" marR="91440" marT="45720" marB="45720" anchor="ctr">
                    <a:lnL w="6668">
                      <a:solidFill>
                        <a:srgbClr val="B7B7B7"/>
                      </a:solidFill>
                      <a:prstDash val="solid"/>
                    </a:lnL>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c>
                  <a:txBody>
                    <a:bodyPr/>
                    <a:lstStyle/>
                    <a:p>
                      <a:pPr algn="ctr"/>
                      <a:r>
                        <a:rPr sz="1950" b="1">
                          <a:solidFill>
                            <a:srgbClr val="142C40"/>
                          </a:solidFill>
                          <a:latin typeface="Aptos"/>
                          <a:ea typeface="Aptos"/>
                          <a:cs typeface="Aptos"/>
                        </a:rPr>
                        <a:t>Kết quả</a:t>
                      </a:r>
                    </a:p>
                  </a:txBody>
                  <a:tcPr marL="91440" marR="91440" marT="45720" marB="45720" anchor="ctr">
                    <a:lnR w="6668">
                      <a:solidFill>
                        <a:srgbClr val="B7B7B7"/>
                      </a:solidFill>
                      <a:prstDash val="solid"/>
                    </a:lnR>
                    <a:lnT w="6668">
                      <a:solidFill>
                        <a:srgbClr val="B7B7B7"/>
                      </a:solidFill>
                      <a:prstDash val="solid"/>
                    </a:lnT>
                    <a:lnB w="6668">
                      <a:solidFill>
                        <a:srgbClr val="B7B7B7"/>
                      </a:solidFill>
                      <a:prstDash val="solid"/>
                    </a:lnB>
                    <a:solidFill>
                      <a:srgbClr val="FFFFFF"/>
                    </a:solidFill>
                  </a:tcPr>
                </a:tc>
              </a:tr>
              <a:tr h="642938">
                <a:tc>
                  <a:txBody>
                    <a:bodyPr/>
                    <a:lstStyle/>
                    <a:p>
                      <a:pPr algn="l"/>
                      <a:r>
                        <a:rPr sz="1950" b="0">
                          <a:solidFill>
                            <a:srgbClr val="142C40"/>
                          </a:solidFill>
                          <a:latin typeface="Aptos"/>
                          <a:ea typeface="Aptos"/>
                          <a:cs typeface="Aptos"/>
                        </a:rPr>
                        <a:t>Pytest ngày 22/10/2026</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69 passed; 0 failed; 0 skipped</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2938">
                <a:tc>
                  <a:txBody>
                    <a:bodyPr/>
                    <a:lstStyle/>
                    <a:p>
                      <a:pPr algn="l"/>
                      <a:r>
                        <a:rPr sz="1950" b="0">
                          <a:solidFill>
                            <a:srgbClr val="142C40"/>
                          </a:solidFill>
                          <a:latin typeface="Aptos"/>
                          <a:ea typeface="Aptos"/>
                          <a:cs typeface="Aptos"/>
                        </a:rPr>
                        <a:t>Coverage core + backend</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99.7%</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r h="642938">
                <a:tc>
                  <a:txBody>
                    <a:bodyPr/>
                    <a:lstStyle/>
                    <a:p>
                      <a:pPr algn="l"/>
                      <a:r>
                        <a:rPr sz="1950" b="0">
                          <a:solidFill>
                            <a:srgbClr val="142C40"/>
                          </a:solidFill>
                          <a:latin typeface="Aptos"/>
                          <a:ea typeface="Aptos"/>
                          <a:cs typeface="Aptos"/>
                        </a:rPr>
                        <a:t>Notebook Detailed / Basic</a:t>
                      </a:r>
                    </a:p>
                  </a:txBody>
                  <a:tcPr marL="91440" marR="91440" marT="45720" marB="45720" anchor="ctr">
                    <a:lnL w="6668">
                      <a:solidFill>
                        <a:srgbClr val="B7B7B7"/>
                      </a:solidFill>
                      <a:prstDash val="solid"/>
                    </a:lnL>
                    <a:lnR w="6668">
                      <a:solidFill>
                        <a:srgbClr val="B7B7B7"/>
                      </a:solidFill>
                      <a:prstDash val="solid"/>
                    </a:lnR>
                    <a:lnB w="6668">
                      <a:solidFill>
                        <a:srgbClr val="B7B7B7"/>
                      </a:solidFill>
                      <a:prstDash val="solid"/>
                    </a:lnB>
                    <a:solidFill>
                      <a:srgbClr val="FFFFFF"/>
                    </a:solidFill>
                  </a:tcPr>
                </a:tc>
                <a:tc>
                  <a:txBody>
                    <a:bodyPr/>
                    <a:lstStyle/>
                    <a:p>
                      <a:pPr algn="ctr"/>
                      <a:r>
                        <a:rPr sz="1950" b="0">
                          <a:solidFill>
                            <a:srgbClr val="142C40"/>
                          </a:solidFill>
                          <a:latin typeface="Aptos"/>
                          <a:ea typeface="Aptos"/>
                          <a:cs typeface="Aptos"/>
                        </a:rPr>
                        <a:t>PASS / PASS (kết quả đã lưu)</a:t>
                      </a:r>
                    </a:p>
                  </a:txBody>
                  <a:tcPr marL="91440" marR="91440" marT="45720" marB="45720" anchor="ctr">
                    <a:lnR w="6668">
                      <a:solidFill>
                        <a:srgbClr val="B7B7B7"/>
                      </a:solidFill>
                      <a:prstDash val="solid"/>
                    </a:lnR>
                    <a:lnB w="6668">
                      <a:solidFill>
                        <a:srgbClr val="B7B7B7"/>
                      </a:solidFill>
                      <a:prstDash val="solid"/>
                    </a:lnB>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BD86AEA1-B06C-4D06-B2D3-F95E3354317D}"/>
              </a:ext>
            </a:extLst>
          </p:cNvPr>
          <p:cNvSpPr>
            <a:spLocks xmlns:a="http://schemas.openxmlformats.org/drawingml/2006/main" noGrp="1"/>
          </p:cNvSpPr>
          <p:nvPr/>
        </p:nvSpPr>
        <p:spPr>
          <a:xfrm xmlns:a="http://schemas.openxmlformats.org/drawingml/2006/main">
            <a:off x="619125" y="50482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142C40"/>
                </a:solidFill>
                <a:latin typeface="Aptos"/>
                <a:ea typeface="Aptos"/>
                <a:cs typeface="Aptos"/>
              </a:defRPr>
            </a:defPPr>
            <a:lvl1pPr algn="l">
              <a:defRPr sz="2025" b="0">
                <a:solidFill>
                  <a:srgbClr val="142C40"/>
                </a:solidFill>
                <a:latin typeface="Aptos"/>
                <a:ea typeface="Aptos"/>
                <a:cs typeface="Aptos"/>
              </a:defRPr>
            </a:lvl1pPr>
            <a:lvl2pPr algn="l">
              <a:defRPr sz="2025" b="0">
                <a:solidFill>
                  <a:srgbClr val="142C40"/>
                </a:solidFill>
                <a:latin typeface="Aptos"/>
                <a:ea typeface="Aptos"/>
                <a:cs typeface="Aptos"/>
              </a:defRPr>
            </a:lvl2pPr>
            <a:lvl3pPr algn="l">
              <a:defRPr sz="2025" b="0">
                <a:solidFill>
                  <a:srgbClr val="142C40"/>
                </a:solidFill>
                <a:latin typeface="Aptos"/>
                <a:ea typeface="Aptos"/>
                <a:cs typeface="Aptos"/>
              </a:defRPr>
            </a:lvl3pPr>
            <a:lvl4pPr algn="l">
              <a:defRPr sz="2025" b="0">
                <a:solidFill>
                  <a:srgbClr val="142C40"/>
                </a:solidFill>
                <a:latin typeface="Aptos"/>
                <a:ea typeface="Aptos"/>
                <a:cs typeface="Aptos"/>
              </a:defRPr>
            </a:lvl4pPr>
            <a:lvl5pPr algn="l">
              <a:defRPr sz="2025" b="0">
                <a:solidFill>
                  <a:srgbClr val="142C40"/>
                </a:solidFill>
                <a:latin typeface="Aptos"/>
                <a:ea typeface="Aptos"/>
                <a:cs typeface="Aptos"/>
              </a:defRPr>
            </a:lvl5pPr>
            <a:lvl6pPr algn="l">
              <a:defRPr sz="2025" b="0">
                <a:solidFill>
                  <a:srgbClr val="142C40"/>
                </a:solidFill>
                <a:latin typeface="Aptos"/>
                <a:ea typeface="Aptos"/>
                <a:cs typeface="Aptos"/>
              </a:defRPr>
            </a:lvl6pPr>
            <a:lvl7pPr algn="l">
              <a:defRPr sz="2025" b="0">
                <a:solidFill>
                  <a:srgbClr val="142C40"/>
                </a:solidFill>
                <a:latin typeface="Aptos"/>
                <a:ea typeface="Aptos"/>
                <a:cs typeface="Aptos"/>
              </a:defRPr>
            </a:lvl7pPr>
            <a:lvl8pPr algn="l">
              <a:defRPr sz="2025" b="0">
                <a:solidFill>
                  <a:srgbClr val="142C40"/>
                </a:solidFill>
                <a:latin typeface="Aptos"/>
                <a:ea typeface="Aptos"/>
                <a:cs typeface="Aptos"/>
              </a:defRPr>
            </a:lvl8pPr>
            <a:lvl9pPr algn="l">
              <a:defRPr sz="2025" b="0">
                <a:solidFill>
                  <a:srgbClr val="142C40"/>
                </a:solidFill>
                <a:latin typeface="Aptos"/>
                <a:ea typeface="Aptos"/>
                <a:cs typeface="Aptos"/>
              </a:defRPr>
            </a:lvl9pPr>
          </a:lstStyle>
          <a:p xmlns:a="http://schemas.openxmlformats.org/drawingml/2006/main">
            <a:pPr algn="l">
              <a:defRPr sz="2025" b="0">
                <a:solidFill>
                  <a:srgbClr val="142C40"/>
                </a:solidFill>
                <a:latin typeface="Aptos"/>
                <a:ea typeface="Aptos"/>
                <a:cs typeface="Aptos"/>
              </a:defRPr>
            </a:pPr>
            <a:r>
              <a:rPr sz="2025" b="0">
                <a:solidFill>
                  <a:srgbClr val="142C40"/>
                </a:solidFill>
                <a:latin typeface="Aptos"/>
                <a:ea typeface="Aptos"/>
                <a:cs typeface="Aptos"/>
              </a:rPr>
              <a:t>Cloud chưa xác minh lại suy luận; chuẩn bị demo local và kết quả dự phòng.</a:t>
            </a:r>
          </a:p>
        </p:txBody>
      </p:sp>
      <p:sp>
        <p:nvSpPr>
          <p:cNvPr id="12" name="">
            <a:extLst xmlns:a="http://schemas.openxmlformats.org/drawingml/2006/main">
              <a:ext uri="{FF2B5EF4-FFF2-40B4-BE49-F238E27FC236}">
                <a16:creationId xmlns:a16="http://schemas.microsoft.com/office/drawing/2014/main" id="{14BA3964-AAF3-42D6-A517-EAEDCAF17A21}"/>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Coverage chỉ tính src/house_price và backend; không phải độ chính xác mô hình.</a:t>
            </a:r>
          </a:p>
        </p:txBody>
      </p:sp>
    </p:spTree>
    <p:extLst>
      <p:ext uri="{BB962C8B-B14F-4D97-AF65-F5344CB8AC3E}">
        <p14:creationId xmlns:p14="http://schemas.microsoft.com/office/powerpoint/2010/main" val="173180728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Kết luận và hướng phát triển</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Kết quả đạt được, giới hạn và bước tiếp theo</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24</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334FB5DA-2D73-453B-AA88-FA35DBA3E15C}"/>
              </a:ext>
            </a:extLst>
          </p:cNvPr>
          <p:cNvSpPr>
            <a:spLocks xmlns:a="http://schemas.openxmlformats.org/drawingml/2006/main" noGrp="1"/>
          </p:cNvSpPr>
          <p:nvPr/>
        </p:nvSpPr>
        <p:spPr>
          <a:xfrm xmlns:a="http://schemas.openxmlformats.org/drawingml/2006/main">
            <a:off x="619125" y="20955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Đã so sánh 9 thuật toán; chọn ElasticNet bằng validation / CV.</a:t>
            </a:r>
          </a:p>
        </p:txBody>
      </p:sp>
      <p:sp>
        <p:nvSpPr>
          <p:cNvPr id="11" name="">
            <a:extLst xmlns:a="http://schemas.openxmlformats.org/drawingml/2006/main">
              <a:ext uri="{FF2B5EF4-FFF2-40B4-BE49-F238E27FC236}">
                <a16:creationId xmlns:a16="http://schemas.microsoft.com/office/drawing/2014/main" id="{B91CC2EB-3587-47B4-AD3B-7DA3C3AA3337}"/>
              </a:ext>
            </a:extLst>
          </p:cNvPr>
          <p:cNvSpPr>
            <a:spLocks xmlns:a="http://schemas.openxmlformats.org/drawingml/2006/main" noGrp="1"/>
          </p:cNvSpPr>
          <p:nvPr/>
        </p:nvSpPr>
        <p:spPr>
          <a:xfrm xmlns:a="http://schemas.openxmlformats.org/drawingml/2006/main">
            <a:off x="619125" y="29718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Test RMSE 22.228,60 USD; MAE 15.452,34 USD; R² 0,9076.</a:t>
            </a:r>
          </a:p>
        </p:txBody>
      </p:sp>
      <p:sp>
        <p:nvSpPr>
          <p:cNvPr id="12" name="">
            <a:extLst xmlns:a="http://schemas.openxmlformats.org/drawingml/2006/main">
              <a:ext uri="{FF2B5EF4-FFF2-40B4-BE49-F238E27FC236}">
                <a16:creationId xmlns:a16="http://schemas.microsoft.com/office/drawing/2014/main" id="{641B3221-81E9-4B23-B8B2-EE4366CF7FEF}"/>
              </a:ext>
            </a:extLst>
          </p:cNvPr>
          <p:cNvSpPr>
            <a:spLocks xmlns:a="http://schemas.openxmlformats.org/drawingml/2006/main" noGrp="1"/>
          </p:cNvSpPr>
          <p:nvPr/>
        </p:nvSpPr>
        <p:spPr>
          <a:xfrm xmlns:a="http://schemas.openxmlformats.org/drawingml/2006/main">
            <a:off x="619125" y="38481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Giới hạn: một split, tuning hẹp, sai số cao ở nhóm nhà đắt.</a:t>
            </a:r>
          </a:p>
        </p:txBody>
      </p:sp>
      <p:sp>
        <p:nvSpPr>
          <p:cNvPr id="13" name="">
            <a:extLst xmlns:a="http://schemas.openxmlformats.org/drawingml/2006/main">
              <a:ext uri="{FF2B5EF4-FFF2-40B4-BE49-F238E27FC236}">
                <a16:creationId xmlns:a16="http://schemas.microsoft.com/office/drawing/2014/main" id="{733CDF75-0526-489B-94F7-B93FAB7B2B21}"/>
              </a:ext>
            </a:extLst>
          </p:cNvPr>
          <p:cNvSpPr>
            <a:spLocks xmlns:a="http://schemas.openxmlformats.org/drawingml/2006/main" noGrp="1"/>
          </p:cNvSpPr>
          <p:nvPr/>
        </p:nvSpPr>
        <p:spPr>
          <a:xfrm xmlns:a="http://schemas.openxmlformats.org/drawingml/2006/main">
            <a:off x="619125" y="4724400"/>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142C40"/>
                </a:solidFill>
                <a:latin typeface="Aptos"/>
                <a:ea typeface="Aptos"/>
                <a:cs typeface="Aptos"/>
              </a:defRPr>
            </a:defPPr>
            <a:lvl1pPr algn="l">
              <a:defRPr sz="2100" b="0">
                <a:solidFill>
                  <a:srgbClr val="142C40"/>
                </a:solidFill>
                <a:latin typeface="Aptos"/>
                <a:ea typeface="Aptos"/>
                <a:cs typeface="Aptos"/>
              </a:defRPr>
            </a:lvl1pPr>
            <a:lvl2pPr algn="l">
              <a:defRPr sz="2100" b="0">
                <a:solidFill>
                  <a:srgbClr val="142C40"/>
                </a:solidFill>
                <a:latin typeface="Aptos"/>
                <a:ea typeface="Aptos"/>
                <a:cs typeface="Aptos"/>
              </a:defRPr>
            </a:lvl2pPr>
            <a:lvl3pPr algn="l">
              <a:defRPr sz="2100" b="0">
                <a:solidFill>
                  <a:srgbClr val="142C40"/>
                </a:solidFill>
                <a:latin typeface="Aptos"/>
                <a:ea typeface="Aptos"/>
                <a:cs typeface="Aptos"/>
              </a:defRPr>
            </a:lvl3pPr>
            <a:lvl4pPr algn="l">
              <a:defRPr sz="2100" b="0">
                <a:solidFill>
                  <a:srgbClr val="142C40"/>
                </a:solidFill>
                <a:latin typeface="Aptos"/>
                <a:ea typeface="Aptos"/>
                <a:cs typeface="Aptos"/>
              </a:defRPr>
            </a:lvl4pPr>
            <a:lvl5pPr algn="l">
              <a:defRPr sz="2100" b="0">
                <a:solidFill>
                  <a:srgbClr val="142C40"/>
                </a:solidFill>
                <a:latin typeface="Aptos"/>
                <a:ea typeface="Aptos"/>
                <a:cs typeface="Aptos"/>
              </a:defRPr>
            </a:lvl5pPr>
            <a:lvl6pPr algn="l">
              <a:defRPr sz="2100" b="0">
                <a:solidFill>
                  <a:srgbClr val="142C40"/>
                </a:solidFill>
                <a:latin typeface="Aptos"/>
                <a:ea typeface="Aptos"/>
                <a:cs typeface="Aptos"/>
              </a:defRPr>
            </a:lvl6pPr>
            <a:lvl7pPr algn="l">
              <a:defRPr sz="2100" b="0">
                <a:solidFill>
                  <a:srgbClr val="142C40"/>
                </a:solidFill>
                <a:latin typeface="Aptos"/>
                <a:ea typeface="Aptos"/>
                <a:cs typeface="Aptos"/>
              </a:defRPr>
            </a:lvl7pPr>
            <a:lvl8pPr algn="l">
              <a:defRPr sz="2100" b="0">
                <a:solidFill>
                  <a:srgbClr val="142C40"/>
                </a:solidFill>
                <a:latin typeface="Aptos"/>
                <a:ea typeface="Aptos"/>
                <a:cs typeface="Aptos"/>
              </a:defRPr>
            </a:lvl8pPr>
            <a:lvl9pPr algn="l">
              <a:defRPr sz="2100" b="0">
                <a:solidFill>
                  <a:srgbClr val="142C40"/>
                </a:solidFill>
                <a:latin typeface="Aptos"/>
                <a:ea typeface="Aptos"/>
                <a:cs typeface="Aptos"/>
              </a:defRPr>
            </a:lvl9pPr>
          </a:lstStyle>
          <a:p xmlns:a="http://schemas.openxmlformats.org/drawingml/2006/main">
            <a:pPr algn="l">
              <a:defRPr sz="2100" b="0">
                <a:solidFill>
                  <a:srgbClr val="142C40"/>
                </a:solidFill>
                <a:latin typeface="Aptos"/>
                <a:ea typeface="Aptos"/>
                <a:cs typeface="Aptos"/>
              </a:defRPr>
            </a:pPr>
            <a:r>
              <a:rPr sz="2100" b="0">
                <a:solidFill>
                  <a:srgbClr val="142C40"/>
                </a:solidFill>
                <a:latin typeface="Aptos"/>
                <a:ea typeface="Aptos"/>
                <a:cs typeface="Aptos"/>
              </a:rPr>
              <a:t>Tiếp theo: repeated CV, dữ liệu ngoài Ames và tuning rộng.</a:t>
            </a:r>
          </a:p>
        </p:txBody>
      </p:sp>
      <p:sp>
        <p:nvSpPr>
          <p:cNvPr id="14" name="">
            <a:extLst xmlns:a="http://schemas.openxmlformats.org/drawingml/2006/main">
              <a:ext uri="{FF2B5EF4-FFF2-40B4-BE49-F238E27FC236}">
                <a16:creationId xmlns:a16="http://schemas.microsoft.com/office/drawing/2014/main" id="{098A8C76-6335-4E5A-9576-CCBB91BAA5BE}"/>
              </a:ext>
            </a:extLst>
          </p:cNvPr>
          <p:cNvSpPr>
            <a:spLocks xmlns:a="http://schemas.openxmlformats.org/drawingml/2006/main" noGrp="1"/>
          </p:cNvSpPr>
          <p:nvPr/>
        </p:nvSpPr>
        <p:spPr>
          <a:xfrm xmlns:a="http://schemas.openxmlformats.org/drawingml/2006/main">
            <a:off x="619125" y="57531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46C64"/>
                </a:solidFill>
                <a:latin typeface="Aptos"/>
                <a:ea typeface="Aptos"/>
                <a:cs typeface="Aptos"/>
              </a:defRPr>
            </a:defPPr>
            <a:lvl1pPr algn="l">
              <a:defRPr sz="1575" b="0">
                <a:solidFill>
                  <a:srgbClr val="146C64"/>
                </a:solidFill>
                <a:latin typeface="Aptos"/>
                <a:ea typeface="Aptos"/>
                <a:cs typeface="Aptos"/>
              </a:defRPr>
            </a:lvl1pPr>
            <a:lvl2pPr algn="l">
              <a:defRPr sz="1575" b="0">
                <a:solidFill>
                  <a:srgbClr val="146C64"/>
                </a:solidFill>
                <a:latin typeface="Aptos"/>
                <a:ea typeface="Aptos"/>
                <a:cs typeface="Aptos"/>
              </a:defRPr>
            </a:lvl2pPr>
            <a:lvl3pPr algn="l">
              <a:defRPr sz="1575" b="0">
                <a:solidFill>
                  <a:srgbClr val="146C64"/>
                </a:solidFill>
                <a:latin typeface="Aptos"/>
                <a:ea typeface="Aptos"/>
                <a:cs typeface="Aptos"/>
              </a:defRPr>
            </a:lvl3pPr>
            <a:lvl4pPr algn="l">
              <a:defRPr sz="1575" b="0">
                <a:solidFill>
                  <a:srgbClr val="146C64"/>
                </a:solidFill>
                <a:latin typeface="Aptos"/>
                <a:ea typeface="Aptos"/>
                <a:cs typeface="Aptos"/>
              </a:defRPr>
            </a:lvl4pPr>
            <a:lvl5pPr algn="l">
              <a:defRPr sz="1575" b="0">
                <a:solidFill>
                  <a:srgbClr val="146C64"/>
                </a:solidFill>
                <a:latin typeface="Aptos"/>
                <a:ea typeface="Aptos"/>
                <a:cs typeface="Aptos"/>
              </a:defRPr>
            </a:lvl5pPr>
            <a:lvl6pPr algn="l">
              <a:defRPr sz="1575" b="0">
                <a:solidFill>
                  <a:srgbClr val="146C64"/>
                </a:solidFill>
                <a:latin typeface="Aptos"/>
                <a:ea typeface="Aptos"/>
                <a:cs typeface="Aptos"/>
              </a:defRPr>
            </a:lvl6pPr>
            <a:lvl7pPr algn="l">
              <a:defRPr sz="1575" b="0">
                <a:solidFill>
                  <a:srgbClr val="146C64"/>
                </a:solidFill>
                <a:latin typeface="Aptos"/>
                <a:ea typeface="Aptos"/>
                <a:cs typeface="Aptos"/>
              </a:defRPr>
            </a:lvl7pPr>
            <a:lvl8pPr algn="l">
              <a:defRPr sz="1575" b="0">
                <a:solidFill>
                  <a:srgbClr val="146C64"/>
                </a:solidFill>
                <a:latin typeface="Aptos"/>
                <a:ea typeface="Aptos"/>
                <a:cs typeface="Aptos"/>
              </a:defRPr>
            </a:lvl8pPr>
            <a:lvl9pPr algn="l">
              <a:defRPr sz="1575" b="0">
                <a:solidFill>
                  <a:srgbClr val="146C64"/>
                </a:solidFill>
                <a:latin typeface="Aptos"/>
                <a:ea typeface="Aptos"/>
                <a:cs typeface="Aptos"/>
              </a:defRPr>
            </a:lvl9pPr>
          </a:lstStyle>
          <a:p xmlns:a="http://schemas.openxmlformats.org/drawingml/2006/main">
            <a:pPr algn="l">
              <a:defRPr sz="1575" b="0">
                <a:solidFill>
                  <a:srgbClr val="146C64"/>
                </a:solidFill>
                <a:latin typeface="Aptos"/>
                <a:ea typeface="Aptos"/>
                <a:cs typeface="Aptos"/>
              </a:defRPr>
            </a:pPr>
            <a:r>
              <a:rPr sz="1575" b="0">
                <a:solidFill>
                  <a:srgbClr val="146C64"/>
                </a:solidFill>
                <a:latin typeface="Aptos"/>
                <a:ea typeface="Aptos"/>
                <a:cs typeface="Aptos"/>
              </a:rPr>
              <a:t>Chưa có ablation hoặc khoảng dự báo riêng; kết quả phục vụ học tập.</a:t>
            </a:r>
          </a:p>
        </p:txBody>
      </p:sp>
    </p:spTree>
    <p:extLst>
      <p:ext uri="{BB962C8B-B14F-4D97-AF65-F5344CB8AC3E}">
        <p14:creationId xmlns:p14="http://schemas.microsoft.com/office/powerpoint/2010/main" val="173180728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buNone/>
              <a:defRPr sz="2850" b="1">
                <a:solidFill>
                  <a:srgbClr val="142C40"/>
                </a:solidFill>
              </a:defRPr>
            </a:lvl1pPr>
            <a:lvl2pPr>
              <a:buNone/>
              <a:defRPr sz="2850" b="1">
                <a:solidFill>
                  <a:srgbClr val="142C40"/>
                </a:solidFill>
              </a:defRPr>
            </a:lvl2pPr>
            <a:lvl3pPr>
              <a:buNone/>
              <a:defRPr sz="2850" b="1">
                <a:solidFill>
                  <a:srgbClr val="142C40"/>
                </a:solidFill>
              </a:defRPr>
            </a:lvl3pPr>
            <a:lvl4pPr>
              <a:buNone/>
              <a:defRPr sz="2850" b="1">
                <a:solidFill>
                  <a:srgbClr val="142C40"/>
                </a:solidFill>
              </a:defRPr>
            </a:lvl4pPr>
            <a:lvl5pPr>
              <a:buNone/>
              <a:defRPr sz="2850" b="1">
                <a:solidFill>
                  <a:srgbClr val="142C40"/>
                </a:solidFill>
              </a:defRPr>
            </a:lvl5pPr>
            <a:lvl6pPr>
              <a:buNone/>
              <a:defRPr sz="2850" b="1">
                <a:solidFill>
                  <a:srgbClr val="142C40"/>
                </a:solidFill>
              </a:defRPr>
            </a:lvl6pPr>
            <a:lvl7pPr>
              <a:buNone/>
              <a:defRPr sz="2850" b="1">
                <a:solidFill>
                  <a:srgbClr val="142C40"/>
                </a:solidFill>
              </a:defRPr>
            </a:lvl7pPr>
            <a:lvl8pPr>
              <a:buNone/>
              <a:defRPr sz="2850" b="1">
                <a:solidFill>
                  <a:srgbClr val="142C40"/>
                </a:solidFill>
              </a:defRPr>
            </a:lvl8pPr>
            <a:lvl9pPr>
              <a:buNone/>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Trao đổi và câu hỏi</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buNone/>
              <a:defRPr sz="1425" b="0">
                <a:solidFill>
                  <a:srgbClr val="146C64"/>
                </a:solidFill>
              </a:defRPr>
            </a:lvl1pPr>
            <a:lvl2pPr>
              <a:buNone/>
              <a:defRPr sz="1425" b="0">
                <a:solidFill>
                  <a:srgbClr val="146C64"/>
                </a:solidFill>
              </a:defRPr>
            </a:lvl2pPr>
            <a:lvl3pPr>
              <a:buNone/>
              <a:defRPr sz="1425" b="0">
                <a:solidFill>
                  <a:srgbClr val="146C64"/>
                </a:solidFill>
              </a:defRPr>
            </a:lvl3pPr>
            <a:lvl4pPr>
              <a:buNone/>
              <a:defRPr sz="1425" b="0">
                <a:solidFill>
                  <a:srgbClr val="146C64"/>
                </a:solidFill>
              </a:defRPr>
            </a:lvl4pPr>
            <a:lvl5pPr>
              <a:buNone/>
              <a:defRPr sz="1425" b="0">
                <a:solidFill>
                  <a:srgbClr val="146C64"/>
                </a:solidFill>
              </a:defRPr>
            </a:lvl5pPr>
            <a:lvl6pPr>
              <a:buNone/>
              <a:defRPr sz="1425" b="0">
                <a:solidFill>
                  <a:srgbClr val="146C64"/>
                </a:solidFill>
              </a:defRPr>
            </a:lvl6pPr>
            <a:lvl7pPr>
              <a:buNone/>
              <a:defRPr sz="1425" b="0">
                <a:solidFill>
                  <a:srgbClr val="146C64"/>
                </a:solidFill>
              </a:defRPr>
            </a:lvl7pPr>
            <a:lvl8pPr>
              <a:buNone/>
              <a:defRPr sz="1425" b="0">
                <a:solidFill>
                  <a:srgbClr val="146C64"/>
                </a:solidFill>
              </a:defRPr>
            </a:lvl8pPr>
            <a:lvl9pPr>
              <a:buNone/>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Nguồn dữ liệu và phương pháp</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buNone/>
              <a:defRPr sz="1275" b="0">
                <a:solidFill>
                  <a:srgbClr val="50616D"/>
                </a:solidFill>
              </a:defRPr>
            </a:lvl1pPr>
            <a:lvl2pPr>
              <a:buNone/>
              <a:defRPr sz="1275" b="0">
                <a:solidFill>
                  <a:srgbClr val="50616D"/>
                </a:solidFill>
              </a:defRPr>
            </a:lvl2pPr>
            <a:lvl3pPr>
              <a:buNone/>
              <a:defRPr sz="1275" b="0">
                <a:solidFill>
                  <a:srgbClr val="50616D"/>
                </a:solidFill>
              </a:defRPr>
            </a:lvl3pPr>
            <a:lvl4pPr>
              <a:buNone/>
              <a:defRPr sz="1275" b="0">
                <a:solidFill>
                  <a:srgbClr val="50616D"/>
                </a:solidFill>
              </a:defRPr>
            </a:lvl4pPr>
            <a:lvl5pPr>
              <a:buNone/>
              <a:defRPr sz="1275" b="0">
                <a:solidFill>
                  <a:srgbClr val="50616D"/>
                </a:solidFill>
              </a:defRPr>
            </a:lvl5pPr>
            <a:lvl6pPr>
              <a:buNone/>
              <a:defRPr sz="1275" b="0">
                <a:solidFill>
                  <a:srgbClr val="50616D"/>
                </a:solidFill>
              </a:defRPr>
            </a:lvl6pPr>
            <a:lvl7pPr>
              <a:buNone/>
              <a:defRPr sz="1275" b="0">
                <a:solidFill>
                  <a:srgbClr val="50616D"/>
                </a:solidFill>
              </a:defRPr>
            </a:lvl7pPr>
            <a:lvl8pPr>
              <a:buNone/>
              <a:defRPr sz="1275" b="0">
                <a:solidFill>
                  <a:srgbClr val="50616D"/>
                </a:solidFill>
              </a:defRPr>
            </a:lvl8pPr>
            <a:lvl9pPr>
              <a:buNone/>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25</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buNone/>
              <a:defRPr sz="1125" b="0">
                <a:solidFill>
                  <a:srgbClr val="50616D"/>
                </a:solidFill>
              </a:defRPr>
            </a:lvl1pPr>
            <a:lvl2pPr>
              <a:buNone/>
              <a:defRPr sz="1125" b="0">
                <a:solidFill>
                  <a:srgbClr val="50616D"/>
                </a:solidFill>
              </a:defRPr>
            </a:lvl2pPr>
            <a:lvl3pPr>
              <a:buNone/>
              <a:defRPr sz="1125" b="0">
                <a:solidFill>
                  <a:srgbClr val="50616D"/>
                </a:solidFill>
              </a:defRPr>
            </a:lvl3pPr>
            <a:lvl4pPr>
              <a:buNone/>
              <a:defRPr sz="1125" b="0">
                <a:solidFill>
                  <a:srgbClr val="50616D"/>
                </a:solidFill>
              </a:defRPr>
            </a:lvl4pPr>
            <a:lvl5pPr>
              <a:buNone/>
              <a:defRPr sz="1125" b="0">
                <a:solidFill>
                  <a:srgbClr val="50616D"/>
                </a:solidFill>
              </a:defRPr>
            </a:lvl5pPr>
            <a:lvl6pPr>
              <a:buNone/>
              <a:defRPr sz="1125" b="0">
                <a:solidFill>
                  <a:srgbClr val="50616D"/>
                </a:solidFill>
              </a:defRPr>
            </a:lvl6pPr>
            <a:lvl7pPr>
              <a:buNone/>
              <a:defRPr sz="1125" b="0">
                <a:solidFill>
                  <a:srgbClr val="50616D"/>
                </a:solidFill>
              </a:defRPr>
            </a:lvl7pPr>
            <a:lvl8pPr>
              <a:buNone/>
              <a:defRPr sz="1125" b="0">
                <a:solidFill>
                  <a:srgbClr val="50616D"/>
                </a:solidFill>
              </a:defRPr>
            </a:lvl8pPr>
            <a:lvl9pPr>
              <a:buNone/>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HỌC MÁY · DỰ BÁO GIÁ NHÀ · NHÓM 5</a:t>
            </a:r>
          </a:p>
        </p:txBody>
      </p:sp>
      <p:sp>
        <p:nvSpPr>
          <p:cNvPr id="10" name="">
            <a:extLst xmlns:a="http://schemas.openxmlformats.org/drawingml/2006/main">
              <a:ext uri="{FF2B5EF4-FFF2-40B4-BE49-F238E27FC236}">
                <a16:creationId xmlns:a16="http://schemas.microsoft.com/office/drawing/2014/main" id="{F10BB3BB-9D21-4D24-BF53-8921686D51AD}"/>
              </a:ext>
            </a:extLst>
          </p:cNvPr>
          <p:cNvSpPr>
            <a:spLocks xmlns:a="http://schemas.openxmlformats.org/drawingml/2006/main" noGrp="1"/>
          </p:cNvSpPr>
          <p:nvPr/>
        </p:nvSpPr>
        <p:spPr>
          <a:xfrm xmlns:a="http://schemas.openxmlformats.org/drawingml/2006/main">
            <a:off x="619125" y="22383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625" b="1">
                <a:solidFill>
                  <a:srgbClr val="175676"/>
                </a:solidFill>
                <a:latin typeface="Aptos"/>
                <a:ea typeface="Aptos"/>
                <a:cs typeface="Aptos"/>
              </a:defRPr>
            </a:defPPr>
            <a:lvl1pPr algn="l">
              <a:defRPr sz="2625" b="1">
                <a:solidFill>
                  <a:srgbClr val="175676"/>
                </a:solidFill>
                <a:latin typeface="Aptos"/>
                <a:ea typeface="Aptos"/>
                <a:cs typeface="Aptos"/>
              </a:defRPr>
            </a:lvl1pPr>
            <a:lvl2pPr algn="l">
              <a:defRPr sz="2625" b="1">
                <a:solidFill>
                  <a:srgbClr val="175676"/>
                </a:solidFill>
                <a:latin typeface="Aptos"/>
                <a:ea typeface="Aptos"/>
                <a:cs typeface="Aptos"/>
              </a:defRPr>
            </a:lvl2pPr>
            <a:lvl3pPr algn="l">
              <a:defRPr sz="2625" b="1">
                <a:solidFill>
                  <a:srgbClr val="175676"/>
                </a:solidFill>
                <a:latin typeface="Aptos"/>
                <a:ea typeface="Aptos"/>
                <a:cs typeface="Aptos"/>
              </a:defRPr>
            </a:lvl3pPr>
            <a:lvl4pPr algn="l">
              <a:defRPr sz="2625" b="1">
                <a:solidFill>
                  <a:srgbClr val="175676"/>
                </a:solidFill>
                <a:latin typeface="Aptos"/>
                <a:ea typeface="Aptos"/>
                <a:cs typeface="Aptos"/>
              </a:defRPr>
            </a:lvl4pPr>
            <a:lvl5pPr algn="l">
              <a:defRPr sz="2625" b="1">
                <a:solidFill>
                  <a:srgbClr val="175676"/>
                </a:solidFill>
                <a:latin typeface="Aptos"/>
                <a:ea typeface="Aptos"/>
                <a:cs typeface="Aptos"/>
              </a:defRPr>
            </a:lvl5pPr>
            <a:lvl6pPr algn="l">
              <a:defRPr sz="2625" b="1">
                <a:solidFill>
                  <a:srgbClr val="175676"/>
                </a:solidFill>
                <a:latin typeface="Aptos"/>
                <a:ea typeface="Aptos"/>
                <a:cs typeface="Aptos"/>
              </a:defRPr>
            </a:lvl6pPr>
            <a:lvl7pPr algn="l">
              <a:defRPr sz="2625" b="1">
                <a:solidFill>
                  <a:srgbClr val="175676"/>
                </a:solidFill>
                <a:latin typeface="Aptos"/>
                <a:ea typeface="Aptos"/>
                <a:cs typeface="Aptos"/>
              </a:defRPr>
            </a:lvl7pPr>
            <a:lvl8pPr algn="l">
              <a:defRPr sz="2625" b="1">
                <a:solidFill>
                  <a:srgbClr val="175676"/>
                </a:solidFill>
                <a:latin typeface="Aptos"/>
                <a:ea typeface="Aptos"/>
                <a:cs typeface="Aptos"/>
              </a:defRPr>
            </a:lvl8pPr>
            <a:lvl9pPr algn="l">
              <a:defRPr sz="2625" b="1">
                <a:solidFill>
                  <a:srgbClr val="175676"/>
                </a:solidFill>
                <a:latin typeface="Aptos"/>
                <a:ea typeface="Aptos"/>
                <a:cs typeface="Aptos"/>
              </a:defRPr>
            </a:lvl9pPr>
          </a:lstStyle>
          <a:p xmlns:a="http://schemas.openxmlformats.org/drawingml/2006/main">
            <a:pPr algn="l">
              <a:defRPr sz="2625" b="1">
                <a:solidFill>
                  <a:srgbClr val="175676"/>
                </a:solidFill>
                <a:latin typeface="Aptos"/>
                <a:ea typeface="Aptos"/>
                <a:cs typeface="Aptos"/>
              </a:defRPr>
            </a:pPr>
            <a:r>
              <a:rPr sz="2625" b="1">
                <a:solidFill>
                  <a:srgbClr val="175676"/>
                </a:solidFill>
                <a:latin typeface="Aptos"/>
                <a:ea typeface="Aptos"/>
                <a:cs typeface="Aptos"/>
              </a:rPr>
              <a:t>Nhóm 5 xin cảm ơn và sẵn sàng trao đổi</a:t>
            </a:r>
          </a:p>
        </p:txBody>
      </p:sp>
      <p:sp>
        <p:nvSpPr>
          <p:cNvPr id="11" name="">
            <a:extLst xmlns:a="http://schemas.openxmlformats.org/drawingml/2006/main">
              <a:ext uri="{FF2B5EF4-FFF2-40B4-BE49-F238E27FC236}">
                <a16:creationId xmlns:a16="http://schemas.microsoft.com/office/drawing/2014/main" id="{93940510-A453-48A9-AB04-7F19521C96EB}"/>
              </a:ext>
            </a:extLst>
          </p:cNvPr>
          <p:cNvSpPr>
            <a:spLocks xmlns:a="http://schemas.openxmlformats.org/drawingml/2006/main" noGrp="1"/>
          </p:cNvSpPr>
          <p:nvPr/>
        </p:nvSpPr>
        <p:spPr>
          <a:xfrm xmlns:a="http://schemas.openxmlformats.org/drawingml/2006/main">
            <a:off x="619125" y="31908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Dữ liệu: Kaggle House Prices / Ames Housing.</a:t>
            </a:r>
          </a:p>
        </p:txBody>
      </p:sp>
      <p:sp>
        <p:nvSpPr>
          <p:cNvPr id="12" name="">
            <a:extLst xmlns:a="http://schemas.openxmlformats.org/drawingml/2006/main">
              <a:ext uri="{FF2B5EF4-FFF2-40B4-BE49-F238E27FC236}">
                <a16:creationId xmlns:a16="http://schemas.microsoft.com/office/drawing/2014/main" id="{35D95358-AB5D-48BC-9F4D-44772594EC8F}"/>
              </a:ext>
            </a:extLst>
          </p:cNvPr>
          <p:cNvSpPr>
            <a:spLocks xmlns:a="http://schemas.openxmlformats.org/drawingml/2006/main" noGrp="1"/>
          </p:cNvSpPr>
          <p:nvPr/>
        </p:nvSpPr>
        <p:spPr>
          <a:xfrm xmlns:a="http://schemas.openxmlformats.org/drawingml/2006/main">
            <a:off x="619125" y="395287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42C40"/>
                </a:solidFill>
                <a:latin typeface="Aptos"/>
                <a:ea typeface="Aptos"/>
                <a:cs typeface="Aptos"/>
              </a:defRPr>
            </a:defPPr>
            <a:lvl1pPr algn="l">
              <a:defRPr sz="2175" b="0">
                <a:solidFill>
                  <a:srgbClr val="142C40"/>
                </a:solidFill>
                <a:latin typeface="Aptos"/>
                <a:ea typeface="Aptos"/>
                <a:cs typeface="Aptos"/>
              </a:defRPr>
            </a:lvl1pPr>
            <a:lvl2pPr algn="l">
              <a:defRPr sz="2175" b="0">
                <a:solidFill>
                  <a:srgbClr val="142C40"/>
                </a:solidFill>
                <a:latin typeface="Aptos"/>
                <a:ea typeface="Aptos"/>
                <a:cs typeface="Aptos"/>
              </a:defRPr>
            </a:lvl2pPr>
            <a:lvl3pPr algn="l">
              <a:defRPr sz="2175" b="0">
                <a:solidFill>
                  <a:srgbClr val="142C40"/>
                </a:solidFill>
                <a:latin typeface="Aptos"/>
                <a:ea typeface="Aptos"/>
                <a:cs typeface="Aptos"/>
              </a:defRPr>
            </a:lvl3pPr>
            <a:lvl4pPr algn="l">
              <a:defRPr sz="2175" b="0">
                <a:solidFill>
                  <a:srgbClr val="142C40"/>
                </a:solidFill>
                <a:latin typeface="Aptos"/>
                <a:ea typeface="Aptos"/>
                <a:cs typeface="Aptos"/>
              </a:defRPr>
            </a:lvl4pPr>
            <a:lvl5pPr algn="l">
              <a:defRPr sz="2175" b="0">
                <a:solidFill>
                  <a:srgbClr val="142C40"/>
                </a:solidFill>
                <a:latin typeface="Aptos"/>
                <a:ea typeface="Aptos"/>
                <a:cs typeface="Aptos"/>
              </a:defRPr>
            </a:lvl5pPr>
            <a:lvl6pPr algn="l">
              <a:defRPr sz="2175" b="0">
                <a:solidFill>
                  <a:srgbClr val="142C40"/>
                </a:solidFill>
                <a:latin typeface="Aptos"/>
                <a:ea typeface="Aptos"/>
                <a:cs typeface="Aptos"/>
              </a:defRPr>
            </a:lvl6pPr>
            <a:lvl7pPr algn="l">
              <a:defRPr sz="2175" b="0">
                <a:solidFill>
                  <a:srgbClr val="142C40"/>
                </a:solidFill>
                <a:latin typeface="Aptos"/>
                <a:ea typeface="Aptos"/>
                <a:cs typeface="Aptos"/>
              </a:defRPr>
            </a:lvl7pPr>
            <a:lvl8pPr algn="l">
              <a:defRPr sz="2175" b="0">
                <a:solidFill>
                  <a:srgbClr val="142C40"/>
                </a:solidFill>
                <a:latin typeface="Aptos"/>
                <a:ea typeface="Aptos"/>
                <a:cs typeface="Aptos"/>
              </a:defRPr>
            </a:lvl8pPr>
            <a:lvl9pPr algn="l">
              <a:defRPr sz="2175" b="0">
                <a:solidFill>
                  <a:srgbClr val="142C40"/>
                </a:solidFill>
                <a:latin typeface="Aptos"/>
                <a:ea typeface="Aptos"/>
                <a:cs typeface="Aptos"/>
              </a:defRPr>
            </a:lvl9pPr>
          </a:lstStyle>
          <a:p xmlns:a="http://schemas.openxmlformats.org/drawingml/2006/main">
            <a:pPr algn="l">
              <a:defRPr sz="2175" b="0">
                <a:solidFill>
                  <a:srgbClr val="142C40"/>
                </a:solidFill>
                <a:latin typeface="Aptos"/>
                <a:ea typeface="Aptos"/>
                <a:cs typeface="Aptos"/>
              </a:defRPr>
            </a:pPr>
            <a:r>
              <a:rPr sz="2175" b="0">
                <a:solidFill>
                  <a:srgbClr val="142C40"/>
                </a:solidFill>
                <a:latin typeface="Aptos"/>
                <a:ea typeface="Aptos"/>
                <a:cs typeface="Aptos"/>
              </a:rPr>
              <a:t>Phương pháp: tài liệu scikit-learn 1.8 và mã nguồn dự án.</a:t>
            </a:r>
          </a:p>
        </p:txBody>
      </p:sp>
      <p:sp>
        <p:nvSpPr>
          <p:cNvPr id="13" name="">
            <a:extLst xmlns:a="http://schemas.openxmlformats.org/drawingml/2006/main">
              <a:ext uri="{FF2B5EF4-FFF2-40B4-BE49-F238E27FC236}">
                <a16:creationId xmlns:a16="http://schemas.microsoft.com/office/drawing/2014/main" id="{C025DEB8-20D5-4F37-94A5-4A09AFDB4792}"/>
              </a:ext>
            </a:extLst>
          </p:cNvPr>
          <p:cNvSpPr>
            <a:spLocks xmlns:a="http://schemas.openxmlformats.org/drawingml/2006/main" noGrp="1"/>
          </p:cNvSpPr>
          <p:nvPr/>
        </p:nvSpPr>
        <p:spPr>
          <a:xfrm xmlns:a="http://schemas.openxmlformats.org/drawingml/2006/main">
            <a:off x="619125" y="50958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0">
                <a:solidFill>
                  <a:srgbClr val="50616D"/>
                </a:solidFill>
                <a:latin typeface="Aptos"/>
                <a:ea typeface="Aptos"/>
                <a:cs typeface="Aptos"/>
              </a:defRPr>
            </a:defPPr>
            <a:lvl1pPr algn="l">
              <a:defRPr sz="1875" b="0">
                <a:solidFill>
                  <a:srgbClr val="50616D"/>
                </a:solidFill>
                <a:latin typeface="Aptos"/>
                <a:ea typeface="Aptos"/>
                <a:cs typeface="Aptos"/>
              </a:defRPr>
            </a:lvl1pPr>
            <a:lvl2pPr algn="l">
              <a:defRPr sz="1875" b="0">
                <a:solidFill>
                  <a:srgbClr val="50616D"/>
                </a:solidFill>
                <a:latin typeface="Aptos"/>
                <a:ea typeface="Aptos"/>
                <a:cs typeface="Aptos"/>
              </a:defRPr>
            </a:lvl2pPr>
            <a:lvl3pPr algn="l">
              <a:defRPr sz="1875" b="0">
                <a:solidFill>
                  <a:srgbClr val="50616D"/>
                </a:solidFill>
                <a:latin typeface="Aptos"/>
                <a:ea typeface="Aptos"/>
                <a:cs typeface="Aptos"/>
              </a:defRPr>
            </a:lvl3pPr>
            <a:lvl4pPr algn="l">
              <a:defRPr sz="1875" b="0">
                <a:solidFill>
                  <a:srgbClr val="50616D"/>
                </a:solidFill>
                <a:latin typeface="Aptos"/>
                <a:ea typeface="Aptos"/>
                <a:cs typeface="Aptos"/>
              </a:defRPr>
            </a:lvl4pPr>
            <a:lvl5pPr algn="l">
              <a:defRPr sz="1875" b="0">
                <a:solidFill>
                  <a:srgbClr val="50616D"/>
                </a:solidFill>
                <a:latin typeface="Aptos"/>
                <a:ea typeface="Aptos"/>
                <a:cs typeface="Aptos"/>
              </a:defRPr>
            </a:lvl5pPr>
            <a:lvl6pPr algn="l">
              <a:defRPr sz="1875" b="0">
                <a:solidFill>
                  <a:srgbClr val="50616D"/>
                </a:solidFill>
                <a:latin typeface="Aptos"/>
                <a:ea typeface="Aptos"/>
                <a:cs typeface="Aptos"/>
              </a:defRPr>
            </a:lvl6pPr>
            <a:lvl7pPr algn="l">
              <a:defRPr sz="1875" b="0">
                <a:solidFill>
                  <a:srgbClr val="50616D"/>
                </a:solidFill>
                <a:latin typeface="Aptos"/>
                <a:ea typeface="Aptos"/>
                <a:cs typeface="Aptos"/>
              </a:defRPr>
            </a:lvl7pPr>
            <a:lvl8pPr algn="l">
              <a:defRPr sz="1875" b="0">
                <a:solidFill>
                  <a:srgbClr val="50616D"/>
                </a:solidFill>
                <a:latin typeface="Aptos"/>
                <a:ea typeface="Aptos"/>
                <a:cs typeface="Aptos"/>
              </a:defRPr>
            </a:lvl8pPr>
            <a:lvl9pPr algn="l">
              <a:defRPr sz="1875" b="0">
                <a:solidFill>
                  <a:srgbClr val="50616D"/>
                </a:solidFill>
                <a:latin typeface="Aptos"/>
                <a:ea typeface="Aptos"/>
                <a:cs typeface="Aptos"/>
              </a:defRPr>
            </a:lvl9pPr>
          </a:lstStyle>
          <a:p xmlns:a="http://schemas.openxmlformats.org/drawingml/2006/main">
            <a:pPr algn="l">
              <a:defRPr sz="1875" b="0">
                <a:solidFill>
                  <a:srgbClr val="50616D"/>
                </a:solidFill>
                <a:latin typeface="Aptos"/>
                <a:ea typeface="Aptos"/>
                <a:cs typeface="Aptos"/>
              </a:defRPr>
            </a:pPr>
            <a:r>
              <a:rPr sz="1875" b="0">
                <a:solidFill>
                  <a:srgbClr val="50616D"/>
                </a:solidFill>
                <a:latin typeface="Aptos"/>
                <a:ea typeface="Aptos"/>
                <a:cs typeface="Aptos"/>
              </a:rPr>
              <a:t>Dữ liệu: Dương · Tiền xử lý: Tuấn · Mô hình: Vũ · Ứng dụng: Đức</a:t>
            </a:r>
          </a:p>
        </p:txBody>
      </p:sp>
    </p:spTree>
    <p:extLst>
      <p:ext uri="{BB962C8B-B14F-4D97-AF65-F5344CB8AC3E}">
        <p14:creationId xmlns:p14="http://schemas.microsoft.com/office/powerpoint/2010/main" val="17318072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2026-10-22T16:37:49.0290000Z</dcterms:created>
  <dcterms:modified xsi:type="dcterms:W3CDTF">2026-10-22T16:37:49.0290000Z</dcterms:modified>
</coreProperties>
</file>